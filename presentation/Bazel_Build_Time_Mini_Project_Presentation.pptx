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The reference predicts Bazel build CPU time from two commit-level categorical features. We first reproduced its linear-regression experiments, then added Random Forest as a different model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predicts a continuous numeric value, so this is a regression problem. The inputs are not raw source code; they are compact categorical summaries of the changed files: the most common path prefix and the most common file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two supplied CSVs. Each has 500 rows. InputData contains ID, prefix, and type; CPUTimes contains commitID and CPUTime. Because there is no shared commit key in the supplied processed files, the implementation pairs rows by order. The target distribution is right-skewed: the mean is much larger than the median due to a long tail of costly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compares linear regression using separate categorical features against linear regression with an extra crossed feature. For example, the combination src/main and JAVA can be represented as an additional category. The reference reports stochastic gradient descent, learning rate 0.01, batch size 16, nine periods, and RMSE.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independent implementation of the method described by the reference. The split follows the reported 300, 100, and 100 sizes, using row order because the paper gives no split seed or shuffling rule. We use the stated learning rate and batch size, and calculate RMSE for nine periods.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reports 5735.84 milliseconds without feature crossing and 5628.09 milliseconds with crossing, averaged across the training periods. Our independently reproduced averages are 5707.02 and 5685.62 milliseconds. The differences are approximately minus 0.50 percent and plus 1.02 percent. These are close, but remember they are training averages and not the test-set values used for the add-on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improve substantially in the first few periods and then flatten. The crossed model stays lower on the training curve, which is consistent with it fitting the training representation better. The validation curves are close; by the last period, the non-crossed model has slightly lower validation RMSE. This difference foreshadows why we should compare models on held-out data rather than training error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extension, we chose Random Forest Regressor. It is tree-based and can represent nonlinear relationships and interactions between categorical features, unlike the linear reference method. It uses 300 trees and random state 42. Crucially, it uses the same data split, feature representation, target, and RMSE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 test set tells a different story from training averages. At period 9, the non-crossed linear model reaches 5796.58 ms, the crossed model reaches 5801.74 ms, and Random Forest reaches 5881.74 ms. Random Forest is about 85 milliseconds or 1.47 percent worse than the non-crossed model and about 80 milliseconds or 1.38 percent worse than the crossed model. The slide deliberately separates these held-out test scores from the paper’s reported training averages.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lesson is that reproduction means comparing comparable values and documenting assumptions. Our training averages are close to the paper. Feature crossing helped the training curve, but this did not translate to a lower final test RMSE. Random Forest was also worse on the same test split. This is a result for this dataset and split, not proof that Random Forest is always worse. Important limits include the small dataset and missing details in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independently reproduced the reference’s linear-regression experiments with close training-RMSE averages, then added Random Forest as an extension using the same dataset split and RMSE metric. Random Forest did not outperform the linear models on our held-out test set. This is still a valid extension and demonstrates why evaluation methodology matters. The reference paper and repository are cited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5F7F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github.com/umar-nadeem/CS229-Final-Project"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A32"/>
        </a:solidFill>
      </p:bgPr>
    </p:bg>
    <p:spTree>
      <p:nvGrpSpPr>
        <p:cNvPr id="1" name=""/>
        <p:cNvGrpSpPr/>
        <p:nvPr/>
      </p:nvGrpSpPr>
      <p:grpSpPr>
        <a:xfrm>
          <a:off x="0" y="0"/>
          <a:ext cx="0" cy="0"/>
          <a:chOff x="0" y="0"/>
          <a:chExt cx="0" cy="0"/>
        </a:xfrm>
      </p:grpSpPr>
      <p:sp>
        <p:nvSpPr>
          <p:cNvPr id="2" name="Shape 0"/>
          <p:cNvSpPr/>
          <p:nvPr/>
        </p:nvSpPr>
        <p:spPr>
          <a:xfrm>
            <a:off x="621792" y="530352"/>
            <a:ext cx="91440" cy="429768"/>
          </a:xfrm>
          <a:prstGeom prst="roundRect">
            <a:avLst>
              <a:gd name="adj" fmla="val 40000"/>
            </a:avLst>
          </a:prstGeom>
          <a:solidFill>
            <a:srgbClr val="17AEB0"/>
          </a:solidFill>
          <a:ln w="1270">
            <a:solidFill>
              <a:srgbClr val="17AEB0">
                <a:alpha val="0"/>
              </a:srgbClr>
            </a:solidFill>
            <a:prstDash val="solid"/>
          </a:ln>
        </p:spPr>
      </p:sp>
      <p:sp>
        <p:nvSpPr>
          <p:cNvPr id="3" name="Text 1"/>
          <p:cNvSpPr txBox="1"/>
          <p:nvPr/>
        </p:nvSpPr>
        <p:spPr>
          <a:xfrm>
            <a:off x="841248" y="557784"/>
            <a:ext cx="4663440" cy="237744"/>
          </a:xfrm>
          <a:prstGeom prst="rect">
            <a:avLst/>
          </a:prstGeom>
          <a:noFill/>
          <a:ln/>
        </p:spPr>
        <p:txBody>
          <a:bodyPr wrap="square" lIns="0" tIns="0" rIns="0" bIns="0" rtlCol="0" anchor="ctr">
            <a:normAutofit/>
          </a:bodyPr>
          <a:lstStyle/>
          <a:p>
            <a:pPr algn="l" indent="0" marL="0">
              <a:buNone/>
            </a:pPr>
            <a:r>
              <a:rPr lang="en-US" sz="1000" b="1" spc="110" kern="0" dirty="0">
                <a:solidFill>
                  <a:srgbClr val="AFC0D9"/>
                </a:solidFill>
                <a:latin typeface="Inter" pitchFamily="34" charset="0"/>
                <a:ea typeface="Inter" pitchFamily="34" charset="-122"/>
                <a:cs typeface="Inter" pitchFamily="34" charset="-120"/>
              </a:rPr>
              <a:t>MINI PROJECT  /  REPRODUCE + EXTEND</a:t>
            </a:r>
            <a:endParaRPr lang="en-US" sz="1000" dirty="0"/>
          </a:p>
        </p:txBody>
      </p:sp>
      <p:sp>
        <p:nvSpPr>
          <p:cNvPr id="4" name="Text 2"/>
          <p:cNvSpPr txBox="1"/>
          <p:nvPr/>
        </p:nvSpPr>
        <p:spPr>
          <a:xfrm>
            <a:off x="658368" y="1325880"/>
            <a:ext cx="6492240" cy="1417320"/>
          </a:xfrm>
          <a:prstGeom prst="rect">
            <a:avLst/>
          </a:prstGeom>
          <a:noFill/>
          <a:ln/>
        </p:spPr>
        <p:txBody>
          <a:bodyPr wrap="square" lIns="0" tIns="0" rIns="0" bIns="0" rtlCol="0" anchor="ctr">
            <a:normAutofit/>
          </a:bodyPr>
          <a:lstStyle/>
          <a:p>
            <a:pPr algn="l" indent="0" marL="0">
              <a:buNone/>
            </a:pPr>
            <a:r>
              <a:rPr lang="en-US" sz="3500" b="1" dirty="0">
                <a:solidFill>
                  <a:srgbClr val="FFFFFF"/>
                </a:solidFill>
                <a:latin typeface="Inter" pitchFamily="34" charset="0"/>
                <a:ea typeface="Inter" pitchFamily="34" charset="-122"/>
                <a:cs typeface="Inter" pitchFamily="34" charset="-120"/>
              </a:rPr>
              <a:t>Predicting Bazel</a:t>
            </a:r>
            <a:endParaRPr lang="en-US" sz="3500" dirty="0"/>
          </a:p>
          <a:p>
            <a:pPr algn="l" indent="0" marL="0">
              <a:buNone/>
            </a:pPr>
            <a:r>
              <a:rPr lang="en-US" sz="3500" b="1" dirty="0">
                <a:solidFill>
                  <a:srgbClr val="FFFFFF"/>
                </a:solidFill>
                <a:latin typeface="Inter" pitchFamily="34" charset="0"/>
                <a:ea typeface="Inter" pitchFamily="34" charset="-122"/>
                <a:cs typeface="Inter" pitchFamily="34" charset="-120"/>
              </a:rPr>
              <a:t>Build Times</a:t>
            </a:r>
            <a:endParaRPr lang="en-US" sz="3500" dirty="0"/>
          </a:p>
        </p:txBody>
      </p:sp>
      <p:sp>
        <p:nvSpPr>
          <p:cNvPr id="5" name="Text 3"/>
          <p:cNvSpPr txBox="1"/>
          <p:nvPr/>
        </p:nvSpPr>
        <p:spPr>
          <a:xfrm>
            <a:off x="694944" y="2971800"/>
            <a:ext cx="6217920" cy="658368"/>
          </a:xfrm>
          <a:prstGeom prst="rect">
            <a:avLst/>
          </a:prstGeom>
          <a:noFill/>
          <a:ln/>
        </p:spPr>
        <p:txBody>
          <a:bodyPr wrap="square" lIns="0" tIns="0" rIns="0" bIns="0" rtlCol="0" anchor="t">
            <a:normAutofit/>
          </a:bodyPr>
          <a:lstStyle/>
          <a:p>
            <a:pPr algn="l" indent="0" marL="0">
              <a:buNone/>
            </a:pPr>
            <a:r>
              <a:rPr lang="en-US" sz="1700" dirty="0">
                <a:solidFill>
                  <a:srgbClr val="D2DCEC"/>
                </a:solidFill>
                <a:latin typeface="Inter" pitchFamily="34" charset="0"/>
                <a:ea typeface="Inter" pitchFamily="34" charset="-122"/>
                <a:cs typeface="Inter" pitchFamily="34" charset="-120"/>
              </a:rPr>
              <a:t>Reproducing the reference pipeline and testing a Random Forest extension</a:t>
            </a:r>
            <a:endParaRPr lang="en-US" sz="1700" dirty="0"/>
          </a:p>
        </p:txBody>
      </p:sp>
      <p:sp>
        <p:nvSpPr>
          <p:cNvPr id="6" name="Shape 4"/>
          <p:cNvSpPr/>
          <p:nvPr/>
        </p:nvSpPr>
        <p:spPr>
          <a:xfrm>
            <a:off x="694944" y="3913632"/>
            <a:ext cx="3108960" cy="384048"/>
          </a:xfrm>
          <a:prstGeom prst="roundRect">
            <a:avLst>
              <a:gd name="adj" fmla="val 28571"/>
            </a:avLst>
          </a:prstGeom>
          <a:solidFill>
            <a:srgbClr val="263754"/>
          </a:solidFill>
          <a:ln w="1270">
            <a:solidFill>
              <a:srgbClr val="263754">
                <a:alpha val="0"/>
              </a:srgbClr>
            </a:solidFill>
            <a:prstDash val="solid"/>
          </a:ln>
        </p:spPr>
      </p:sp>
      <p:sp>
        <p:nvSpPr>
          <p:cNvPr id="7" name="Text 5"/>
          <p:cNvSpPr txBox="1"/>
          <p:nvPr/>
        </p:nvSpPr>
        <p:spPr>
          <a:xfrm>
            <a:off x="768096" y="3927348"/>
            <a:ext cx="2962656" cy="356616"/>
          </a:xfrm>
          <a:prstGeom prst="rect">
            <a:avLst/>
          </a:prstGeom>
          <a:noFill/>
          <a:ln/>
        </p:spPr>
        <p:txBody>
          <a:bodyPr wrap="square" lIns="0" tIns="0" rIns="0" bIns="0" rtlCol="0" anchor="ctr">
            <a:normAutofit/>
          </a:bodyPr>
          <a:lstStyle/>
          <a:p>
            <a:pPr algn="ctr" indent="0" marL="0">
              <a:buNone/>
            </a:pPr>
            <a:r>
              <a:rPr lang="en-US" sz="920" b="1" dirty="0">
                <a:solidFill>
                  <a:srgbClr val="EAF0F8"/>
                </a:solidFill>
                <a:latin typeface="Inter" pitchFamily="34" charset="0"/>
                <a:ea typeface="Inter" pitchFamily="34" charset="-122"/>
                <a:cs typeface="Inter" pitchFamily="34" charset="-120"/>
              </a:rPr>
              <a:t>REFERENCE MODEL  •  LINEAR REGRESSION</a:t>
            </a:r>
            <a:endParaRPr lang="en-US" sz="920" dirty="0"/>
          </a:p>
        </p:txBody>
      </p:sp>
      <p:sp>
        <p:nvSpPr>
          <p:cNvPr id="8" name="Shape 6"/>
          <p:cNvSpPr/>
          <p:nvPr/>
        </p:nvSpPr>
        <p:spPr>
          <a:xfrm>
            <a:off x="3931920" y="3913632"/>
            <a:ext cx="2560320" cy="384048"/>
          </a:xfrm>
          <a:prstGeom prst="roundRect">
            <a:avLst>
              <a:gd name="adj" fmla="val 28571"/>
            </a:avLst>
          </a:prstGeom>
          <a:solidFill>
            <a:srgbClr val="263754"/>
          </a:solidFill>
          <a:ln w="1270">
            <a:solidFill>
              <a:srgbClr val="263754">
                <a:alpha val="0"/>
              </a:srgbClr>
            </a:solidFill>
            <a:prstDash val="solid"/>
          </a:ln>
        </p:spPr>
      </p:sp>
      <p:sp>
        <p:nvSpPr>
          <p:cNvPr id="9" name="Text 7"/>
          <p:cNvSpPr txBox="1"/>
          <p:nvPr/>
        </p:nvSpPr>
        <p:spPr>
          <a:xfrm>
            <a:off x="4005072" y="3927348"/>
            <a:ext cx="2414016" cy="356616"/>
          </a:xfrm>
          <a:prstGeom prst="rect">
            <a:avLst/>
          </a:prstGeom>
          <a:noFill/>
          <a:ln/>
        </p:spPr>
        <p:txBody>
          <a:bodyPr wrap="square" lIns="0" tIns="0" rIns="0" bIns="0" rtlCol="0" anchor="ctr">
            <a:normAutofit/>
          </a:bodyPr>
          <a:lstStyle/>
          <a:p>
            <a:pPr algn="ctr" indent="0" marL="0">
              <a:buNone/>
            </a:pPr>
            <a:r>
              <a:rPr lang="en-US" sz="920" b="1" dirty="0">
                <a:solidFill>
                  <a:srgbClr val="EAF0F8"/>
                </a:solidFill>
                <a:latin typeface="Inter" pitchFamily="34" charset="0"/>
                <a:ea typeface="Inter" pitchFamily="34" charset="-122"/>
                <a:cs typeface="Inter" pitchFamily="34" charset="-120"/>
              </a:rPr>
              <a:t>ADD-ON  •  RANDOM FOREST</a:t>
            </a:r>
            <a:endParaRPr lang="en-US" sz="920" dirty="0"/>
          </a:p>
        </p:txBody>
      </p:sp>
      <p:sp>
        <p:nvSpPr>
          <p:cNvPr id="10" name="Text 8"/>
          <p:cNvSpPr txBox="1"/>
          <p:nvPr/>
        </p:nvSpPr>
        <p:spPr>
          <a:xfrm>
            <a:off x="704088" y="5166360"/>
            <a:ext cx="5852160" cy="256032"/>
          </a:xfrm>
          <a:prstGeom prst="rect">
            <a:avLst/>
          </a:prstGeom>
          <a:noFill/>
          <a:ln/>
        </p:spPr>
        <p:txBody>
          <a:bodyPr wrap="square" lIns="0" tIns="0" rIns="0" bIns="0" rtlCol="0" anchor="ctr">
            <a:normAutofit/>
          </a:bodyPr>
          <a:lstStyle/>
          <a:p>
            <a:pPr algn="l" indent="0" marL="0">
              <a:buNone/>
            </a:pPr>
            <a:r>
              <a:rPr lang="en-US" sz="1030" dirty="0">
                <a:solidFill>
                  <a:srgbClr val="9EADC5"/>
                </a:solidFill>
                <a:latin typeface="Inter" pitchFamily="34" charset="0"/>
                <a:ea typeface="Inter" pitchFamily="34" charset="-122"/>
                <a:cs typeface="Inter" pitchFamily="34" charset="-120"/>
              </a:rPr>
              <a:t>Reference paper: Muhammad Umar Nadeem &amp; Sarah Raza</a:t>
            </a:r>
            <a:endParaRPr lang="en-US" sz="1030" dirty="0"/>
          </a:p>
        </p:txBody>
      </p:sp>
      <p:sp>
        <p:nvSpPr>
          <p:cNvPr id="11" name="Text 9"/>
          <p:cNvSpPr txBox="1"/>
          <p:nvPr/>
        </p:nvSpPr>
        <p:spPr>
          <a:xfrm>
            <a:off x="704088" y="5504688"/>
            <a:ext cx="5303520" cy="228600"/>
          </a:xfrm>
          <a:prstGeom prst="rect">
            <a:avLst/>
          </a:prstGeom>
          <a:noFill/>
          <a:ln/>
        </p:spPr>
        <p:txBody>
          <a:bodyPr wrap="square" lIns="0" tIns="0" rIns="0" bIns="0" rtlCol="0" anchor="ctr">
            <a:normAutofit/>
          </a:bodyPr>
          <a:lstStyle/>
          <a:p>
            <a:pPr algn="l" indent="0" marL="0">
              <a:buNone/>
            </a:pPr>
            <a:r>
              <a:rPr lang="en-US" sz="1030" dirty="0">
                <a:solidFill>
                  <a:srgbClr val="9EADC5"/>
                </a:solidFill>
                <a:latin typeface="Inter" pitchFamily="34" charset="0"/>
                <a:ea typeface="Inter" pitchFamily="34" charset="-122"/>
                <a:cs typeface="Inter" pitchFamily="34" charset="-120"/>
              </a:rPr>
              <a:t>Dataset: 500 Bazel commit/build examples</a:t>
            </a:r>
            <a:endParaRPr lang="en-US" sz="1030" dirty="0"/>
          </a:p>
        </p:txBody>
      </p:sp>
      <p:sp>
        <p:nvSpPr>
          <p:cNvPr id="12" name="Shape 10"/>
          <p:cNvSpPr/>
          <p:nvPr/>
        </p:nvSpPr>
        <p:spPr>
          <a:xfrm>
            <a:off x="7571232" y="1115568"/>
            <a:ext cx="3794760" cy="868680"/>
          </a:xfrm>
          <a:prstGeom prst="roundRect">
            <a:avLst>
              <a:gd name="adj" fmla="val 16842"/>
            </a:avLst>
          </a:prstGeom>
          <a:solidFill>
            <a:srgbClr val="1C2B49"/>
          </a:solidFill>
          <a:ln w="10160">
            <a:solidFill>
              <a:srgbClr val="304260"/>
            </a:solidFill>
            <a:prstDash val="solid"/>
          </a:ln>
        </p:spPr>
      </p:sp>
      <p:sp>
        <p:nvSpPr>
          <p:cNvPr id="13" name="Shape 11"/>
          <p:cNvSpPr/>
          <p:nvPr/>
        </p:nvSpPr>
        <p:spPr>
          <a:xfrm>
            <a:off x="7845552" y="1399032"/>
            <a:ext cx="256032" cy="256032"/>
          </a:xfrm>
          <a:prstGeom prst="ellipse">
            <a:avLst/>
          </a:prstGeom>
          <a:solidFill>
            <a:srgbClr val="17AEB0"/>
          </a:solidFill>
          <a:ln w="10160">
            <a:solidFill>
              <a:srgbClr val="17AEB0"/>
            </a:solidFill>
            <a:prstDash val="solid"/>
          </a:ln>
        </p:spPr>
      </p:sp>
      <p:sp>
        <p:nvSpPr>
          <p:cNvPr id="14" name="Text 12"/>
          <p:cNvSpPr txBox="1"/>
          <p:nvPr/>
        </p:nvSpPr>
        <p:spPr>
          <a:xfrm>
            <a:off x="8211312" y="1298448"/>
            <a:ext cx="2697480" cy="201168"/>
          </a:xfrm>
          <a:prstGeom prst="rect">
            <a:avLst/>
          </a:prstGeom>
          <a:noFill/>
          <a:ln/>
        </p:spPr>
        <p:txBody>
          <a:bodyPr wrap="square" lIns="0" tIns="0" rIns="0" bIns="0" rtlCol="0" anchor="ctr">
            <a:normAutofit/>
          </a:bodyPr>
          <a:lstStyle/>
          <a:p>
            <a:pPr algn="l" indent="0" marL="0">
              <a:buNone/>
            </a:pPr>
            <a:r>
              <a:rPr lang="en-US" sz="900" b="1" spc="80" kern="0" dirty="0">
                <a:solidFill>
                  <a:srgbClr val="AAB9D0"/>
                </a:solidFill>
                <a:latin typeface="Inter" pitchFamily="34" charset="0"/>
                <a:ea typeface="Inter" pitchFamily="34" charset="-122"/>
                <a:cs typeface="Inter" pitchFamily="34" charset="-120"/>
              </a:rPr>
              <a:t>COMMIT METADATA</a:t>
            </a:r>
            <a:endParaRPr lang="en-US" sz="900" dirty="0"/>
          </a:p>
        </p:txBody>
      </p:sp>
      <p:sp>
        <p:nvSpPr>
          <p:cNvPr id="15" name="Text 13"/>
          <p:cNvSpPr txBox="1"/>
          <p:nvPr/>
        </p:nvSpPr>
        <p:spPr>
          <a:xfrm>
            <a:off x="8211312" y="1536192"/>
            <a:ext cx="2697480" cy="228600"/>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Inter" pitchFamily="34" charset="0"/>
                <a:ea typeface="Inter" pitchFamily="34" charset="-122"/>
                <a:cs typeface="Inter" pitchFamily="34" charset="-120"/>
              </a:rPr>
              <a:t>prefix  +  file type</a:t>
            </a:r>
            <a:endParaRPr lang="en-US" sz="1600" dirty="0"/>
          </a:p>
        </p:txBody>
      </p:sp>
      <p:sp>
        <p:nvSpPr>
          <p:cNvPr id="16" name="Shape 14"/>
          <p:cNvSpPr/>
          <p:nvPr/>
        </p:nvSpPr>
        <p:spPr>
          <a:xfrm>
            <a:off x="9464040" y="1984248"/>
            <a:ext cx="0" cy="429768"/>
          </a:xfrm>
          <a:prstGeom prst="line">
            <a:avLst/>
          </a:prstGeom>
          <a:noFill/>
          <a:ln w="17780">
            <a:solidFill>
              <a:srgbClr val="5A6B88"/>
            </a:solidFill>
            <a:prstDash val="solid"/>
            <a:headEnd type="none"/>
            <a:tailEnd type="none"/>
          </a:ln>
        </p:spPr>
      </p:sp>
      <p:sp>
        <p:nvSpPr>
          <p:cNvPr id="17" name="Shape 15"/>
          <p:cNvSpPr/>
          <p:nvPr/>
        </p:nvSpPr>
        <p:spPr>
          <a:xfrm>
            <a:off x="8485632" y="2414016"/>
            <a:ext cx="1956816" cy="0"/>
          </a:xfrm>
          <a:prstGeom prst="line">
            <a:avLst/>
          </a:prstGeom>
          <a:noFill/>
          <a:ln w="17780">
            <a:solidFill>
              <a:srgbClr val="5A6B88"/>
            </a:solidFill>
            <a:prstDash val="solid"/>
            <a:headEnd type="none"/>
            <a:tailEnd type="none"/>
          </a:ln>
        </p:spPr>
      </p:sp>
      <p:sp>
        <p:nvSpPr>
          <p:cNvPr id="18" name="Shape 16"/>
          <p:cNvSpPr/>
          <p:nvPr/>
        </p:nvSpPr>
        <p:spPr>
          <a:xfrm>
            <a:off x="8485632" y="2414016"/>
            <a:ext cx="0" cy="256032"/>
          </a:xfrm>
          <a:prstGeom prst="line">
            <a:avLst/>
          </a:prstGeom>
          <a:noFill/>
          <a:ln w="17780">
            <a:solidFill>
              <a:srgbClr val="5A6B88"/>
            </a:solidFill>
            <a:prstDash val="solid"/>
            <a:headEnd type="none"/>
            <a:tailEnd type="none"/>
          </a:ln>
        </p:spPr>
      </p:sp>
      <p:sp>
        <p:nvSpPr>
          <p:cNvPr id="19" name="Shape 17"/>
          <p:cNvSpPr/>
          <p:nvPr/>
        </p:nvSpPr>
        <p:spPr>
          <a:xfrm>
            <a:off x="10442448" y="2414016"/>
            <a:ext cx="0" cy="256032"/>
          </a:xfrm>
          <a:prstGeom prst="line">
            <a:avLst/>
          </a:prstGeom>
          <a:noFill/>
          <a:ln w="17780">
            <a:solidFill>
              <a:srgbClr val="5A6B88"/>
            </a:solidFill>
            <a:prstDash val="solid"/>
            <a:headEnd type="none"/>
            <a:tailEnd type="none"/>
          </a:ln>
        </p:spPr>
      </p:sp>
      <p:sp>
        <p:nvSpPr>
          <p:cNvPr id="20" name="Shape 18"/>
          <p:cNvSpPr/>
          <p:nvPr/>
        </p:nvSpPr>
        <p:spPr>
          <a:xfrm>
            <a:off x="7543800" y="2670048"/>
            <a:ext cx="1874520" cy="804672"/>
          </a:xfrm>
          <a:prstGeom prst="roundRect">
            <a:avLst>
              <a:gd name="adj" fmla="val 15909"/>
            </a:avLst>
          </a:prstGeom>
          <a:solidFill>
            <a:srgbClr val="243652"/>
          </a:solidFill>
          <a:ln w="10160">
            <a:solidFill>
              <a:srgbClr val="45607C"/>
            </a:solidFill>
            <a:prstDash val="solid"/>
          </a:ln>
        </p:spPr>
      </p:sp>
      <p:sp>
        <p:nvSpPr>
          <p:cNvPr id="21" name="Text 19"/>
          <p:cNvSpPr txBox="1"/>
          <p:nvPr/>
        </p:nvSpPr>
        <p:spPr>
          <a:xfrm>
            <a:off x="7708392" y="2825496"/>
            <a:ext cx="1536192" cy="42976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Inter" pitchFamily="34" charset="0"/>
                <a:ea typeface="Inter" pitchFamily="34" charset="-122"/>
                <a:cs typeface="Inter" pitchFamily="34" charset="-120"/>
              </a:rPr>
              <a:t>Linear</a:t>
            </a:r>
            <a:endParaRPr lang="en-US" sz="1300" dirty="0"/>
          </a:p>
          <a:p>
            <a:pPr algn="ctr" indent="0" marL="0">
              <a:buNone/>
            </a:pPr>
            <a:r>
              <a:rPr lang="en-US" sz="1300" b="1" dirty="0">
                <a:solidFill>
                  <a:srgbClr val="FFFFFF"/>
                </a:solidFill>
                <a:latin typeface="Inter" pitchFamily="34" charset="0"/>
                <a:ea typeface="Inter" pitchFamily="34" charset="-122"/>
                <a:cs typeface="Inter" pitchFamily="34" charset="-120"/>
              </a:rPr>
              <a:t>Regression</a:t>
            </a:r>
            <a:endParaRPr lang="en-US" sz="1300" dirty="0"/>
          </a:p>
        </p:txBody>
      </p:sp>
      <p:sp>
        <p:nvSpPr>
          <p:cNvPr id="22" name="Shape 20"/>
          <p:cNvSpPr/>
          <p:nvPr/>
        </p:nvSpPr>
        <p:spPr>
          <a:xfrm>
            <a:off x="9582912" y="2670048"/>
            <a:ext cx="1847088" cy="804672"/>
          </a:xfrm>
          <a:prstGeom prst="roundRect">
            <a:avLst>
              <a:gd name="adj" fmla="val 15909"/>
            </a:avLst>
          </a:prstGeom>
          <a:solidFill>
            <a:srgbClr val="3A3040"/>
          </a:solidFill>
          <a:ln w="10160">
            <a:solidFill>
              <a:srgbClr val="855E42"/>
            </a:solidFill>
            <a:prstDash val="solid"/>
          </a:ln>
        </p:spPr>
      </p:sp>
      <p:sp>
        <p:nvSpPr>
          <p:cNvPr id="23" name="Text 21"/>
          <p:cNvSpPr txBox="1"/>
          <p:nvPr/>
        </p:nvSpPr>
        <p:spPr>
          <a:xfrm>
            <a:off x="9756648" y="2825496"/>
            <a:ext cx="1481328" cy="42976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Inter" pitchFamily="34" charset="0"/>
                <a:ea typeface="Inter" pitchFamily="34" charset="-122"/>
                <a:cs typeface="Inter" pitchFamily="34" charset="-120"/>
              </a:rPr>
              <a:t>Random</a:t>
            </a:r>
            <a:endParaRPr lang="en-US" sz="1300" dirty="0"/>
          </a:p>
          <a:p>
            <a:pPr algn="ctr" indent="0" marL="0">
              <a:buNone/>
            </a:pPr>
            <a:r>
              <a:rPr lang="en-US" sz="1300" b="1" dirty="0">
                <a:solidFill>
                  <a:srgbClr val="FFFFFF"/>
                </a:solidFill>
                <a:latin typeface="Inter" pitchFamily="34" charset="0"/>
                <a:ea typeface="Inter" pitchFamily="34" charset="-122"/>
                <a:cs typeface="Inter" pitchFamily="34" charset="-120"/>
              </a:rPr>
              <a:t>Forest</a:t>
            </a:r>
            <a:endParaRPr lang="en-US" sz="1300" dirty="0"/>
          </a:p>
        </p:txBody>
      </p:sp>
      <p:sp>
        <p:nvSpPr>
          <p:cNvPr id="24" name="Shape 22"/>
          <p:cNvSpPr/>
          <p:nvPr/>
        </p:nvSpPr>
        <p:spPr>
          <a:xfrm>
            <a:off x="8485632" y="3474720"/>
            <a:ext cx="0" cy="384048"/>
          </a:xfrm>
          <a:prstGeom prst="line">
            <a:avLst/>
          </a:prstGeom>
          <a:noFill/>
          <a:ln w="15875">
            <a:solidFill>
              <a:srgbClr val="5A6B88"/>
            </a:solidFill>
            <a:prstDash val="solid"/>
            <a:headEnd type="none"/>
            <a:tailEnd type="none"/>
          </a:ln>
        </p:spPr>
      </p:sp>
      <p:sp>
        <p:nvSpPr>
          <p:cNvPr id="25" name="Shape 23"/>
          <p:cNvSpPr/>
          <p:nvPr/>
        </p:nvSpPr>
        <p:spPr>
          <a:xfrm>
            <a:off x="10506456" y="3474720"/>
            <a:ext cx="0" cy="384048"/>
          </a:xfrm>
          <a:prstGeom prst="line">
            <a:avLst/>
          </a:prstGeom>
          <a:noFill/>
          <a:ln w="15875">
            <a:solidFill>
              <a:srgbClr val="5A6B88"/>
            </a:solidFill>
            <a:prstDash val="solid"/>
            <a:headEnd type="none"/>
            <a:tailEnd type="none"/>
          </a:ln>
        </p:spPr>
      </p:sp>
      <p:sp>
        <p:nvSpPr>
          <p:cNvPr id="26" name="Shape 24"/>
          <p:cNvSpPr/>
          <p:nvPr/>
        </p:nvSpPr>
        <p:spPr>
          <a:xfrm>
            <a:off x="8485632" y="3858768"/>
            <a:ext cx="2020824" cy="0"/>
          </a:xfrm>
          <a:prstGeom prst="line">
            <a:avLst/>
          </a:prstGeom>
          <a:noFill/>
          <a:ln w="15875">
            <a:solidFill>
              <a:srgbClr val="5A6B88"/>
            </a:solidFill>
            <a:prstDash val="solid"/>
            <a:headEnd type="none"/>
            <a:tailEnd type="none"/>
          </a:ln>
        </p:spPr>
      </p:sp>
      <p:sp>
        <p:nvSpPr>
          <p:cNvPr id="27" name="Shape 25"/>
          <p:cNvSpPr/>
          <p:nvPr/>
        </p:nvSpPr>
        <p:spPr>
          <a:xfrm>
            <a:off x="9500616" y="3858768"/>
            <a:ext cx="0" cy="256032"/>
          </a:xfrm>
          <a:prstGeom prst="line">
            <a:avLst/>
          </a:prstGeom>
          <a:noFill/>
          <a:ln w="15875">
            <a:solidFill>
              <a:srgbClr val="5A6B88"/>
            </a:solidFill>
            <a:prstDash val="solid"/>
            <a:headEnd type="none"/>
            <a:tailEnd type="none"/>
          </a:ln>
        </p:spPr>
      </p:sp>
      <p:sp>
        <p:nvSpPr>
          <p:cNvPr id="28" name="Shape 26"/>
          <p:cNvSpPr/>
          <p:nvPr/>
        </p:nvSpPr>
        <p:spPr>
          <a:xfrm>
            <a:off x="7818120" y="4114800"/>
            <a:ext cx="3337560" cy="731520"/>
          </a:xfrm>
          <a:prstGeom prst="roundRect">
            <a:avLst>
              <a:gd name="adj" fmla="val 21250"/>
            </a:avLst>
          </a:prstGeom>
          <a:solidFill>
            <a:srgbClr val="12233D"/>
          </a:solidFill>
          <a:ln w="10160">
            <a:solidFill>
              <a:srgbClr val="2C4B66"/>
            </a:solidFill>
            <a:prstDash val="solid"/>
          </a:ln>
        </p:spPr>
      </p:sp>
      <p:sp>
        <p:nvSpPr>
          <p:cNvPr id="29" name="Text 27"/>
          <p:cNvSpPr txBox="1"/>
          <p:nvPr/>
        </p:nvSpPr>
        <p:spPr>
          <a:xfrm>
            <a:off x="8028432" y="4325112"/>
            <a:ext cx="2898648" cy="228600"/>
          </a:xfrm>
          <a:prstGeom prst="rect">
            <a:avLst/>
          </a:prstGeom>
          <a:noFill/>
          <a:ln/>
        </p:spPr>
        <p:txBody>
          <a:bodyPr wrap="square" lIns="0" tIns="0" rIns="0" bIns="0" rtlCol="0" anchor="ctr">
            <a:normAutofit/>
          </a:bodyPr>
          <a:lstStyle/>
          <a:p>
            <a:pPr algn="ctr" indent="0" marL="0">
              <a:buNone/>
            </a:pPr>
            <a:r>
              <a:rPr lang="en-US" sz="1120" b="1" dirty="0">
                <a:solidFill>
                  <a:srgbClr val="D9E5F4"/>
                </a:solidFill>
                <a:latin typeface="Inter" pitchFamily="34" charset="0"/>
                <a:ea typeface="Inter" pitchFamily="34" charset="-122"/>
                <a:cs typeface="Inter" pitchFamily="34" charset="-120"/>
              </a:rPr>
              <a:t>RMSE  •  LOWER IS BETTER</a:t>
            </a:r>
            <a:endParaRPr lang="en-US" sz="1120" dirty="0"/>
          </a:p>
        </p:txBody>
      </p:sp>
      <p:sp>
        <p:nvSpPr>
          <p:cNvPr id="30" name="Shape 28"/>
          <p:cNvSpPr/>
          <p:nvPr/>
        </p:nvSpPr>
        <p:spPr>
          <a:xfrm>
            <a:off x="7315200" y="969264"/>
            <a:ext cx="128016" cy="128016"/>
          </a:xfrm>
          <a:prstGeom prst="ellipse">
            <a:avLst/>
          </a:prstGeom>
          <a:solidFill>
            <a:srgbClr val="17AEB0"/>
          </a:solidFill>
          <a:ln w="10160">
            <a:solidFill>
              <a:srgbClr val="17AEB0"/>
            </a:solidFill>
            <a:prstDash val="solid"/>
          </a:ln>
        </p:spPr>
      </p:sp>
      <p:sp>
        <p:nvSpPr>
          <p:cNvPr id="31" name="Shape 29"/>
          <p:cNvSpPr/>
          <p:nvPr/>
        </p:nvSpPr>
        <p:spPr>
          <a:xfrm>
            <a:off x="11320272" y="2130552"/>
            <a:ext cx="91440" cy="91440"/>
          </a:xfrm>
          <a:prstGeom prst="ellipse">
            <a:avLst/>
          </a:prstGeom>
          <a:solidFill>
            <a:srgbClr val="F2A541"/>
          </a:solidFill>
          <a:ln w="10160">
            <a:solidFill>
              <a:srgbClr val="F2A541"/>
            </a:solidFill>
            <a:prstDash val="solid"/>
          </a:ln>
        </p:spPr>
      </p:sp>
      <p:sp>
        <p:nvSpPr>
          <p:cNvPr id="32" name="Shape 30"/>
          <p:cNvSpPr/>
          <p:nvPr/>
        </p:nvSpPr>
        <p:spPr>
          <a:xfrm>
            <a:off x="7296912" y="4361688"/>
            <a:ext cx="128016" cy="128016"/>
          </a:xfrm>
          <a:prstGeom prst="ellipse">
            <a:avLst/>
          </a:prstGeom>
          <a:solidFill>
            <a:srgbClr val="5478D4"/>
          </a:solidFill>
          <a:ln w="10160">
            <a:solidFill>
              <a:srgbClr val="5478D4"/>
            </a:solidFill>
            <a:prstDash val="solid"/>
          </a:ln>
        </p:spPr>
      </p:sp>
      <p:sp>
        <p:nvSpPr>
          <p:cNvPr id="33" name="Shape 31"/>
          <p:cNvSpPr/>
          <p:nvPr/>
        </p:nvSpPr>
        <p:spPr>
          <a:xfrm>
            <a:off x="11411712" y="4663440"/>
            <a:ext cx="91440" cy="91440"/>
          </a:xfrm>
          <a:prstGeom prst="ellipse">
            <a:avLst/>
          </a:prstGeom>
          <a:solidFill>
            <a:srgbClr val="17AEB0"/>
          </a:solidFill>
          <a:ln w="10160">
            <a:solidFill>
              <a:srgbClr val="17AEB0"/>
            </a:solidFill>
            <a:prstDash val="solid"/>
          </a:ln>
        </p:spPr>
      </p:sp>
      <p:sp>
        <p:nvSpPr>
          <p:cNvPr id="34" name="Shape 32"/>
          <p:cNvSpPr/>
          <p:nvPr/>
        </p:nvSpPr>
        <p:spPr>
          <a:xfrm>
            <a:off x="7452360" y="5157216"/>
            <a:ext cx="128016" cy="128016"/>
          </a:xfrm>
          <a:prstGeom prst="ellipse">
            <a:avLst/>
          </a:prstGeom>
          <a:solidFill>
            <a:srgbClr val="F2A541"/>
          </a:solidFill>
          <a:ln w="10160">
            <a:solidFill>
              <a:srgbClr val="F2A541"/>
            </a:solidFill>
            <a:prstDash val="solid"/>
          </a:ln>
        </p:spPr>
      </p:sp>
      <p:sp>
        <p:nvSpPr>
          <p:cNvPr id="35" name="Shape 33"/>
          <p:cNvSpPr/>
          <p:nvPr/>
        </p:nvSpPr>
        <p:spPr>
          <a:xfrm>
            <a:off x="10954512" y="5413248"/>
            <a:ext cx="91440" cy="91440"/>
          </a:xfrm>
          <a:prstGeom prst="ellipse">
            <a:avLst/>
          </a:prstGeom>
          <a:solidFill>
            <a:srgbClr val="5478D4"/>
          </a:solidFill>
          <a:ln w="10160">
            <a:solidFill>
              <a:srgbClr val="5478D4"/>
            </a:solidFill>
            <a:prstDash val="solid"/>
          </a:ln>
        </p:spPr>
      </p:sp>
      <p:sp>
        <p:nvSpPr>
          <p:cNvPr id="36" name="Text 34"/>
          <p:cNvSpPr txBox="1"/>
          <p:nvPr/>
        </p:nvSpPr>
        <p:spPr>
          <a:xfrm>
            <a:off x="7479792" y="5669280"/>
            <a:ext cx="4114800" cy="256032"/>
          </a:xfrm>
          <a:prstGeom prst="rect">
            <a:avLst/>
          </a:prstGeom>
          <a:noFill/>
          <a:ln/>
        </p:spPr>
        <p:txBody>
          <a:bodyPr wrap="square" lIns="0" tIns="0" rIns="0" bIns="0" rtlCol="0" anchor="ctr">
            <a:normAutofit/>
          </a:bodyPr>
          <a:lstStyle/>
          <a:p>
            <a:pPr algn="ctr" indent="0" marL="0">
              <a:buNone/>
            </a:pPr>
            <a:r>
              <a:rPr lang="en-US" sz="1000" b="1" spc="70" kern="0" dirty="0">
                <a:solidFill>
                  <a:srgbClr val="AAB9D0"/>
                </a:solidFill>
                <a:latin typeface="Inter" pitchFamily="34" charset="0"/>
                <a:ea typeface="Inter" pitchFamily="34" charset="-122"/>
                <a:cs typeface="Inter" pitchFamily="34" charset="-120"/>
              </a:rPr>
              <a:t>REPRODUCE  →  EXTEND  →  COMPARE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603504" y="256032"/>
            <a:ext cx="6858000" cy="201168"/>
          </a:xfrm>
          <a:prstGeom prst="rect">
            <a:avLst/>
          </a:prstGeom>
          <a:noFill/>
          <a:ln/>
        </p:spPr>
        <p:txBody>
          <a:bodyPr wrap="square" lIns="0" tIns="0" rIns="0" bIns="0" rtlCol="0" anchor="ctr">
            <a:normAutofit/>
          </a:bodyPr>
          <a:lstStyle/>
          <a:p>
            <a:pPr algn="l" indent="0" marL="0">
              <a:buNone/>
            </a:pPr>
            <a:r>
              <a:rPr lang="en-US" sz="920" b="1" spc="125" kern="0" dirty="0">
                <a:solidFill>
                  <a:srgbClr val="17AEB0"/>
                </a:solidFill>
                <a:latin typeface="Inter" pitchFamily="34" charset="0"/>
                <a:ea typeface="Inter" pitchFamily="34" charset="-122"/>
                <a:cs typeface="Inter" pitchFamily="34" charset="-120"/>
              </a:rPr>
              <a:t>01  /  PROBLEM STATEMENT</a:t>
            </a:r>
            <a:endParaRPr lang="en-US" sz="920" dirty="0"/>
          </a:p>
        </p:txBody>
      </p:sp>
      <p:sp>
        <p:nvSpPr>
          <p:cNvPr id="3" name="Text 1"/>
          <p:cNvSpPr txBox="1"/>
          <p:nvPr/>
        </p:nvSpPr>
        <p:spPr>
          <a:xfrm>
            <a:off x="594360" y="512064"/>
            <a:ext cx="11018520" cy="457200"/>
          </a:xfrm>
          <a:prstGeom prst="rect">
            <a:avLst/>
          </a:prstGeom>
          <a:noFill/>
          <a:ln/>
        </p:spPr>
        <p:txBody>
          <a:bodyPr wrap="square" lIns="0" tIns="0" rIns="0" bIns="0" rtlCol="0" anchor="ctr">
            <a:normAutofit/>
          </a:bodyPr>
          <a:lstStyle/>
          <a:p>
            <a:pPr algn="l" indent="0" marL="0">
              <a:buNone/>
            </a:pPr>
            <a:r>
              <a:rPr lang="en-US" sz="2550" b="1" dirty="0">
                <a:solidFill>
                  <a:srgbClr val="101A32"/>
                </a:solidFill>
                <a:latin typeface="Inter" pitchFamily="34" charset="0"/>
                <a:ea typeface="Inter" pitchFamily="34" charset="-122"/>
                <a:cs typeface="Inter" pitchFamily="34" charset="-120"/>
              </a:rPr>
              <a:t>Can a commit hint at the cost of a build?</a:t>
            </a:r>
            <a:endParaRPr lang="en-US" sz="2550" dirty="0"/>
          </a:p>
        </p:txBody>
      </p:sp>
      <p:sp>
        <p:nvSpPr>
          <p:cNvPr id="4" name="Text 2"/>
          <p:cNvSpPr txBox="1"/>
          <p:nvPr/>
        </p:nvSpPr>
        <p:spPr>
          <a:xfrm>
            <a:off x="612648" y="1005840"/>
            <a:ext cx="10972800" cy="292608"/>
          </a:xfrm>
          <a:prstGeom prst="rect">
            <a:avLst/>
          </a:prstGeom>
          <a:noFill/>
          <a:ln/>
        </p:spPr>
        <p:txBody>
          <a:bodyPr wrap="square" lIns="0" tIns="0" rIns="0" bIns="0" rtlCol="0" anchor="ctr">
            <a:normAutofit/>
          </a:bodyPr>
          <a:lstStyle/>
          <a:p>
            <a:pPr algn="l" indent="0" marL="0">
              <a:buNone/>
            </a:pPr>
            <a:r>
              <a:rPr lang="en-US" sz="1160" dirty="0">
                <a:solidFill>
                  <a:srgbClr val="65738A"/>
                </a:solidFill>
                <a:latin typeface="Inter" pitchFamily="34" charset="0"/>
                <a:ea typeface="Inter" pitchFamily="34" charset="-122"/>
                <a:cs typeface="Inter" pitchFamily="34" charset="-120"/>
              </a:rPr>
              <a:t>Goal: estimate the CPU time required for a Bazel build from lightweight information about changed files.</a:t>
            </a:r>
            <a:endParaRPr lang="en-US" sz="1160" dirty="0"/>
          </a:p>
        </p:txBody>
      </p:sp>
      <p:sp>
        <p:nvSpPr>
          <p:cNvPr id="5" name="Shape 3"/>
          <p:cNvSpPr/>
          <p:nvPr/>
        </p:nvSpPr>
        <p:spPr>
          <a:xfrm>
            <a:off x="603504" y="1572768"/>
            <a:ext cx="4617720" cy="4407408"/>
          </a:xfrm>
          <a:prstGeom prst="roundRect">
            <a:avLst>
              <a:gd name="adj" fmla="val 3734"/>
            </a:avLst>
          </a:prstGeom>
          <a:solidFill>
            <a:srgbClr val="FFFFFF"/>
          </a:solidFill>
          <a:ln w="10160">
            <a:solidFill>
              <a:srgbClr val="E0E7F0"/>
            </a:solidFill>
            <a:prstDash val="solid"/>
          </a:ln>
        </p:spPr>
      </p:sp>
      <p:sp>
        <p:nvSpPr>
          <p:cNvPr id="6" name="Shape 4"/>
          <p:cNvSpPr/>
          <p:nvPr/>
        </p:nvSpPr>
        <p:spPr>
          <a:xfrm>
            <a:off x="868680" y="1847088"/>
            <a:ext cx="1417320" cy="292608"/>
          </a:xfrm>
          <a:prstGeom prst="roundRect">
            <a:avLst>
              <a:gd name="adj" fmla="val 37500"/>
            </a:avLst>
          </a:prstGeom>
          <a:solidFill>
            <a:srgbClr val="E3F7F6"/>
          </a:solidFill>
          <a:ln w="1270">
            <a:solidFill>
              <a:srgbClr val="E3F7F6">
                <a:alpha val="0"/>
              </a:srgbClr>
            </a:solidFill>
            <a:prstDash val="solid"/>
          </a:ln>
        </p:spPr>
      </p:sp>
      <p:sp>
        <p:nvSpPr>
          <p:cNvPr id="7" name="Text 5"/>
          <p:cNvSpPr txBox="1"/>
          <p:nvPr/>
        </p:nvSpPr>
        <p:spPr>
          <a:xfrm>
            <a:off x="941832" y="1860804"/>
            <a:ext cx="1271016" cy="265176"/>
          </a:xfrm>
          <a:prstGeom prst="rect">
            <a:avLst/>
          </a:prstGeom>
          <a:noFill/>
          <a:ln/>
        </p:spPr>
        <p:txBody>
          <a:bodyPr wrap="square" lIns="0" tIns="0" rIns="0" bIns="0" rtlCol="0" anchor="ctr">
            <a:normAutofit/>
          </a:bodyPr>
          <a:lstStyle/>
          <a:p>
            <a:pPr algn="ctr" indent="0" marL="0">
              <a:buNone/>
            </a:pPr>
            <a:r>
              <a:rPr lang="en-US" sz="930" b="1" dirty="0">
                <a:solidFill>
                  <a:srgbClr val="17AEB0"/>
                </a:solidFill>
                <a:latin typeface="Inter" pitchFamily="34" charset="0"/>
                <a:ea typeface="Inter" pitchFamily="34" charset="-122"/>
                <a:cs typeface="Inter" pitchFamily="34" charset="-120"/>
              </a:rPr>
              <a:t>THE PROBLEM</a:t>
            </a:r>
            <a:endParaRPr lang="en-US" sz="930" dirty="0"/>
          </a:p>
        </p:txBody>
      </p:sp>
      <p:sp>
        <p:nvSpPr>
          <p:cNvPr id="8" name="Text 6"/>
          <p:cNvSpPr txBox="1"/>
          <p:nvPr/>
        </p:nvSpPr>
        <p:spPr>
          <a:xfrm>
            <a:off x="877824" y="2304288"/>
            <a:ext cx="3822192" cy="658368"/>
          </a:xfrm>
          <a:prstGeom prst="rect">
            <a:avLst/>
          </a:prstGeom>
          <a:noFill/>
          <a:ln/>
        </p:spPr>
        <p:txBody>
          <a:bodyPr wrap="square" lIns="0" tIns="0" rIns="0" bIns="0" rtlCol="0" anchor="t">
            <a:normAutofit/>
          </a:bodyPr>
          <a:lstStyle/>
          <a:p>
            <a:pPr algn="l" indent="0" marL="0">
              <a:buNone/>
            </a:pPr>
            <a:r>
              <a:rPr lang="en-US" sz="2300" b="1" dirty="0">
                <a:solidFill>
                  <a:srgbClr val="101A32"/>
                </a:solidFill>
                <a:latin typeface="Inter" pitchFamily="34" charset="0"/>
                <a:ea typeface="Inter" pitchFamily="34" charset="-122"/>
                <a:cs typeface="Inter" pitchFamily="34" charset="-120"/>
              </a:rPr>
              <a:t>Build time is a resource cost.</a:t>
            </a:r>
            <a:endParaRPr lang="en-US" sz="2300" dirty="0"/>
          </a:p>
        </p:txBody>
      </p:sp>
      <p:sp>
        <p:nvSpPr>
          <p:cNvPr id="9" name="Text 7"/>
          <p:cNvSpPr txBox="1"/>
          <p:nvPr/>
        </p:nvSpPr>
        <p:spPr>
          <a:xfrm>
            <a:off x="896112" y="3127248"/>
            <a:ext cx="3785616" cy="914400"/>
          </a:xfrm>
          <a:prstGeom prst="rect">
            <a:avLst/>
          </a:prstGeom>
          <a:noFill/>
          <a:ln/>
        </p:spPr>
        <p:txBody>
          <a:bodyPr wrap="square" lIns="0" tIns="0" rIns="0" bIns="0" rtlCol="0" anchor="t">
            <a:normAutofit/>
          </a:bodyPr>
          <a:lstStyle/>
          <a:p>
            <a:pPr algn="l" indent="0" marL="0">
              <a:buNone/>
            </a:pPr>
            <a:r>
              <a:rPr lang="en-US" sz="1320" dirty="0">
                <a:solidFill>
                  <a:srgbClr val="65738A"/>
                </a:solidFill>
                <a:latin typeface="Inter" pitchFamily="34" charset="0"/>
                <a:ea typeface="Inter" pitchFamily="34" charset="-122"/>
                <a:cs typeface="Inter" pitchFamily="34" charset="-120"/>
              </a:rPr>
              <a:t>The reference explores whether a commit’s changed-file metadata can predict CPU time, helping developers reason about build cost and efficiency.</a:t>
            </a:r>
            <a:endParaRPr lang="en-US" sz="1320" dirty="0"/>
          </a:p>
        </p:txBody>
      </p:sp>
      <p:sp>
        <p:nvSpPr>
          <p:cNvPr id="10" name="Shape 8"/>
          <p:cNvSpPr/>
          <p:nvPr/>
        </p:nvSpPr>
        <p:spPr>
          <a:xfrm>
            <a:off x="896112" y="4251960"/>
            <a:ext cx="3950208" cy="0"/>
          </a:xfrm>
          <a:prstGeom prst="line">
            <a:avLst/>
          </a:prstGeom>
          <a:noFill/>
          <a:ln w="12700">
            <a:solidFill>
              <a:srgbClr val="E0E7F0"/>
            </a:solidFill>
            <a:prstDash val="solid"/>
            <a:headEnd type="none"/>
            <a:tailEnd type="none"/>
          </a:ln>
        </p:spPr>
      </p:sp>
      <p:sp>
        <p:nvSpPr>
          <p:cNvPr id="11" name="Shape 9"/>
          <p:cNvSpPr/>
          <p:nvPr/>
        </p:nvSpPr>
        <p:spPr>
          <a:xfrm>
            <a:off x="914400" y="4562856"/>
            <a:ext cx="82296" cy="82296"/>
          </a:xfrm>
          <a:prstGeom prst="ellipse">
            <a:avLst/>
          </a:prstGeom>
          <a:solidFill>
            <a:srgbClr val="17AEB0"/>
          </a:solidFill>
          <a:ln w="10160">
            <a:solidFill>
              <a:srgbClr val="17AEB0"/>
            </a:solidFill>
            <a:prstDash val="solid"/>
          </a:ln>
        </p:spPr>
      </p:sp>
      <p:sp>
        <p:nvSpPr>
          <p:cNvPr id="12" name="Text 10"/>
          <p:cNvSpPr txBox="1"/>
          <p:nvPr/>
        </p:nvSpPr>
        <p:spPr>
          <a:xfrm>
            <a:off x="1115568" y="4480560"/>
            <a:ext cx="3602736" cy="320040"/>
          </a:xfrm>
          <a:prstGeom prst="rect">
            <a:avLst/>
          </a:prstGeom>
          <a:noFill/>
          <a:ln/>
        </p:spPr>
        <p:txBody>
          <a:bodyPr wrap="square" lIns="0" tIns="0" rIns="0" bIns="0" rtlCol="0" anchor="t">
            <a:normAutofit/>
          </a:bodyPr>
          <a:lstStyle/>
          <a:p>
            <a:pPr algn="l" indent="0" marL="0">
              <a:buNone/>
            </a:pPr>
            <a:r>
              <a:rPr lang="en-US" sz="1230" dirty="0">
                <a:solidFill>
                  <a:srgbClr val="1A2740"/>
                </a:solidFill>
                <a:latin typeface="Inter" pitchFamily="34" charset="0"/>
                <a:ea typeface="Inter" pitchFamily="34" charset="-122"/>
                <a:cs typeface="Inter" pitchFamily="34" charset="-120"/>
              </a:rPr>
              <a:t>Input: most common file-path prefix</a:t>
            </a:r>
            <a:endParaRPr lang="en-US" sz="1230" dirty="0"/>
          </a:p>
        </p:txBody>
      </p:sp>
      <p:sp>
        <p:nvSpPr>
          <p:cNvPr id="13" name="Shape 11"/>
          <p:cNvSpPr/>
          <p:nvPr/>
        </p:nvSpPr>
        <p:spPr>
          <a:xfrm>
            <a:off x="914400" y="4983480"/>
            <a:ext cx="82296" cy="82296"/>
          </a:xfrm>
          <a:prstGeom prst="ellipse">
            <a:avLst/>
          </a:prstGeom>
          <a:solidFill>
            <a:srgbClr val="5478D4"/>
          </a:solidFill>
          <a:ln w="10160">
            <a:solidFill>
              <a:srgbClr val="5478D4"/>
            </a:solidFill>
            <a:prstDash val="solid"/>
          </a:ln>
        </p:spPr>
      </p:sp>
      <p:sp>
        <p:nvSpPr>
          <p:cNvPr id="14" name="Text 12"/>
          <p:cNvSpPr txBox="1"/>
          <p:nvPr/>
        </p:nvSpPr>
        <p:spPr>
          <a:xfrm>
            <a:off x="1115568" y="4901184"/>
            <a:ext cx="3602736" cy="320040"/>
          </a:xfrm>
          <a:prstGeom prst="rect">
            <a:avLst/>
          </a:prstGeom>
          <a:noFill/>
          <a:ln/>
        </p:spPr>
        <p:txBody>
          <a:bodyPr wrap="square" lIns="0" tIns="0" rIns="0" bIns="0" rtlCol="0" anchor="t">
            <a:normAutofit/>
          </a:bodyPr>
          <a:lstStyle/>
          <a:p>
            <a:pPr algn="l" indent="0" marL="0">
              <a:buNone/>
            </a:pPr>
            <a:r>
              <a:rPr lang="en-US" sz="1230" dirty="0">
                <a:solidFill>
                  <a:srgbClr val="1A2740"/>
                </a:solidFill>
                <a:latin typeface="Inter" pitchFamily="34" charset="0"/>
                <a:ea typeface="Inter" pitchFamily="34" charset="-122"/>
                <a:cs typeface="Inter" pitchFamily="34" charset="-120"/>
              </a:rPr>
              <a:t>Input: most common file type</a:t>
            </a:r>
            <a:endParaRPr lang="en-US" sz="1230" dirty="0"/>
          </a:p>
        </p:txBody>
      </p:sp>
      <p:sp>
        <p:nvSpPr>
          <p:cNvPr id="15" name="Shape 13"/>
          <p:cNvSpPr/>
          <p:nvPr/>
        </p:nvSpPr>
        <p:spPr>
          <a:xfrm>
            <a:off x="914400" y="5404104"/>
            <a:ext cx="82296" cy="82296"/>
          </a:xfrm>
          <a:prstGeom prst="ellipse">
            <a:avLst/>
          </a:prstGeom>
          <a:solidFill>
            <a:srgbClr val="F2A541"/>
          </a:solidFill>
          <a:ln w="10160">
            <a:solidFill>
              <a:srgbClr val="F2A541"/>
            </a:solidFill>
            <a:prstDash val="solid"/>
          </a:ln>
        </p:spPr>
      </p:sp>
      <p:sp>
        <p:nvSpPr>
          <p:cNvPr id="16" name="Text 14"/>
          <p:cNvSpPr txBox="1"/>
          <p:nvPr/>
        </p:nvSpPr>
        <p:spPr>
          <a:xfrm>
            <a:off x="1115568" y="5321808"/>
            <a:ext cx="3602736" cy="320040"/>
          </a:xfrm>
          <a:prstGeom prst="rect">
            <a:avLst/>
          </a:prstGeom>
          <a:noFill/>
          <a:ln/>
        </p:spPr>
        <p:txBody>
          <a:bodyPr wrap="square" lIns="0" tIns="0" rIns="0" bIns="0" rtlCol="0" anchor="t">
            <a:normAutofit/>
          </a:bodyPr>
          <a:lstStyle/>
          <a:p>
            <a:pPr algn="l" indent="0" marL="0">
              <a:buNone/>
            </a:pPr>
            <a:r>
              <a:rPr lang="en-US" sz="1230" dirty="0">
                <a:solidFill>
                  <a:srgbClr val="1A2740"/>
                </a:solidFill>
                <a:latin typeface="Inter" pitchFamily="34" charset="0"/>
                <a:ea typeface="Inter" pitchFamily="34" charset="-122"/>
                <a:cs typeface="Inter" pitchFamily="34" charset="-120"/>
              </a:rPr>
              <a:t>Target: CPUTime in milliseconds</a:t>
            </a:r>
            <a:endParaRPr lang="en-US" sz="1230" dirty="0"/>
          </a:p>
        </p:txBody>
      </p:sp>
      <p:sp>
        <p:nvSpPr>
          <p:cNvPr id="17" name="Text 15"/>
          <p:cNvSpPr txBox="1"/>
          <p:nvPr/>
        </p:nvSpPr>
        <p:spPr>
          <a:xfrm>
            <a:off x="5650992" y="1691640"/>
            <a:ext cx="5715000" cy="228600"/>
          </a:xfrm>
          <a:prstGeom prst="rect">
            <a:avLst/>
          </a:prstGeom>
          <a:noFill/>
          <a:ln/>
        </p:spPr>
        <p:txBody>
          <a:bodyPr wrap="square" lIns="0" tIns="0" rIns="0" bIns="0" rtlCol="0" anchor="ctr">
            <a:normAutofit/>
          </a:bodyPr>
          <a:lstStyle/>
          <a:p>
            <a:pPr algn="l" indent="0" marL="0">
              <a:buNone/>
            </a:pPr>
            <a:r>
              <a:rPr lang="en-US" sz="1000" b="1" spc="100" kern="0" dirty="0">
                <a:solidFill>
                  <a:srgbClr val="65738A"/>
                </a:solidFill>
                <a:latin typeface="Inter" pitchFamily="34" charset="0"/>
                <a:ea typeface="Inter" pitchFamily="34" charset="-122"/>
                <a:cs typeface="Inter" pitchFamily="34" charset="-120"/>
              </a:rPr>
              <a:t>FROM COMMIT TO PREDICTION</a:t>
            </a:r>
            <a:endParaRPr lang="en-US" sz="1000" dirty="0"/>
          </a:p>
        </p:txBody>
      </p:sp>
      <p:sp>
        <p:nvSpPr>
          <p:cNvPr id="18" name="Shape 16"/>
          <p:cNvSpPr/>
          <p:nvPr/>
        </p:nvSpPr>
        <p:spPr>
          <a:xfrm>
            <a:off x="5632704" y="2066544"/>
            <a:ext cx="1572768" cy="1024128"/>
          </a:xfrm>
          <a:prstGeom prst="roundRect">
            <a:avLst>
              <a:gd name="adj" fmla="val 13393"/>
            </a:avLst>
          </a:prstGeom>
          <a:solidFill>
            <a:srgbClr val="FFFFFF"/>
          </a:solidFill>
          <a:ln w="10160">
            <a:solidFill>
              <a:srgbClr val="E0E7F0"/>
            </a:solidFill>
            <a:prstDash val="solid"/>
          </a:ln>
        </p:spPr>
      </p:sp>
      <p:sp>
        <p:nvSpPr>
          <p:cNvPr id="19" name="Text 17"/>
          <p:cNvSpPr txBox="1"/>
          <p:nvPr/>
        </p:nvSpPr>
        <p:spPr>
          <a:xfrm>
            <a:off x="5779008" y="2258568"/>
            <a:ext cx="1280160" cy="256032"/>
          </a:xfrm>
          <a:prstGeom prst="rect">
            <a:avLst/>
          </a:prstGeom>
          <a:noFill/>
          <a:ln/>
        </p:spPr>
        <p:txBody>
          <a:bodyPr wrap="square" lIns="0" tIns="0" rIns="0" bIns="0" rtlCol="0" anchor="ctr">
            <a:normAutofit/>
          </a:bodyPr>
          <a:lstStyle/>
          <a:p>
            <a:pPr algn="ctr" indent="0" marL="0">
              <a:buNone/>
            </a:pPr>
            <a:r>
              <a:rPr lang="en-US" sz="1300" b="1" dirty="0">
                <a:solidFill>
                  <a:srgbClr val="101A32"/>
                </a:solidFill>
                <a:latin typeface="Inter" pitchFamily="34" charset="0"/>
                <a:ea typeface="Inter" pitchFamily="34" charset="-122"/>
                <a:cs typeface="Inter" pitchFamily="34" charset="-120"/>
              </a:rPr>
              <a:t>Changed files</a:t>
            </a:r>
            <a:endParaRPr lang="en-US" sz="1300" dirty="0"/>
          </a:p>
        </p:txBody>
      </p:sp>
      <p:sp>
        <p:nvSpPr>
          <p:cNvPr id="20" name="Text 18"/>
          <p:cNvSpPr txBox="1"/>
          <p:nvPr/>
        </p:nvSpPr>
        <p:spPr>
          <a:xfrm>
            <a:off x="5806440" y="2578608"/>
            <a:ext cx="1234440" cy="347472"/>
          </a:xfrm>
          <a:prstGeom prst="rect">
            <a:avLst/>
          </a:prstGeom>
          <a:noFill/>
          <a:ln/>
        </p:spPr>
        <p:txBody>
          <a:bodyPr wrap="square" lIns="0" tIns="0" rIns="0" bIns="0" rtlCol="0" anchor="ctr">
            <a:normAutofit/>
          </a:bodyPr>
          <a:lstStyle/>
          <a:p>
            <a:pPr algn="ctr" indent="0" marL="0">
              <a:buNone/>
            </a:pPr>
            <a:r>
              <a:rPr lang="en-US" sz="1030" dirty="0">
                <a:solidFill>
                  <a:srgbClr val="65738A"/>
                </a:solidFill>
                <a:latin typeface="Inter" pitchFamily="34" charset="0"/>
                <a:ea typeface="Inter" pitchFamily="34" charset="-122"/>
                <a:cs typeface="Inter" pitchFamily="34" charset="-120"/>
              </a:rPr>
              <a:t>Foo.java</a:t>
            </a:r>
            <a:endParaRPr lang="en-US" sz="1030" dirty="0"/>
          </a:p>
          <a:p>
            <a:pPr algn="ctr" indent="0" marL="0">
              <a:buNone/>
            </a:pPr>
            <a:r>
              <a:rPr lang="en-US" sz="1030" dirty="0">
                <a:solidFill>
                  <a:srgbClr val="65738A"/>
                </a:solidFill>
                <a:latin typeface="Inter" pitchFamily="34" charset="0"/>
                <a:ea typeface="Inter" pitchFamily="34" charset="-122"/>
                <a:cs typeface="Inter" pitchFamily="34" charset="-120"/>
              </a:rPr>
              <a:t>Bar.java</a:t>
            </a:r>
            <a:endParaRPr lang="en-US" sz="1030" dirty="0"/>
          </a:p>
        </p:txBody>
      </p:sp>
      <p:sp>
        <p:nvSpPr>
          <p:cNvPr id="21" name="Shape 19"/>
          <p:cNvSpPr/>
          <p:nvPr/>
        </p:nvSpPr>
        <p:spPr>
          <a:xfrm>
            <a:off x="7223760" y="2578608"/>
            <a:ext cx="429768" cy="0"/>
          </a:xfrm>
          <a:prstGeom prst="line">
            <a:avLst/>
          </a:prstGeom>
          <a:noFill/>
          <a:ln w="20320">
            <a:solidFill>
              <a:srgbClr val="17AEB0"/>
            </a:solidFill>
            <a:prstDash val="solid"/>
            <a:headEnd type="none"/>
            <a:tailEnd type="none"/>
          </a:ln>
        </p:spPr>
      </p:sp>
      <p:sp>
        <p:nvSpPr>
          <p:cNvPr id="22" name="Shape 20"/>
          <p:cNvSpPr/>
          <p:nvPr/>
        </p:nvSpPr>
        <p:spPr>
          <a:xfrm>
            <a:off x="7498080" y="2459736"/>
            <a:ext cx="210312" cy="237744"/>
          </a:xfrm>
          <a:prstGeom prst="chevron">
            <a:avLst/>
          </a:prstGeom>
          <a:solidFill>
            <a:srgbClr val="17AEB0"/>
          </a:solidFill>
          <a:ln w="1270">
            <a:solidFill>
              <a:srgbClr val="17AEB0"/>
            </a:solidFill>
            <a:prstDash val="solid"/>
          </a:ln>
        </p:spPr>
      </p:sp>
      <p:sp>
        <p:nvSpPr>
          <p:cNvPr id="23" name="Shape 21"/>
          <p:cNvSpPr/>
          <p:nvPr/>
        </p:nvSpPr>
        <p:spPr>
          <a:xfrm>
            <a:off x="7708392" y="2066544"/>
            <a:ext cx="1901952" cy="1024128"/>
          </a:xfrm>
          <a:prstGeom prst="roundRect">
            <a:avLst>
              <a:gd name="adj" fmla="val 13393"/>
            </a:avLst>
          </a:prstGeom>
          <a:solidFill>
            <a:srgbClr val="E3F7F6"/>
          </a:solidFill>
          <a:ln w="10160">
            <a:solidFill>
              <a:srgbClr val="BCE8E4"/>
            </a:solidFill>
            <a:prstDash val="solid"/>
          </a:ln>
        </p:spPr>
      </p:sp>
      <p:sp>
        <p:nvSpPr>
          <p:cNvPr id="24" name="Text 22"/>
          <p:cNvSpPr txBox="1"/>
          <p:nvPr/>
        </p:nvSpPr>
        <p:spPr>
          <a:xfrm>
            <a:off x="7872984" y="2221992"/>
            <a:ext cx="1572768" cy="219456"/>
          </a:xfrm>
          <a:prstGeom prst="rect">
            <a:avLst/>
          </a:prstGeom>
          <a:noFill/>
          <a:ln/>
        </p:spPr>
        <p:txBody>
          <a:bodyPr wrap="square" lIns="0" tIns="0" rIns="0" bIns="0" rtlCol="0" anchor="ctr">
            <a:normAutofit/>
          </a:bodyPr>
          <a:lstStyle/>
          <a:p>
            <a:pPr algn="ctr" indent="0" marL="0">
              <a:buNone/>
            </a:pPr>
            <a:r>
              <a:rPr lang="en-US" sz="1230" b="1" dirty="0">
                <a:solidFill>
                  <a:srgbClr val="101A32"/>
                </a:solidFill>
                <a:latin typeface="Inter" pitchFamily="34" charset="0"/>
                <a:ea typeface="Inter" pitchFamily="34" charset="-122"/>
                <a:cs typeface="Inter" pitchFamily="34" charset="-120"/>
              </a:rPr>
              <a:t>Extract features</a:t>
            </a:r>
            <a:endParaRPr lang="en-US" sz="1230" dirty="0"/>
          </a:p>
        </p:txBody>
      </p:sp>
      <p:sp>
        <p:nvSpPr>
          <p:cNvPr id="25" name="Shape 23"/>
          <p:cNvSpPr/>
          <p:nvPr/>
        </p:nvSpPr>
        <p:spPr>
          <a:xfrm>
            <a:off x="7882128" y="2560320"/>
            <a:ext cx="768096" cy="274320"/>
          </a:xfrm>
          <a:prstGeom prst="roundRect">
            <a:avLst>
              <a:gd name="adj" fmla="val 40000"/>
            </a:avLst>
          </a:prstGeom>
          <a:solidFill>
            <a:srgbClr val="FFFFFF"/>
          </a:solidFill>
          <a:ln w="1270">
            <a:solidFill>
              <a:srgbClr val="FFFFFF">
                <a:alpha val="0"/>
              </a:srgbClr>
            </a:solidFill>
            <a:prstDash val="solid"/>
          </a:ln>
        </p:spPr>
      </p:sp>
      <p:sp>
        <p:nvSpPr>
          <p:cNvPr id="26" name="Text 24"/>
          <p:cNvSpPr txBox="1"/>
          <p:nvPr/>
        </p:nvSpPr>
        <p:spPr>
          <a:xfrm>
            <a:off x="7955280" y="2574036"/>
            <a:ext cx="621792" cy="246888"/>
          </a:xfrm>
          <a:prstGeom prst="rect">
            <a:avLst/>
          </a:prstGeom>
          <a:noFill/>
          <a:ln/>
        </p:spPr>
        <p:txBody>
          <a:bodyPr wrap="square" lIns="0" tIns="0" rIns="0" bIns="0" rtlCol="0" anchor="ctr">
            <a:normAutofit/>
          </a:bodyPr>
          <a:lstStyle/>
          <a:p>
            <a:pPr algn="ctr" indent="0" marL="0">
              <a:buNone/>
            </a:pPr>
            <a:r>
              <a:rPr lang="en-US" sz="850" b="1" dirty="0">
                <a:solidFill>
                  <a:srgbClr val="17AEB0"/>
                </a:solidFill>
                <a:latin typeface="Inter" pitchFamily="34" charset="0"/>
                <a:ea typeface="Inter" pitchFamily="34" charset="-122"/>
                <a:cs typeface="Inter" pitchFamily="34" charset="-120"/>
              </a:rPr>
              <a:t>src/main</a:t>
            </a:r>
            <a:endParaRPr lang="en-US" sz="850" dirty="0"/>
          </a:p>
        </p:txBody>
      </p:sp>
      <p:sp>
        <p:nvSpPr>
          <p:cNvPr id="27" name="Shape 25"/>
          <p:cNvSpPr/>
          <p:nvPr/>
        </p:nvSpPr>
        <p:spPr>
          <a:xfrm>
            <a:off x="8705088" y="2560320"/>
            <a:ext cx="676656" cy="274320"/>
          </a:xfrm>
          <a:prstGeom prst="roundRect">
            <a:avLst>
              <a:gd name="adj" fmla="val 40000"/>
            </a:avLst>
          </a:prstGeom>
          <a:solidFill>
            <a:srgbClr val="FFFFFF"/>
          </a:solidFill>
          <a:ln w="1270">
            <a:solidFill>
              <a:srgbClr val="FFFFFF">
                <a:alpha val="0"/>
              </a:srgbClr>
            </a:solidFill>
            <a:prstDash val="solid"/>
          </a:ln>
        </p:spPr>
      </p:sp>
      <p:sp>
        <p:nvSpPr>
          <p:cNvPr id="28" name="Text 26"/>
          <p:cNvSpPr txBox="1"/>
          <p:nvPr/>
        </p:nvSpPr>
        <p:spPr>
          <a:xfrm>
            <a:off x="8778240" y="2574036"/>
            <a:ext cx="530352" cy="246888"/>
          </a:xfrm>
          <a:prstGeom prst="rect">
            <a:avLst/>
          </a:prstGeom>
          <a:noFill/>
          <a:ln/>
        </p:spPr>
        <p:txBody>
          <a:bodyPr wrap="square" lIns="0" tIns="0" rIns="0" bIns="0" rtlCol="0" anchor="ctr">
            <a:normAutofit/>
          </a:bodyPr>
          <a:lstStyle/>
          <a:p>
            <a:pPr algn="ctr" indent="0" marL="0">
              <a:buNone/>
            </a:pPr>
            <a:r>
              <a:rPr lang="en-US" sz="850" b="1" dirty="0">
                <a:solidFill>
                  <a:srgbClr val="5478D4"/>
                </a:solidFill>
                <a:latin typeface="Inter" pitchFamily="34" charset="0"/>
                <a:ea typeface="Inter" pitchFamily="34" charset="-122"/>
                <a:cs typeface="Inter" pitchFamily="34" charset="-120"/>
              </a:rPr>
              <a:t>JAVA</a:t>
            </a:r>
            <a:endParaRPr lang="en-US" sz="850" dirty="0"/>
          </a:p>
        </p:txBody>
      </p:sp>
      <p:sp>
        <p:nvSpPr>
          <p:cNvPr id="29" name="Shape 27"/>
          <p:cNvSpPr/>
          <p:nvPr/>
        </p:nvSpPr>
        <p:spPr>
          <a:xfrm>
            <a:off x="9637776" y="2578608"/>
            <a:ext cx="420624" cy="0"/>
          </a:xfrm>
          <a:prstGeom prst="line">
            <a:avLst/>
          </a:prstGeom>
          <a:noFill/>
          <a:ln w="20320">
            <a:solidFill>
              <a:srgbClr val="17AEB0"/>
            </a:solidFill>
            <a:prstDash val="solid"/>
            <a:headEnd type="none"/>
            <a:tailEnd type="none"/>
          </a:ln>
        </p:spPr>
      </p:sp>
      <p:sp>
        <p:nvSpPr>
          <p:cNvPr id="30" name="Shape 28"/>
          <p:cNvSpPr/>
          <p:nvPr/>
        </p:nvSpPr>
        <p:spPr>
          <a:xfrm>
            <a:off x="9893808" y="2459736"/>
            <a:ext cx="210312" cy="237744"/>
          </a:xfrm>
          <a:prstGeom prst="chevron">
            <a:avLst/>
          </a:prstGeom>
          <a:solidFill>
            <a:srgbClr val="17AEB0"/>
          </a:solidFill>
          <a:ln w="1270">
            <a:solidFill>
              <a:srgbClr val="17AEB0"/>
            </a:solidFill>
            <a:prstDash val="solid"/>
          </a:ln>
        </p:spPr>
      </p:sp>
      <p:sp>
        <p:nvSpPr>
          <p:cNvPr id="31" name="Shape 29"/>
          <p:cNvSpPr/>
          <p:nvPr/>
        </p:nvSpPr>
        <p:spPr>
          <a:xfrm>
            <a:off x="10104120" y="2066544"/>
            <a:ext cx="1417320" cy="1024128"/>
          </a:xfrm>
          <a:prstGeom prst="roundRect">
            <a:avLst>
              <a:gd name="adj" fmla="val 13393"/>
            </a:avLst>
          </a:prstGeom>
          <a:solidFill>
            <a:srgbClr val="101A32"/>
          </a:solidFill>
          <a:ln w="10160">
            <a:solidFill>
              <a:srgbClr val="101A32"/>
            </a:solidFill>
            <a:prstDash val="solid"/>
          </a:ln>
        </p:spPr>
      </p:sp>
      <p:sp>
        <p:nvSpPr>
          <p:cNvPr id="32" name="Text 30"/>
          <p:cNvSpPr txBox="1"/>
          <p:nvPr/>
        </p:nvSpPr>
        <p:spPr>
          <a:xfrm>
            <a:off x="10222992" y="2276856"/>
            <a:ext cx="1179576" cy="21945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Inter" pitchFamily="34" charset="0"/>
                <a:ea typeface="Inter" pitchFamily="34" charset="-122"/>
                <a:cs typeface="Inter" pitchFamily="34" charset="-120"/>
              </a:rPr>
              <a:t>ML model</a:t>
            </a:r>
            <a:endParaRPr lang="en-US" sz="1200" dirty="0"/>
          </a:p>
        </p:txBody>
      </p:sp>
      <p:sp>
        <p:nvSpPr>
          <p:cNvPr id="33" name="Text 31"/>
          <p:cNvSpPr txBox="1"/>
          <p:nvPr/>
        </p:nvSpPr>
        <p:spPr>
          <a:xfrm>
            <a:off x="10222992" y="2596896"/>
            <a:ext cx="1179576" cy="201168"/>
          </a:xfrm>
          <a:prstGeom prst="rect">
            <a:avLst/>
          </a:prstGeom>
          <a:noFill/>
          <a:ln/>
        </p:spPr>
        <p:txBody>
          <a:bodyPr wrap="square" lIns="0" tIns="0" rIns="0" bIns="0" rtlCol="0" anchor="ctr">
            <a:normAutofit/>
          </a:bodyPr>
          <a:lstStyle/>
          <a:p>
            <a:pPr algn="ctr" indent="0" marL="0">
              <a:buNone/>
            </a:pPr>
            <a:r>
              <a:rPr lang="en-US" sz="1020" dirty="0">
                <a:solidFill>
                  <a:srgbClr val="BFCDE2"/>
                </a:solidFill>
                <a:latin typeface="Inter" pitchFamily="34" charset="0"/>
                <a:ea typeface="Inter" pitchFamily="34" charset="-122"/>
                <a:cs typeface="Inter" pitchFamily="34" charset="-120"/>
              </a:rPr>
              <a:t>Regression</a:t>
            </a:r>
            <a:endParaRPr lang="en-US" sz="1020" dirty="0"/>
          </a:p>
        </p:txBody>
      </p:sp>
      <p:sp>
        <p:nvSpPr>
          <p:cNvPr id="34" name="Shape 32"/>
          <p:cNvSpPr/>
          <p:nvPr/>
        </p:nvSpPr>
        <p:spPr>
          <a:xfrm>
            <a:off x="10808208" y="3090672"/>
            <a:ext cx="0" cy="475488"/>
          </a:xfrm>
          <a:prstGeom prst="line">
            <a:avLst/>
          </a:prstGeom>
          <a:noFill/>
          <a:ln w="20320">
            <a:solidFill>
              <a:srgbClr val="F2A541"/>
            </a:solidFill>
            <a:prstDash val="solid"/>
            <a:headEnd type="none"/>
            <a:tailEnd type="none"/>
          </a:ln>
        </p:spPr>
      </p:sp>
      <p:sp>
        <p:nvSpPr>
          <p:cNvPr id="35" name="Shape 33"/>
          <p:cNvSpPr/>
          <p:nvPr/>
        </p:nvSpPr>
        <p:spPr>
          <a:xfrm rot="5400000">
            <a:off x="10689336" y="3410712"/>
            <a:ext cx="228600" cy="219456"/>
          </a:xfrm>
          <a:prstGeom prst="chevron">
            <a:avLst/>
          </a:prstGeom>
          <a:solidFill>
            <a:srgbClr val="F2A541"/>
          </a:solidFill>
          <a:ln w="1270">
            <a:solidFill>
              <a:srgbClr val="F2A541"/>
            </a:solidFill>
            <a:prstDash val="solid"/>
          </a:ln>
        </p:spPr>
      </p:sp>
      <p:sp>
        <p:nvSpPr>
          <p:cNvPr id="36" name="Shape 34"/>
          <p:cNvSpPr/>
          <p:nvPr/>
        </p:nvSpPr>
        <p:spPr>
          <a:xfrm>
            <a:off x="7616952" y="3675888"/>
            <a:ext cx="3904488" cy="1161288"/>
          </a:xfrm>
          <a:prstGeom prst="roundRect">
            <a:avLst>
              <a:gd name="adj" fmla="val 14173"/>
            </a:avLst>
          </a:prstGeom>
          <a:solidFill>
            <a:srgbClr val="FFF2DE"/>
          </a:solidFill>
          <a:ln w="10160">
            <a:solidFill>
              <a:srgbClr val="F4D7AA"/>
            </a:solidFill>
            <a:prstDash val="solid"/>
          </a:ln>
        </p:spPr>
      </p:sp>
      <p:sp>
        <p:nvSpPr>
          <p:cNvPr id="37" name="Shape 35"/>
          <p:cNvSpPr/>
          <p:nvPr/>
        </p:nvSpPr>
        <p:spPr>
          <a:xfrm>
            <a:off x="7973568" y="4041648"/>
            <a:ext cx="365760" cy="365760"/>
          </a:xfrm>
          <a:prstGeom prst="ellipse">
            <a:avLst/>
          </a:prstGeom>
          <a:solidFill>
            <a:srgbClr val="F2A541"/>
          </a:solidFill>
          <a:ln w="10160">
            <a:solidFill>
              <a:srgbClr val="F2A541"/>
            </a:solidFill>
            <a:prstDash val="solid"/>
          </a:ln>
        </p:spPr>
      </p:sp>
      <p:sp>
        <p:nvSpPr>
          <p:cNvPr id="38" name="Text 36"/>
          <p:cNvSpPr txBox="1"/>
          <p:nvPr/>
        </p:nvSpPr>
        <p:spPr>
          <a:xfrm>
            <a:off x="8485632" y="3867912"/>
            <a:ext cx="2606040" cy="265176"/>
          </a:xfrm>
          <a:prstGeom prst="rect">
            <a:avLst/>
          </a:prstGeom>
          <a:noFill/>
          <a:ln/>
        </p:spPr>
        <p:txBody>
          <a:bodyPr wrap="square" lIns="0" tIns="0" rIns="0" bIns="0" rtlCol="0" anchor="ctr">
            <a:normAutofit/>
          </a:bodyPr>
          <a:lstStyle/>
          <a:p>
            <a:pPr algn="l" indent="0" marL="0">
              <a:buNone/>
            </a:pPr>
            <a:r>
              <a:rPr lang="en-US" sz="1800" b="1" dirty="0">
                <a:solidFill>
                  <a:srgbClr val="101A32"/>
                </a:solidFill>
                <a:latin typeface="Inter" pitchFamily="34" charset="0"/>
                <a:ea typeface="Inter" pitchFamily="34" charset="-122"/>
                <a:cs typeface="Inter" pitchFamily="34" charset="-120"/>
              </a:rPr>
              <a:t>CPUTime</a:t>
            </a:r>
            <a:endParaRPr lang="en-US" sz="1800" dirty="0"/>
          </a:p>
        </p:txBody>
      </p:sp>
      <p:sp>
        <p:nvSpPr>
          <p:cNvPr id="39" name="Text 37"/>
          <p:cNvSpPr txBox="1"/>
          <p:nvPr/>
        </p:nvSpPr>
        <p:spPr>
          <a:xfrm>
            <a:off x="8494776" y="4215384"/>
            <a:ext cx="2651760" cy="256032"/>
          </a:xfrm>
          <a:prstGeom prst="rect">
            <a:avLst/>
          </a:prstGeom>
          <a:noFill/>
          <a:ln/>
        </p:spPr>
        <p:txBody>
          <a:bodyPr wrap="square" lIns="0" tIns="0" rIns="0" bIns="0" rtlCol="0" anchor="ctr">
            <a:normAutofit/>
          </a:bodyPr>
          <a:lstStyle/>
          <a:p>
            <a:pPr algn="l" indent="0" marL="0">
              <a:buNone/>
            </a:pPr>
            <a:r>
              <a:rPr lang="en-US" sz="1140" dirty="0">
                <a:solidFill>
                  <a:srgbClr val="65738A"/>
                </a:solidFill>
                <a:latin typeface="Inter" pitchFamily="34" charset="0"/>
                <a:ea typeface="Inter" pitchFamily="34" charset="-122"/>
                <a:cs typeface="Inter" pitchFamily="34" charset="-120"/>
              </a:rPr>
              <a:t>Predicted CPU time (milliseconds)</a:t>
            </a:r>
            <a:endParaRPr lang="en-US" sz="1140" dirty="0"/>
          </a:p>
        </p:txBody>
      </p:sp>
      <p:sp>
        <p:nvSpPr>
          <p:cNvPr id="40" name="Shape 38"/>
          <p:cNvSpPr/>
          <p:nvPr/>
        </p:nvSpPr>
        <p:spPr>
          <a:xfrm>
            <a:off x="5650992" y="5157216"/>
            <a:ext cx="5870448" cy="694944"/>
          </a:xfrm>
          <a:prstGeom prst="roundRect">
            <a:avLst>
              <a:gd name="adj" fmla="val 18421"/>
            </a:avLst>
          </a:prstGeom>
          <a:solidFill>
            <a:srgbClr val="101A32"/>
          </a:solidFill>
          <a:ln w="10160">
            <a:solidFill>
              <a:srgbClr val="101A32"/>
            </a:solidFill>
            <a:prstDash val="solid"/>
          </a:ln>
        </p:spPr>
      </p:sp>
      <p:sp>
        <p:nvSpPr>
          <p:cNvPr id="41" name="Text 39"/>
          <p:cNvSpPr txBox="1"/>
          <p:nvPr/>
        </p:nvSpPr>
        <p:spPr>
          <a:xfrm>
            <a:off x="5897880" y="5367528"/>
            <a:ext cx="1691640" cy="219456"/>
          </a:xfrm>
          <a:prstGeom prst="rect">
            <a:avLst/>
          </a:prstGeom>
          <a:noFill/>
          <a:ln/>
        </p:spPr>
        <p:txBody>
          <a:bodyPr wrap="square" lIns="0" tIns="0" rIns="0" bIns="0" rtlCol="0" anchor="ctr">
            <a:normAutofit/>
          </a:bodyPr>
          <a:lstStyle/>
          <a:p>
            <a:pPr algn="l" indent="0" marL="0">
              <a:buNone/>
            </a:pPr>
            <a:r>
              <a:rPr lang="en-US" sz="1000" b="1" spc="60" kern="0" dirty="0">
                <a:solidFill>
                  <a:srgbClr val="AEBED6"/>
                </a:solidFill>
                <a:latin typeface="Inter" pitchFamily="34" charset="0"/>
                <a:ea typeface="Inter" pitchFamily="34" charset="-122"/>
                <a:cs typeface="Inter" pitchFamily="34" charset="-120"/>
              </a:rPr>
              <a:t>REGRESSION TASK</a:t>
            </a:r>
            <a:endParaRPr lang="en-US" sz="1000" dirty="0"/>
          </a:p>
        </p:txBody>
      </p:sp>
      <p:sp>
        <p:nvSpPr>
          <p:cNvPr id="42" name="Text 40"/>
          <p:cNvSpPr txBox="1"/>
          <p:nvPr/>
        </p:nvSpPr>
        <p:spPr>
          <a:xfrm>
            <a:off x="7699248" y="5340096"/>
            <a:ext cx="3456432" cy="256032"/>
          </a:xfrm>
          <a:prstGeom prst="rect">
            <a:avLst/>
          </a:prstGeom>
          <a:noFill/>
          <a:ln/>
        </p:spPr>
        <p:txBody>
          <a:bodyPr wrap="square" lIns="0" tIns="0" rIns="0" bIns="0" rtlCol="0" anchor="ctr">
            <a:normAutofit/>
          </a:bodyPr>
          <a:lstStyle/>
          <a:p>
            <a:pPr algn="r" indent="0" marL="0">
              <a:buNone/>
            </a:pPr>
            <a:r>
              <a:rPr lang="en-US" sz="1300" b="1" dirty="0">
                <a:solidFill>
                  <a:srgbClr val="FFFFFF"/>
                </a:solidFill>
                <a:latin typeface="Inter" pitchFamily="34" charset="0"/>
                <a:ea typeface="Inter" pitchFamily="34" charset="-122"/>
                <a:cs typeface="Inter" pitchFamily="34" charset="-120"/>
              </a:rPr>
              <a:t>Evaluate with RMSE  •  Lower is better</a:t>
            </a:r>
            <a:endParaRPr lang="en-US" sz="1300" dirty="0"/>
          </a:p>
        </p:txBody>
      </p:sp>
      <p:sp>
        <p:nvSpPr>
          <p:cNvPr id="43" name="Shape 41"/>
          <p:cNvSpPr/>
          <p:nvPr/>
        </p:nvSpPr>
        <p:spPr>
          <a:xfrm>
            <a:off x="594360" y="6473952"/>
            <a:ext cx="11000232" cy="0"/>
          </a:xfrm>
          <a:prstGeom prst="line">
            <a:avLst/>
          </a:prstGeom>
          <a:noFill/>
          <a:ln w="10160">
            <a:solidFill>
              <a:srgbClr val="E0E7F0"/>
            </a:solidFill>
            <a:prstDash val="solid"/>
            <a:headEnd type="none"/>
            <a:tailEnd type="none"/>
          </a:ln>
        </p:spPr>
      </p:sp>
      <p:sp>
        <p:nvSpPr>
          <p:cNvPr id="44" name="Text 42"/>
          <p:cNvSpPr txBox="1"/>
          <p:nvPr/>
        </p:nvSpPr>
        <p:spPr>
          <a:xfrm>
            <a:off x="612648" y="6537960"/>
            <a:ext cx="6583680" cy="164592"/>
          </a:xfrm>
          <a:prstGeom prst="rect">
            <a:avLst/>
          </a:prstGeom>
          <a:noFill/>
          <a:ln/>
        </p:spPr>
        <p:txBody>
          <a:bodyPr wrap="square" lIns="0" tIns="0" rIns="0" bIns="0" rtlCol="0" anchor="ctr">
            <a:normAutofit/>
          </a:bodyPr>
          <a:lstStyle/>
          <a:p>
            <a:pPr algn="l" indent="0" marL="0">
              <a:buNone/>
            </a:pPr>
            <a:r>
              <a:rPr lang="en-US" sz="780" b="1" spc="50" kern="0" dirty="0">
                <a:solidFill>
                  <a:srgbClr val="65738A"/>
                </a:solidFill>
                <a:latin typeface="Inter" pitchFamily="34" charset="0"/>
                <a:ea typeface="Inter" pitchFamily="34" charset="-122"/>
                <a:cs typeface="Inter" pitchFamily="34" charset="-120"/>
              </a:rPr>
              <a:t>PREDICTING BAZEL BUILD TIMES  •  MINI PROJECT</a:t>
            </a:r>
            <a:endParaRPr lang="en-US" sz="780" dirty="0"/>
          </a:p>
        </p:txBody>
      </p:sp>
      <p:sp>
        <p:nvSpPr>
          <p:cNvPr id="45" name="Text 43"/>
          <p:cNvSpPr txBox="1"/>
          <p:nvPr/>
        </p:nvSpPr>
        <p:spPr>
          <a:xfrm>
            <a:off x="11018520" y="6528816"/>
            <a:ext cx="502920" cy="164592"/>
          </a:xfrm>
          <a:prstGeom prst="rect">
            <a:avLst/>
          </a:prstGeom>
          <a:noFill/>
          <a:ln/>
        </p:spPr>
        <p:txBody>
          <a:bodyPr wrap="square" lIns="0" tIns="0" rIns="0" bIns="0" rtlCol="0" anchor="ctr">
            <a:normAutofit/>
          </a:bodyPr>
          <a:lstStyle/>
          <a:p>
            <a:pPr algn="r" indent="0" marL="0">
              <a:buNone/>
            </a:pPr>
            <a:r>
              <a:rPr lang="en-US" sz="860" b="1" dirty="0">
                <a:solidFill>
                  <a:srgbClr val="65738A"/>
                </a:solidFill>
                <a:latin typeface="Inter" pitchFamily="34" charset="0"/>
                <a:ea typeface="Inter" pitchFamily="34" charset="-122"/>
                <a:cs typeface="Inter" pitchFamily="34" charset="-120"/>
              </a:rPr>
              <a:t>02</a:t>
            </a:r>
            <a:endParaRPr lang="en-US" sz="8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603504" y="256032"/>
            <a:ext cx="6858000" cy="201168"/>
          </a:xfrm>
          <a:prstGeom prst="rect">
            <a:avLst/>
          </a:prstGeom>
          <a:noFill/>
          <a:ln/>
        </p:spPr>
        <p:txBody>
          <a:bodyPr wrap="square" lIns="0" tIns="0" rIns="0" bIns="0" rtlCol="0" anchor="ctr">
            <a:normAutofit/>
          </a:bodyPr>
          <a:lstStyle/>
          <a:p>
            <a:pPr algn="l" indent="0" marL="0">
              <a:buNone/>
            </a:pPr>
            <a:r>
              <a:rPr lang="en-US" sz="920" b="1" spc="125" kern="0" dirty="0">
                <a:solidFill>
                  <a:srgbClr val="17AEB0"/>
                </a:solidFill>
                <a:latin typeface="Inter" pitchFamily="34" charset="0"/>
                <a:ea typeface="Inter" pitchFamily="34" charset="-122"/>
                <a:cs typeface="Inter" pitchFamily="34" charset="-120"/>
              </a:rPr>
              <a:t>02  /  DATASET</a:t>
            </a:r>
            <a:endParaRPr lang="en-US" sz="920" dirty="0"/>
          </a:p>
        </p:txBody>
      </p:sp>
      <p:sp>
        <p:nvSpPr>
          <p:cNvPr id="3" name="Text 1"/>
          <p:cNvSpPr txBox="1"/>
          <p:nvPr/>
        </p:nvSpPr>
        <p:spPr>
          <a:xfrm>
            <a:off x="594360" y="512064"/>
            <a:ext cx="11018520" cy="457200"/>
          </a:xfrm>
          <a:prstGeom prst="rect">
            <a:avLst/>
          </a:prstGeom>
          <a:noFill/>
          <a:ln/>
        </p:spPr>
        <p:txBody>
          <a:bodyPr wrap="square" lIns="0" tIns="0" rIns="0" bIns="0" rtlCol="0" anchor="ctr">
            <a:normAutofit/>
          </a:bodyPr>
          <a:lstStyle/>
          <a:p>
            <a:pPr algn="l" indent="0" marL="0">
              <a:buNone/>
            </a:pPr>
            <a:r>
              <a:rPr lang="en-US" sz="2550" b="1" dirty="0">
                <a:solidFill>
                  <a:srgbClr val="101A32"/>
                </a:solidFill>
                <a:latin typeface="Inter" pitchFamily="34" charset="0"/>
                <a:ea typeface="Inter" pitchFamily="34" charset="-122"/>
                <a:cs typeface="Inter" pitchFamily="34" charset="-120"/>
              </a:rPr>
              <a:t>500 commit/build examples, two categorical inputs</a:t>
            </a:r>
            <a:endParaRPr lang="en-US" sz="2550" dirty="0"/>
          </a:p>
        </p:txBody>
      </p:sp>
      <p:sp>
        <p:nvSpPr>
          <p:cNvPr id="4" name="Text 2"/>
          <p:cNvSpPr txBox="1"/>
          <p:nvPr/>
        </p:nvSpPr>
        <p:spPr>
          <a:xfrm>
            <a:off x="612648" y="1005840"/>
            <a:ext cx="10972800" cy="292608"/>
          </a:xfrm>
          <a:prstGeom prst="rect">
            <a:avLst/>
          </a:prstGeom>
          <a:noFill/>
          <a:ln/>
        </p:spPr>
        <p:txBody>
          <a:bodyPr wrap="square" lIns="0" tIns="0" rIns="0" bIns="0" rtlCol="0" anchor="ctr">
            <a:normAutofit/>
          </a:bodyPr>
          <a:lstStyle/>
          <a:p>
            <a:pPr algn="l" indent="0" marL="0">
              <a:buNone/>
            </a:pPr>
            <a:r>
              <a:rPr lang="en-US" sz="1160" dirty="0">
                <a:solidFill>
                  <a:srgbClr val="65738A"/>
                </a:solidFill>
                <a:latin typeface="Inter" pitchFamily="34" charset="0"/>
                <a:ea typeface="Inter" pitchFamily="34" charset="-122"/>
                <a:cs typeface="Inter" pitchFamily="34" charset="-120"/>
              </a:rPr>
              <a:t>The supplied processed data comes from the open-source bazelbuild/bazel project.</a:t>
            </a:r>
            <a:endParaRPr lang="en-US" sz="1160" dirty="0"/>
          </a:p>
        </p:txBody>
      </p:sp>
      <p:sp>
        <p:nvSpPr>
          <p:cNvPr id="5" name="Shape 3"/>
          <p:cNvSpPr/>
          <p:nvPr/>
        </p:nvSpPr>
        <p:spPr>
          <a:xfrm>
            <a:off x="603504" y="1554480"/>
            <a:ext cx="2487168" cy="850392"/>
          </a:xfrm>
          <a:prstGeom prst="roundRect">
            <a:avLst>
              <a:gd name="adj" fmla="val 16129"/>
            </a:avLst>
          </a:prstGeom>
          <a:solidFill>
            <a:srgbClr val="FFFFFF"/>
          </a:solidFill>
          <a:ln w="10160">
            <a:solidFill>
              <a:srgbClr val="E0E7F0"/>
            </a:solidFill>
            <a:prstDash val="solid"/>
          </a:ln>
        </p:spPr>
      </p:sp>
      <p:sp>
        <p:nvSpPr>
          <p:cNvPr id="6" name="Shape 4"/>
          <p:cNvSpPr/>
          <p:nvPr/>
        </p:nvSpPr>
        <p:spPr>
          <a:xfrm>
            <a:off x="603504" y="1554480"/>
            <a:ext cx="73152" cy="850392"/>
          </a:xfrm>
          <a:prstGeom prst="roundRect">
            <a:avLst>
              <a:gd name="adj" fmla="val 37500"/>
            </a:avLst>
          </a:prstGeom>
          <a:solidFill>
            <a:srgbClr val="17AEB0"/>
          </a:solidFill>
          <a:ln w="1270">
            <a:solidFill>
              <a:srgbClr val="17AEB0">
                <a:alpha val="0"/>
              </a:srgbClr>
            </a:solidFill>
            <a:prstDash val="solid"/>
          </a:ln>
        </p:spPr>
      </p:sp>
      <p:sp>
        <p:nvSpPr>
          <p:cNvPr id="7" name="Text 5"/>
          <p:cNvSpPr txBox="1"/>
          <p:nvPr/>
        </p:nvSpPr>
        <p:spPr>
          <a:xfrm>
            <a:off x="804672" y="1682496"/>
            <a:ext cx="2157984" cy="310896"/>
          </a:xfrm>
          <a:prstGeom prst="rect">
            <a:avLst/>
          </a:prstGeom>
          <a:noFill/>
          <a:ln/>
        </p:spPr>
        <p:txBody>
          <a:bodyPr wrap="square" lIns="0" tIns="0" rIns="0" bIns="0" rtlCol="0" anchor="ctr">
            <a:normAutofit/>
          </a:bodyPr>
          <a:lstStyle/>
          <a:p>
            <a:pPr algn="l" indent="0" marL="0">
              <a:buNone/>
            </a:pPr>
            <a:r>
              <a:rPr lang="en-US" sz="2500" b="1" dirty="0">
                <a:solidFill>
                  <a:srgbClr val="101A32"/>
                </a:solidFill>
                <a:latin typeface="Inter" pitchFamily="34" charset="0"/>
                <a:ea typeface="Inter" pitchFamily="34" charset="-122"/>
                <a:cs typeface="Inter" pitchFamily="34" charset="-120"/>
              </a:rPr>
              <a:t>500</a:t>
            </a:r>
            <a:endParaRPr lang="en-US" sz="2500" dirty="0"/>
          </a:p>
        </p:txBody>
      </p:sp>
      <p:sp>
        <p:nvSpPr>
          <p:cNvPr id="8" name="Text 6"/>
          <p:cNvSpPr txBox="1"/>
          <p:nvPr/>
        </p:nvSpPr>
        <p:spPr>
          <a:xfrm>
            <a:off x="804672" y="2057400"/>
            <a:ext cx="2176272" cy="182880"/>
          </a:xfrm>
          <a:prstGeom prst="rect">
            <a:avLst/>
          </a:prstGeom>
          <a:noFill/>
          <a:ln/>
        </p:spPr>
        <p:txBody>
          <a:bodyPr wrap="square" lIns="0" tIns="0" rIns="0" bIns="0" rtlCol="0" anchor="ctr">
            <a:normAutofit/>
          </a:bodyPr>
          <a:lstStyle/>
          <a:p>
            <a:pPr algn="l" indent="0" marL="0">
              <a:buNone/>
            </a:pPr>
            <a:r>
              <a:rPr lang="en-US" sz="830" b="1" spc="50" kern="0" dirty="0">
                <a:solidFill>
                  <a:srgbClr val="65738A"/>
                </a:solidFill>
                <a:latin typeface="Inter" pitchFamily="34" charset="0"/>
                <a:ea typeface="Inter" pitchFamily="34" charset="-122"/>
                <a:cs typeface="Inter" pitchFamily="34" charset="-120"/>
              </a:rPr>
              <a:t>COMMIT EXAMPLES</a:t>
            </a:r>
            <a:endParaRPr lang="en-US" sz="830" dirty="0"/>
          </a:p>
        </p:txBody>
      </p:sp>
      <p:sp>
        <p:nvSpPr>
          <p:cNvPr id="9" name="Shape 7"/>
          <p:cNvSpPr/>
          <p:nvPr/>
        </p:nvSpPr>
        <p:spPr>
          <a:xfrm>
            <a:off x="3227832" y="1554480"/>
            <a:ext cx="2487168" cy="850392"/>
          </a:xfrm>
          <a:prstGeom prst="roundRect">
            <a:avLst>
              <a:gd name="adj" fmla="val 16129"/>
            </a:avLst>
          </a:prstGeom>
          <a:solidFill>
            <a:srgbClr val="FFFFFF"/>
          </a:solidFill>
          <a:ln w="10160">
            <a:solidFill>
              <a:srgbClr val="E0E7F0"/>
            </a:solidFill>
            <a:prstDash val="solid"/>
          </a:ln>
        </p:spPr>
      </p:sp>
      <p:sp>
        <p:nvSpPr>
          <p:cNvPr id="10" name="Shape 8"/>
          <p:cNvSpPr/>
          <p:nvPr/>
        </p:nvSpPr>
        <p:spPr>
          <a:xfrm>
            <a:off x="3227832" y="1554480"/>
            <a:ext cx="73152" cy="850392"/>
          </a:xfrm>
          <a:prstGeom prst="roundRect">
            <a:avLst>
              <a:gd name="adj" fmla="val 37500"/>
            </a:avLst>
          </a:prstGeom>
          <a:solidFill>
            <a:srgbClr val="5478D4"/>
          </a:solidFill>
          <a:ln w="1270">
            <a:solidFill>
              <a:srgbClr val="5478D4">
                <a:alpha val="0"/>
              </a:srgbClr>
            </a:solidFill>
            <a:prstDash val="solid"/>
          </a:ln>
        </p:spPr>
      </p:sp>
      <p:sp>
        <p:nvSpPr>
          <p:cNvPr id="11" name="Text 9"/>
          <p:cNvSpPr txBox="1"/>
          <p:nvPr/>
        </p:nvSpPr>
        <p:spPr>
          <a:xfrm>
            <a:off x="3429000" y="1682496"/>
            <a:ext cx="2157984" cy="310896"/>
          </a:xfrm>
          <a:prstGeom prst="rect">
            <a:avLst/>
          </a:prstGeom>
          <a:noFill/>
          <a:ln/>
        </p:spPr>
        <p:txBody>
          <a:bodyPr wrap="square" lIns="0" tIns="0" rIns="0" bIns="0" rtlCol="0" anchor="ctr">
            <a:normAutofit/>
          </a:bodyPr>
          <a:lstStyle/>
          <a:p>
            <a:pPr algn="l" indent="0" marL="0">
              <a:buNone/>
            </a:pPr>
            <a:r>
              <a:rPr lang="en-US" sz="1900" b="1" dirty="0">
                <a:solidFill>
                  <a:srgbClr val="101A32"/>
                </a:solidFill>
                <a:latin typeface="Inter" pitchFamily="34" charset="0"/>
                <a:ea typeface="Inter" pitchFamily="34" charset="-122"/>
                <a:cs typeface="Inter" pitchFamily="34" charset="-120"/>
              </a:rPr>
              <a:t>300 / 100 / 100</a:t>
            </a:r>
            <a:endParaRPr lang="en-US" sz="1900" dirty="0"/>
          </a:p>
        </p:txBody>
      </p:sp>
      <p:sp>
        <p:nvSpPr>
          <p:cNvPr id="12" name="Text 10"/>
          <p:cNvSpPr txBox="1"/>
          <p:nvPr/>
        </p:nvSpPr>
        <p:spPr>
          <a:xfrm>
            <a:off x="3429000" y="2057400"/>
            <a:ext cx="2176272" cy="182880"/>
          </a:xfrm>
          <a:prstGeom prst="rect">
            <a:avLst/>
          </a:prstGeom>
          <a:noFill/>
          <a:ln/>
        </p:spPr>
        <p:txBody>
          <a:bodyPr wrap="square" lIns="0" tIns="0" rIns="0" bIns="0" rtlCol="0" anchor="ctr">
            <a:normAutofit/>
          </a:bodyPr>
          <a:lstStyle/>
          <a:p>
            <a:pPr algn="l" indent="0" marL="0">
              <a:buNone/>
            </a:pPr>
            <a:r>
              <a:rPr lang="en-US" sz="830" b="1" spc="50" kern="0" dirty="0">
                <a:solidFill>
                  <a:srgbClr val="65738A"/>
                </a:solidFill>
                <a:latin typeface="Inter" pitchFamily="34" charset="0"/>
                <a:ea typeface="Inter" pitchFamily="34" charset="-122"/>
                <a:cs typeface="Inter" pitchFamily="34" charset="-120"/>
              </a:rPr>
              <a:t>TRAIN / VALIDATION / TEST</a:t>
            </a:r>
            <a:endParaRPr lang="en-US" sz="830" dirty="0"/>
          </a:p>
        </p:txBody>
      </p:sp>
      <p:sp>
        <p:nvSpPr>
          <p:cNvPr id="13" name="Shape 11"/>
          <p:cNvSpPr/>
          <p:nvPr/>
        </p:nvSpPr>
        <p:spPr>
          <a:xfrm>
            <a:off x="5852160" y="1554480"/>
            <a:ext cx="2487168" cy="850392"/>
          </a:xfrm>
          <a:prstGeom prst="roundRect">
            <a:avLst>
              <a:gd name="adj" fmla="val 16129"/>
            </a:avLst>
          </a:prstGeom>
          <a:solidFill>
            <a:srgbClr val="FFFFFF"/>
          </a:solidFill>
          <a:ln w="10160">
            <a:solidFill>
              <a:srgbClr val="E0E7F0"/>
            </a:solidFill>
            <a:prstDash val="solid"/>
          </a:ln>
        </p:spPr>
      </p:sp>
      <p:sp>
        <p:nvSpPr>
          <p:cNvPr id="14" name="Shape 12"/>
          <p:cNvSpPr/>
          <p:nvPr/>
        </p:nvSpPr>
        <p:spPr>
          <a:xfrm>
            <a:off x="5852160" y="1554480"/>
            <a:ext cx="73152" cy="850392"/>
          </a:xfrm>
          <a:prstGeom prst="roundRect">
            <a:avLst>
              <a:gd name="adj" fmla="val 37500"/>
            </a:avLst>
          </a:prstGeom>
          <a:solidFill>
            <a:srgbClr val="F2A541"/>
          </a:solidFill>
          <a:ln w="1270">
            <a:solidFill>
              <a:srgbClr val="F2A541">
                <a:alpha val="0"/>
              </a:srgbClr>
            </a:solidFill>
            <a:prstDash val="solid"/>
          </a:ln>
        </p:spPr>
      </p:sp>
      <p:sp>
        <p:nvSpPr>
          <p:cNvPr id="15" name="Text 13"/>
          <p:cNvSpPr txBox="1"/>
          <p:nvPr/>
        </p:nvSpPr>
        <p:spPr>
          <a:xfrm>
            <a:off x="6053328" y="1682496"/>
            <a:ext cx="2157984" cy="310896"/>
          </a:xfrm>
          <a:prstGeom prst="rect">
            <a:avLst/>
          </a:prstGeom>
          <a:noFill/>
          <a:ln/>
        </p:spPr>
        <p:txBody>
          <a:bodyPr wrap="square" lIns="0" tIns="0" rIns="0" bIns="0" rtlCol="0" anchor="ctr">
            <a:normAutofit/>
          </a:bodyPr>
          <a:lstStyle/>
          <a:p>
            <a:pPr algn="l" indent="0" marL="0">
              <a:buNone/>
            </a:pPr>
            <a:r>
              <a:rPr lang="en-US" sz="2500" b="1" dirty="0">
                <a:solidFill>
                  <a:srgbClr val="101A32"/>
                </a:solidFill>
                <a:latin typeface="Inter" pitchFamily="34" charset="0"/>
                <a:ea typeface="Inter" pitchFamily="34" charset="-122"/>
                <a:cs typeface="Inter" pitchFamily="34" charset="-120"/>
              </a:rPr>
              <a:t>8</a:t>
            </a:r>
            <a:endParaRPr lang="en-US" sz="2500" dirty="0"/>
          </a:p>
        </p:txBody>
      </p:sp>
      <p:sp>
        <p:nvSpPr>
          <p:cNvPr id="16" name="Text 14"/>
          <p:cNvSpPr txBox="1"/>
          <p:nvPr/>
        </p:nvSpPr>
        <p:spPr>
          <a:xfrm>
            <a:off x="6053328" y="2057400"/>
            <a:ext cx="2176272" cy="182880"/>
          </a:xfrm>
          <a:prstGeom prst="rect">
            <a:avLst/>
          </a:prstGeom>
          <a:noFill/>
          <a:ln/>
        </p:spPr>
        <p:txBody>
          <a:bodyPr wrap="square" lIns="0" tIns="0" rIns="0" bIns="0" rtlCol="0" anchor="ctr">
            <a:normAutofit/>
          </a:bodyPr>
          <a:lstStyle/>
          <a:p>
            <a:pPr algn="l" indent="0" marL="0">
              <a:buNone/>
            </a:pPr>
            <a:r>
              <a:rPr lang="en-US" sz="830" b="1" spc="50" kern="0" dirty="0">
                <a:solidFill>
                  <a:srgbClr val="65738A"/>
                </a:solidFill>
                <a:latin typeface="Inter" pitchFamily="34" charset="0"/>
                <a:ea typeface="Inter" pitchFamily="34" charset="-122"/>
                <a:cs typeface="Inter" pitchFamily="34" charset="-120"/>
              </a:rPr>
              <a:t>OBSERVED PREFIX CATEGORIES</a:t>
            </a:r>
            <a:endParaRPr lang="en-US" sz="830" dirty="0"/>
          </a:p>
        </p:txBody>
      </p:sp>
      <p:sp>
        <p:nvSpPr>
          <p:cNvPr id="17" name="Shape 15"/>
          <p:cNvSpPr/>
          <p:nvPr/>
        </p:nvSpPr>
        <p:spPr>
          <a:xfrm>
            <a:off x="8476488" y="1554480"/>
            <a:ext cx="3108960" cy="850392"/>
          </a:xfrm>
          <a:prstGeom prst="roundRect">
            <a:avLst>
              <a:gd name="adj" fmla="val 16129"/>
            </a:avLst>
          </a:prstGeom>
          <a:solidFill>
            <a:srgbClr val="FFFFFF"/>
          </a:solidFill>
          <a:ln w="10160">
            <a:solidFill>
              <a:srgbClr val="E0E7F0"/>
            </a:solidFill>
            <a:prstDash val="solid"/>
          </a:ln>
        </p:spPr>
      </p:sp>
      <p:sp>
        <p:nvSpPr>
          <p:cNvPr id="18" name="Shape 16"/>
          <p:cNvSpPr/>
          <p:nvPr/>
        </p:nvSpPr>
        <p:spPr>
          <a:xfrm>
            <a:off x="8476488" y="1554480"/>
            <a:ext cx="73152" cy="850392"/>
          </a:xfrm>
          <a:prstGeom prst="roundRect">
            <a:avLst>
              <a:gd name="adj" fmla="val 37500"/>
            </a:avLst>
          </a:prstGeom>
          <a:solidFill>
            <a:srgbClr val="17AEB0"/>
          </a:solidFill>
          <a:ln w="1270">
            <a:solidFill>
              <a:srgbClr val="17AEB0">
                <a:alpha val="0"/>
              </a:srgbClr>
            </a:solidFill>
            <a:prstDash val="solid"/>
          </a:ln>
        </p:spPr>
      </p:sp>
      <p:sp>
        <p:nvSpPr>
          <p:cNvPr id="19" name="Text 17"/>
          <p:cNvSpPr txBox="1"/>
          <p:nvPr/>
        </p:nvSpPr>
        <p:spPr>
          <a:xfrm>
            <a:off x="8677656" y="1682496"/>
            <a:ext cx="2779776" cy="310896"/>
          </a:xfrm>
          <a:prstGeom prst="rect">
            <a:avLst/>
          </a:prstGeom>
          <a:noFill/>
          <a:ln/>
        </p:spPr>
        <p:txBody>
          <a:bodyPr wrap="square" lIns="0" tIns="0" rIns="0" bIns="0" rtlCol="0" anchor="ctr">
            <a:normAutofit/>
          </a:bodyPr>
          <a:lstStyle/>
          <a:p>
            <a:pPr algn="l" indent="0" marL="0">
              <a:buNone/>
            </a:pPr>
            <a:r>
              <a:rPr lang="en-US" sz="2500" b="1" dirty="0">
                <a:solidFill>
                  <a:srgbClr val="101A32"/>
                </a:solidFill>
                <a:latin typeface="Inter" pitchFamily="34" charset="0"/>
                <a:ea typeface="Inter" pitchFamily="34" charset="-122"/>
                <a:cs typeface="Inter" pitchFamily="34" charset="-120"/>
              </a:rPr>
              <a:t>4</a:t>
            </a:r>
            <a:endParaRPr lang="en-US" sz="2500" dirty="0"/>
          </a:p>
        </p:txBody>
      </p:sp>
      <p:sp>
        <p:nvSpPr>
          <p:cNvPr id="20" name="Text 18"/>
          <p:cNvSpPr txBox="1"/>
          <p:nvPr/>
        </p:nvSpPr>
        <p:spPr>
          <a:xfrm>
            <a:off x="8677656" y="2057400"/>
            <a:ext cx="2798064" cy="182880"/>
          </a:xfrm>
          <a:prstGeom prst="rect">
            <a:avLst/>
          </a:prstGeom>
          <a:noFill/>
          <a:ln/>
        </p:spPr>
        <p:txBody>
          <a:bodyPr wrap="square" lIns="0" tIns="0" rIns="0" bIns="0" rtlCol="0" anchor="ctr">
            <a:normAutofit/>
          </a:bodyPr>
          <a:lstStyle/>
          <a:p>
            <a:pPr algn="l" indent="0" marL="0">
              <a:buNone/>
            </a:pPr>
            <a:r>
              <a:rPr lang="en-US" sz="830" b="1" spc="50" kern="0" dirty="0">
                <a:solidFill>
                  <a:srgbClr val="65738A"/>
                </a:solidFill>
                <a:latin typeface="Inter" pitchFamily="34" charset="0"/>
                <a:ea typeface="Inter" pitchFamily="34" charset="-122"/>
                <a:cs typeface="Inter" pitchFamily="34" charset="-120"/>
              </a:rPr>
              <a:t>OBSERVED FILE TYPES</a:t>
            </a:r>
            <a:endParaRPr lang="en-US" sz="830" dirty="0"/>
          </a:p>
        </p:txBody>
      </p:sp>
      <p:sp>
        <p:nvSpPr>
          <p:cNvPr id="21" name="Shape 19"/>
          <p:cNvSpPr/>
          <p:nvPr/>
        </p:nvSpPr>
        <p:spPr>
          <a:xfrm>
            <a:off x="603504" y="2651760"/>
            <a:ext cx="4754880" cy="3063240"/>
          </a:xfrm>
          <a:prstGeom prst="roundRect">
            <a:avLst>
              <a:gd name="adj" fmla="val 5373"/>
            </a:avLst>
          </a:prstGeom>
          <a:solidFill>
            <a:srgbClr val="FFFFFF"/>
          </a:solidFill>
          <a:ln w="10160">
            <a:solidFill>
              <a:srgbClr val="E0E7F0"/>
            </a:solidFill>
            <a:prstDash val="solid"/>
          </a:ln>
        </p:spPr>
      </p:sp>
      <p:sp>
        <p:nvSpPr>
          <p:cNvPr id="22" name="Text 20"/>
          <p:cNvSpPr txBox="1"/>
          <p:nvPr/>
        </p:nvSpPr>
        <p:spPr>
          <a:xfrm>
            <a:off x="877824" y="2898648"/>
            <a:ext cx="4023360" cy="256032"/>
          </a:xfrm>
          <a:prstGeom prst="rect">
            <a:avLst/>
          </a:prstGeom>
          <a:noFill/>
          <a:ln/>
        </p:spPr>
        <p:txBody>
          <a:bodyPr wrap="square" lIns="0" tIns="0" rIns="0" bIns="0" rtlCol="0" anchor="ctr">
            <a:normAutofit/>
          </a:bodyPr>
          <a:lstStyle/>
          <a:p>
            <a:pPr algn="l" indent="0" marL="0">
              <a:buNone/>
            </a:pPr>
            <a:r>
              <a:rPr lang="en-US" sz="1500" b="1" dirty="0">
                <a:solidFill>
                  <a:srgbClr val="101A32"/>
                </a:solidFill>
                <a:latin typeface="Inter" pitchFamily="34" charset="0"/>
                <a:ea typeface="Inter" pitchFamily="34" charset="-122"/>
                <a:cs typeface="Inter" pitchFamily="34" charset="-120"/>
              </a:rPr>
              <a:t>What each row contains</a:t>
            </a:r>
            <a:endParaRPr lang="en-US" sz="1500" dirty="0"/>
          </a:p>
        </p:txBody>
      </p:sp>
      <p:sp>
        <p:nvSpPr>
          <p:cNvPr id="23" name="Shape 21"/>
          <p:cNvSpPr/>
          <p:nvPr/>
        </p:nvSpPr>
        <p:spPr>
          <a:xfrm>
            <a:off x="877824" y="3328416"/>
            <a:ext cx="4160520" cy="658368"/>
          </a:xfrm>
          <a:prstGeom prst="roundRect">
            <a:avLst>
              <a:gd name="adj" fmla="val 18056"/>
            </a:avLst>
          </a:prstGeom>
          <a:solidFill>
            <a:srgbClr val="E3F7F6"/>
          </a:solidFill>
          <a:ln w="10160">
            <a:solidFill>
              <a:srgbClr val="CBEAE7"/>
            </a:solidFill>
            <a:prstDash val="solid"/>
          </a:ln>
        </p:spPr>
      </p:sp>
      <p:sp>
        <p:nvSpPr>
          <p:cNvPr id="24" name="Text 22"/>
          <p:cNvSpPr txBox="1"/>
          <p:nvPr/>
        </p:nvSpPr>
        <p:spPr>
          <a:xfrm>
            <a:off x="1042416" y="3447288"/>
            <a:ext cx="932688" cy="182880"/>
          </a:xfrm>
          <a:prstGeom prst="rect">
            <a:avLst/>
          </a:prstGeom>
          <a:noFill/>
          <a:ln/>
        </p:spPr>
        <p:txBody>
          <a:bodyPr wrap="square" lIns="0" tIns="0" rIns="0" bIns="0" rtlCol="0" anchor="ctr">
            <a:normAutofit/>
          </a:bodyPr>
          <a:lstStyle/>
          <a:p>
            <a:pPr algn="l" indent="0" marL="0">
              <a:buNone/>
            </a:pPr>
            <a:r>
              <a:rPr lang="en-US" sz="900" b="1" spc="50" kern="0" dirty="0">
                <a:solidFill>
                  <a:srgbClr val="17AEB0"/>
                </a:solidFill>
                <a:latin typeface="Inter" pitchFamily="34" charset="0"/>
                <a:ea typeface="Inter" pitchFamily="34" charset="-122"/>
                <a:cs typeface="Inter" pitchFamily="34" charset="-120"/>
              </a:rPr>
              <a:t>PREFIX</a:t>
            </a:r>
            <a:endParaRPr lang="en-US" sz="900" dirty="0"/>
          </a:p>
        </p:txBody>
      </p:sp>
      <p:sp>
        <p:nvSpPr>
          <p:cNvPr id="25" name="Text 23"/>
          <p:cNvSpPr txBox="1"/>
          <p:nvPr/>
        </p:nvSpPr>
        <p:spPr>
          <a:xfrm>
            <a:off x="2039112" y="3401568"/>
            <a:ext cx="2642616" cy="246888"/>
          </a:xfrm>
          <a:prstGeom prst="rect">
            <a:avLst/>
          </a:prstGeom>
          <a:noFill/>
          <a:ln/>
        </p:spPr>
        <p:txBody>
          <a:bodyPr wrap="square" lIns="0" tIns="0" rIns="0" bIns="0" rtlCol="0" anchor="ctr">
            <a:normAutofit/>
          </a:bodyPr>
          <a:lstStyle/>
          <a:p>
            <a:pPr algn="l" indent="0" marL="0">
              <a:buNone/>
            </a:pPr>
            <a:r>
              <a:rPr lang="en-US" sz="1400" b="1" dirty="0">
                <a:solidFill>
                  <a:srgbClr val="101A32"/>
                </a:solidFill>
                <a:latin typeface="Inter" pitchFamily="34" charset="0"/>
                <a:ea typeface="Inter" pitchFamily="34" charset="-122"/>
                <a:cs typeface="Inter" pitchFamily="34" charset="-120"/>
              </a:rPr>
              <a:t>src/main</a:t>
            </a:r>
            <a:endParaRPr lang="en-US" sz="1400" dirty="0"/>
          </a:p>
        </p:txBody>
      </p:sp>
      <p:sp>
        <p:nvSpPr>
          <p:cNvPr id="26" name="Text 24"/>
          <p:cNvSpPr txBox="1"/>
          <p:nvPr/>
        </p:nvSpPr>
        <p:spPr>
          <a:xfrm>
            <a:off x="2039112" y="3639312"/>
            <a:ext cx="2633472" cy="182880"/>
          </a:xfrm>
          <a:prstGeom prst="rect">
            <a:avLst/>
          </a:prstGeom>
          <a:noFill/>
          <a:ln/>
        </p:spPr>
        <p:txBody>
          <a:bodyPr wrap="square" lIns="0" tIns="0" rIns="0" bIns="0" rtlCol="0" anchor="ctr">
            <a:normAutofit/>
          </a:bodyPr>
          <a:lstStyle/>
          <a:p>
            <a:pPr algn="l" indent="0" marL="0">
              <a:buNone/>
            </a:pPr>
            <a:r>
              <a:rPr lang="en-US" sz="940" dirty="0">
                <a:solidFill>
                  <a:srgbClr val="65738A"/>
                </a:solidFill>
                <a:latin typeface="Inter" pitchFamily="34" charset="0"/>
                <a:ea typeface="Inter" pitchFamily="34" charset="-122"/>
                <a:cs typeface="Inter" pitchFamily="34" charset="-120"/>
              </a:rPr>
              <a:t>Most common path prefix in the commit</a:t>
            </a:r>
            <a:endParaRPr lang="en-US" sz="940" dirty="0"/>
          </a:p>
        </p:txBody>
      </p:sp>
      <p:sp>
        <p:nvSpPr>
          <p:cNvPr id="27" name="Shape 25"/>
          <p:cNvSpPr/>
          <p:nvPr/>
        </p:nvSpPr>
        <p:spPr>
          <a:xfrm>
            <a:off x="877824" y="4142232"/>
            <a:ext cx="4160520" cy="658368"/>
          </a:xfrm>
          <a:prstGeom prst="roundRect">
            <a:avLst>
              <a:gd name="adj" fmla="val 18056"/>
            </a:avLst>
          </a:prstGeom>
          <a:solidFill>
            <a:srgbClr val="E9EEFC"/>
          </a:solidFill>
          <a:ln w="10160">
            <a:solidFill>
              <a:srgbClr val="D8E1FA"/>
            </a:solidFill>
            <a:prstDash val="solid"/>
          </a:ln>
        </p:spPr>
      </p:sp>
      <p:sp>
        <p:nvSpPr>
          <p:cNvPr id="28" name="Text 26"/>
          <p:cNvSpPr txBox="1"/>
          <p:nvPr/>
        </p:nvSpPr>
        <p:spPr>
          <a:xfrm>
            <a:off x="1042416" y="4270248"/>
            <a:ext cx="932688" cy="182880"/>
          </a:xfrm>
          <a:prstGeom prst="rect">
            <a:avLst/>
          </a:prstGeom>
          <a:noFill/>
          <a:ln/>
        </p:spPr>
        <p:txBody>
          <a:bodyPr wrap="square" lIns="0" tIns="0" rIns="0" bIns="0" rtlCol="0" anchor="ctr">
            <a:normAutofit/>
          </a:bodyPr>
          <a:lstStyle/>
          <a:p>
            <a:pPr algn="l" indent="0" marL="0">
              <a:buNone/>
            </a:pPr>
            <a:r>
              <a:rPr lang="en-US" sz="900" b="1" spc="50" kern="0" dirty="0">
                <a:solidFill>
                  <a:srgbClr val="5478D4"/>
                </a:solidFill>
                <a:latin typeface="Inter" pitchFamily="34" charset="0"/>
                <a:ea typeface="Inter" pitchFamily="34" charset="-122"/>
                <a:cs typeface="Inter" pitchFamily="34" charset="-120"/>
              </a:rPr>
              <a:t>TYPE</a:t>
            </a:r>
            <a:endParaRPr lang="en-US" sz="900" dirty="0"/>
          </a:p>
        </p:txBody>
      </p:sp>
      <p:sp>
        <p:nvSpPr>
          <p:cNvPr id="29" name="Text 27"/>
          <p:cNvSpPr txBox="1"/>
          <p:nvPr/>
        </p:nvSpPr>
        <p:spPr>
          <a:xfrm>
            <a:off x="2039112" y="4224528"/>
            <a:ext cx="2642616" cy="246888"/>
          </a:xfrm>
          <a:prstGeom prst="rect">
            <a:avLst/>
          </a:prstGeom>
          <a:noFill/>
          <a:ln/>
        </p:spPr>
        <p:txBody>
          <a:bodyPr wrap="square" lIns="0" tIns="0" rIns="0" bIns="0" rtlCol="0" anchor="ctr">
            <a:normAutofit/>
          </a:bodyPr>
          <a:lstStyle/>
          <a:p>
            <a:pPr algn="l" indent="0" marL="0">
              <a:buNone/>
            </a:pPr>
            <a:r>
              <a:rPr lang="en-US" sz="1400" b="1" dirty="0">
                <a:solidFill>
                  <a:srgbClr val="101A32"/>
                </a:solidFill>
                <a:latin typeface="Inter" pitchFamily="34" charset="0"/>
                <a:ea typeface="Inter" pitchFamily="34" charset="-122"/>
                <a:cs typeface="Inter" pitchFamily="34" charset="-120"/>
              </a:rPr>
              <a:t>JAVA</a:t>
            </a:r>
            <a:endParaRPr lang="en-US" sz="1400" dirty="0"/>
          </a:p>
        </p:txBody>
      </p:sp>
      <p:sp>
        <p:nvSpPr>
          <p:cNvPr id="30" name="Text 28"/>
          <p:cNvSpPr txBox="1"/>
          <p:nvPr/>
        </p:nvSpPr>
        <p:spPr>
          <a:xfrm>
            <a:off x="2039112" y="4462272"/>
            <a:ext cx="2633472" cy="182880"/>
          </a:xfrm>
          <a:prstGeom prst="rect">
            <a:avLst/>
          </a:prstGeom>
          <a:noFill/>
          <a:ln/>
        </p:spPr>
        <p:txBody>
          <a:bodyPr wrap="square" lIns="0" tIns="0" rIns="0" bIns="0" rtlCol="0" anchor="ctr">
            <a:normAutofit/>
          </a:bodyPr>
          <a:lstStyle/>
          <a:p>
            <a:pPr algn="l" indent="0" marL="0">
              <a:buNone/>
            </a:pPr>
            <a:r>
              <a:rPr lang="en-US" sz="940" dirty="0">
                <a:solidFill>
                  <a:srgbClr val="65738A"/>
                </a:solidFill>
                <a:latin typeface="Inter" pitchFamily="34" charset="0"/>
                <a:ea typeface="Inter" pitchFamily="34" charset="-122"/>
                <a:cs typeface="Inter" pitchFamily="34" charset="-120"/>
              </a:rPr>
              <a:t>Most common file type in the commit</a:t>
            </a:r>
            <a:endParaRPr lang="en-US" sz="940" dirty="0"/>
          </a:p>
        </p:txBody>
      </p:sp>
      <p:sp>
        <p:nvSpPr>
          <p:cNvPr id="31" name="Shape 29"/>
          <p:cNvSpPr/>
          <p:nvPr/>
        </p:nvSpPr>
        <p:spPr>
          <a:xfrm>
            <a:off x="877824" y="4956048"/>
            <a:ext cx="4160520" cy="475488"/>
          </a:xfrm>
          <a:prstGeom prst="roundRect">
            <a:avLst>
              <a:gd name="adj" fmla="val 25000"/>
            </a:avLst>
          </a:prstGeom>
          <a:solidFill>
            <a:srgbClr val="FFF2DE"/>
          </a:solidFill>
          <a:ln w="10160">
            <a:solidFill>
              <a:srgbClr val="F4E0BD"/>
            </a:solidFill>
            <a:prstDash val="solid"/>
          </a:ln>
        </p:spPr>
      </p:sp>
      <p:sp>
        <p:nvSpPr>
          <p:cNvPr id="32" name="Text 30"/>
          <p:cNvSpPr txBox="1"/>
          <p:nvPr/>
        </p:nvSpPr>
        <p:spPr>
          <a:xfrm>
            <a:off x="1042416" y="5084064"/>
            <a:ext cx="932688" cy="164592"/>
          </a:xfrm>
          <a:prstGeom prst="rect">
            <a:avLst/>
          </a:prstGeom>
          <a:noFill/>
          <a:ln/>
        </p:spPr>
        <p:txBody>
          <a:bodyPr wrap="square" lIns="0" tIns="0" rIns="0" bIns="0" rtlCol="0" anchor="ctr">
            <a:normAutofit/>
          </a:bodyPr>
          <a:lstStyle/>
          <a:p>
            <a:pPr algn="l" indent="0" marL="0">
              <a:buNone/>
            </a:pPr>
            <a:r>
              <a:rPr lang="en-US" sz="900" b="1" spc="50" kern="0" dirty="0">
                <a:solidFill>
                  <a:srgbClr val="B57612"/>
                </a:solidFill>
                <a:latin typeface="Inter" pitchFamily="34" charset="0"/>
                <a:ea typeface="Inter" pitchFamily="34" charset="-122"/>
                <a:cs typeface="Inter" pitchFamily="34" charset="-120"/>
              </a:rPr>
              <a:t>TARGET</a:t>
            </a:r>
            <a:endParaRPr lang="en-US" sz="900" dirty="0"/>
          </a:p>
        </p:txBody>
      </p:sp>
      <p:sp>
        <p:nvSpPr>
          <p:cNvPr id="33" name="Text 31"/>
          <p:cNvSpPr txBox="1"/>
          <p:nvPr/>
        </p:nvSpPr>
        <p:spPr>
          <a:xfrm>
            <a:off x="2039112" y="5047488"/>
            <a:ext cx="2651760" cy="219456"/>
          </a:xfrm>
          <a:prstGeom prst="rect">
            <a:avLst/>
          </a:prstGeom>
          <a:noFill/>
          <a:ln/>
        </p:spPr>
        <p:txBody>
          <a:bodyPr wrap="square" lIns="0" tIns="0" rIns="0" bIns="0" rtlCol="0" anchor="ctr">
            <a:normAutofit/>
          </a:bodyPr>
          <a:lstStyle/>
          <a:p>
            <a:pPr algn="l" indent="0" marL="0">
              <a:buNone/>
            </a:pPr>
            <a:r>
              <a:rPr lang="en-US" sz="1220" b="1" dirty="0">
                <a:solidFill>
                  <a:srgbClr val="101A32"/>
                </a:solidFill>
                <a:latin typeface="Inter" pitchFamily="34" charset="0"/>
                <a:ea typeface="Inter" pitchFamily="34" charset="-122"/>
                <a:cs typeface="Inter" pitchFamily="34" charset="-120"/>
              </a:rPr>
              <a:t>CPUTime (ms)</a:t>
            </a:r>
            <a:endParaRPr lang="en-US" sz="1220" dirty="0"/>
          </a:p>
        </p:txBody>
      </p:sp>
      <p:sp>
        <p:nvSpPr>
          <p:cNvPr id="34" name="Text 32"/>
          <p:cNvSpPr txBox="1"/>
          <p:nvPr/>
        </p:nvSpPr>
        <p:spPr>
          <a:xfrm>
            <a:off x="886968" y="5504688"/>
            <a:ext cx="4133088" cy="164592"/>
          </a:xfrm>
          <a:prstGeom prst="rect">
            <a:avLst/>
          </a:prstGeom>
          <a:noFill/>
          <a:ln/>
        </p:spPr>
        <p:txBody>
          <a:bodyPr wrap="square" lIns="0" tIns="0" rIns="0" bIns="0" rtlCol="0" anchor="ctr">
            <a:normAutofit/>
          </a:bodyPr>
          <a:lstStyle/>
          <a:p>
            <a:pPr algn="l" indent="0" marL="0">
              <a:buNone/>
            </a:pPr>
            <a:r>
              <a:rPr lang="en-US" sz="960" i="1" dirty="0">
                <a:solidFill>
                  <a:srgbClr val="65738A"/>
                </a:solidFill>
                <a:latin typeface="Inter" pitchFamily="34" charset="0"/>
                <a:ea typeface="Inter" pitchFamily="34" charset="-122"/>
                <a:cs typeface="Inter" pitchFamily="34" charset="-120"/>
              </a:rPr>
              <a:t>Each sample maps those two features to a build CPU-time measurement.</a:t>
            </a:r>
            <a:endParaRPr lang="en-US" sz="960" dirty="0"/>
          </a:p>
        </p:txBody>
      </p:sp>
      <p:sp>
        <p:nvSpPr>
          <p:cNvPr id="35" name="Shape 33"/>
          <p:cNvSpPr/>
          <p:nvPr/>
        </p:nvSpPr>
        <p:spPr>
          <a:xfrm>
            <a:off x="5559552" y="2651760"/>
            <a:ext cx="6025896" cy="3063240"/>
          </a:xfrm>
          <a:prstGeom prst="roundRect">
            <a:avLst>
              <a:gd name="adj" fmla="val 5373"/>
            </a:avLst>
          </a:prstGeom>
          <a:solidFill>
            <a:srgbClr val="FFFFFF"/>
          </a:solidFill>
          <a:ln w="10160">
            <a:solidFill>
              <a:srgbClr val="E0E7F0"/>
            </a:solidFill>
            <a:prstDash val="solid"/>
          </a:ln>
        </p:spPr>
      </p:sp>
      <p:pic>
        <p:nvPicPr>
          <p:cNvPr id="36" name="Image 0" descr="/mnt/data/ppt_assets/cpu_time_distribution.png">    </p:cNvPr>
          <p:cNvPicPr>
            <a:picLocks noChangeAspect="1"/>
          </p:cNvPicPr>
          <p:nvPr/>
        </p:nvPicPr>
        <p:blipFill>
          <a:blip r:embed="rId1"/>
          <a:stretch>
            <a:fillRect/>
          </a:stretch>
        </p:blipFill>
        <p:spPr>
          <a:xfrm>
            <a:off x="5797296" y="2926080"/>
            <a:ext cx="5532120" cy="2468880"/>
          </a:xfrm>
          <a:prstGeom prst="rect">
            <a:avLst/>
          </a:prstGeom>
        </p:spPr>
      </p:pic>
      <p:sp>
        <p:nvSpPr>
          <p:cNvPr id="37" name="Text 34"/>
          <p:cNvSpPr txBox="1"/>
          <p:nvPr/>
        </p:nvSpPr>
        <p:spPr>
          <a:xfrm>
            <a:off x="5833872" y="5404104"/>
            <a:ext cx="1783080" cy="182880"/>
          </a:xfrm>
          <a:prstGeom prst="rect">
            <a:avLst/>
          </a:prstGeom>
          <a:noFill/>
          <a:ln/>
        </p:spPr>
        <p:txBody>
          <a:bodyPr wrap="square" lIns="0" tIns="0" rIns="0" bIns="0" rtlCol="0" anchor="ctr">
            <a:normAutofit/>
          </a:bodyPr>
          <a:lstStyle/>
          <a:p>
            <a:pPr algn="l" indent="0" marL="0">
              <a:buNone/>
            </a:pPr>
            <a:r>
              <a:rPr lang="en-US" sz="1060" b="1" dirty="0">
                <a:solidFill>
                  <a:srgbClr val="101A32"/>
                </a:solidFill>
                <a:latin typeface="Inter" pitchFamily="34" charset="0"/>
                <a:ea typeface="Inter" pitchFamily="34" charset="-122"/>
                <a:cs typeface="Inter" pitchFamily="34" charset="-120"/>
              </a:rPr>
              <a:t>Mean: 4,299.40 ms</a:t>
            </a:r>
            <a:endParaRPr lang="en-US" sz="1060" dirty="0"/>
          </a:p>
        </p:txBody>
      </p:sp>
      <p:sp>
        <p:nvSpPr>
          <p:cNvPr id="38" name="Text 35"/>
          <p:cNvSpPr txBox="1"/>
          <p:nvPr/>
        </p:nvSpPr>
        <p:spPr>
          <a:xfrm>
            <a:off x="7717536" y="5404104"/>
            <a:ext cx="1828800" cy="182880"/>
          </a:xfrm>
          <a:prstGeom prst="rect">
            <a:avLst/>
          </a:prstGeom>
          <a:noFill/>
          <a:ln/>
        </p:spPr>
        <p:txBody>
          <a:bodyPr wrap="square" lIns="0" tIns="0" rIns="0" bIns="0" rtlCol="0" anchor="ctr">
            <a:normAutofit/>
          </a:bodyPr>
          <a:lstStyle/>
          <a:p>
            <a:pPr algn="l" indent="0" marL="0">
              <a:buNone/>
            </a:pPr>
            <a:r>
              <a:rPr lang="en-US" sz="1060" b="1" dirty="0">
                <a:solidFill>
                  <a:srgbClr val="101A32"/>
                </a:solidFill>
                <a:latin typeface="Inter" pitchFamily="34" charset="0"/>
                <a:ea typeface="Inter" pitchFamily="34" charset="-122"/>
                <a:cs typeface="Inter" pitchFamily="34" charset="-120"/>
              </a:rPr>
              <a:t>Median: 1,837.5 ms</a:t>
            </a:r>
            <a:endParaRPr lang="en-US" sz="1060" dirty="0"/>
          </a:p>
        </p:txBody>
      </p:sp>
      <p:sp>
        <p:nvSpPr>
          <p:cNvPr id="39" name="Text 36"/>
          <p:cNvSpPr txBox="1"/>
          <p:nvPr/>
        </p:nvSpPr>
        <p:spPr>
          <a:xfrm>
            <a:off x="9646920" y="5404104"/>
            <a:ext cx="1691640" cy="182880"/>
          </a:xfrm>
          <a:prstGeom prst="rect">
            <a:avLst/>
          </a:prstGeom>
          <a:noFill/>
          <a:ln/>
        </p:spPr>
        <p:txBody>
          <a:bodyPr wrap="square" lIns="0" tIns="0" rIns="0" bIns="0" rtlCol="0" anchor="ctr">
            <a:normAutofit/>
          </a:bodyPr>
          <a:lstStyle/>
          <a:p>
            <a:pPr algn="r" indent="0" marL="0">
              <a:buNone/>
            </a:pPr>
            <a:r>
              <a:rPr lang="en-US" sz="1000" b="1" dirty="0">
                <a:solidFill>
                  <a:srgbClr val="101A32"/>
                </a:solidFill>
                <a:latin typeface="Inter" pitchFamily="34" charset="0"/>
                <a:ea typeface="Inter" pitchFamily="34" charset="-122"/>
                <a:cs typeface="Inter" pitchFamily="34" charset="-120"/>
              </a:rPr>
              <a:t>Range: 564–44,863 ms</a:t>
            </a:r>
            <a:endParaRPr lang="en-US" sz="1000" dirty="0"/>
          </a:p>
        </p:txBody>
      </p:sp>
      <p:sp>
        <p:nvSpPr>
          <p:cNvPr id="40" name="Shape 37"/>
          <p:cNvSpPr/>
          <p:nvPr/>
        </p:nvSpPr>
        <p:spPr>
          <a:xfrm>
            <a:off x="603504" y="5879592"/>
            <a:ext cx="10981944" cy="393192"/>
          </a:xfrm>
          <a:prstGeom prst="roundRect">
            <a:avLst>
              <a:gd name="adj" fmla="val 27907"/>
            </a:avLst>
          </a:prstGeom>
          <a:solidFill>
            <a:srgbClr val="FFF2DE"/>
          </a:solidFill>
          <a:ln w="10160">
            <a:solidFill>
              <a:srgbClr val="F4E0BD"/>
            </a:solidFill>
            <a:prstDash val="solid"/>
          </a:ln>
        </p:spPr>
      </p:sp>
      <p:sp>
        <p:nvSpPr>
          <p:cNvPr id="41" name="Text 38"/>
          <p:cNvSpPr txBox="1"/>
          <p:nvPr/>
        </p:nvSpPr>
        <p:spPr>
          <a:xfrm>
            <a:off x="813816" y="5971032"/>
            <a:ext cx="10588752" cy="182880"/>
          </a:xfrm>
          <a:prstGeom prst="rect">
            <a:avLst/>
          </a:prstGeom>
          <a:noFill/>
          <a:ln/>
        </p:spPr>
        <p:txBody>
          <a:bodyPr wrap="square" lIns="0" tIns="0" rIns="0" bIns="0" rtlCol="0" anchor="ctr">
            <a:normAutofit/>
          </a:bodyPr>
          <a:lstStyle/>
          <a:p>
            <a:pPr algn="l" indent="0" marL="0">
              <a:buNone/>
            </a:pPr>
            <a:r>
              <a:rPr lang="en-US" sz="930" b="1" dirty="0">
                <a:solidFill>
                  <a:srgbClr val="8C5A13"/>
                </a:solidFill>
                <a:latin typeface="Inter" pitchFamily="34" charset="0"/>
                <a:ea typeface="Inter" pitchFamily="34" charset="-122"/>
                <a:cs typeface="Inter" pitchFamily="34" charset="-120"/>
              </a:rPr>
              <a:t>Data linkage assumption: the two CSVs have no shared commit key, so input and target rows were paired in order (target IDs 1–500).</a:t>
            </a:r>
            <a:endParaRPr lang="en-US" sz="930" dirty="0"/>
          </a:p>
        </p:txBody>
      </p:sp>
      <p:sp>
        <p:nvSpPr>
          <p:cNvPr id="42" name="Shape 39"/>
          <p:cNvSpPr/>
          <p:nvPr/>
        </p:nvSpPr>
        <p:spPr>
          <a:xfrm>
            <a:off x="594360" y="6473952"/>
            <a:ext cx="11000232" cy="0"/>
          </a:xfrm>
          <a:prstGeom prst="line">
            <a:avLst/>
          </a:prstGeom>
          <a:noFill/>
          <a:ln w="10160">
            <a:solidFill>
              <a:srgbClr val="E0E7F0"/>
            </a:solidFill>
            <a:prstDash val="solid"/>
            <a:headEnd type="none"/>
            <a:tailEnd type="none"/>
          </a:ln>
        </p:spPr>
      </p:sp>
      <p:sp>
        <p:nvSpPr>
          <p:cNvPr id="43" name="Text 40"/>
          <p:cNvSpPr txBox="1"/>
          <p:nvPr/>
        </p:nvSpPr>
        <p:spPr>
          <a:xfrm>
            <a:off x="612648" y="6537960"/>
            <a:ext cx="6583680" cy="164592"/>
          </a:xfrm>
          <a:prstGeom prst="rect">
            <a:avLst/>
          </a:prstGeom>
          <a:noFill/>
          <a:ln/>
        </p:spPr>
        <p:txBody>
          <a:bodyPr wrap="square" lIns="0" tIns="0" rIns="0" bIns="0" rtlCol="0" anchor="ctr">
            <a:normAutofit/>
          </a:bodyPr>
          <a:lstStyle/>
          <a:p>
            <a:pPr algn="l" indent="0" marL="0">
              <a:buNone/>
            </a:pPr>
            <a:r>
              <a:rPr lang="en-US" sz="780" b="1" spc="50" kern="0" dirty="0">
                <a:solidFill>
                  <a:srgbClr val="65738A"/>
                </a:solidFill>
                <a:latin typeface="Inter" pitchFamily="34" charset="0"/>
                <a:ea typeface="Inter" pitchFamily="34" charset="-122"/>
                <a:cs typeface="Inter" pitchFamily="34" charset="-120"/>
              </a:rPr>
              <a:t>PREDICTING BAZEL BUILD TIMES  •  MINI PROJECT</a:t>
            </a:r>
            <a:endParaRPr lang="en-US" sz="780" dirty="0"/>
          </a:p>
        </p:txBody>
      </p:sp>
      <p:sp>
        <p:nvSpPr>
          <p:cNvPr id="44" name="Text 41"/>
          <p:cNvSpPr txBox="1"/>
          <p:nvPr/>
        </p:nvSpPr>
        <p:spPr>
          <a:xfrm>
            <a:off x="11018520" y="6528816"/>
            <a:ext cx="502920" cy="164592"/>
          </a:xfrm>
          <a:prstGeom prst="rect">
            <a:avLst/>
          </a:prstGeom>
          <a:noFill/>
          <a:ln/>
        </p:spPr>
        <p:txBody>
          <a:bodyPr wrap="square" lIns="0" tIns="0" rIns="0" bIns="0" rtlCol="0" anchor="ctr">
            <a:normAutofit/>
          </a:bodyPr>
          <a:lstStyle/>
          <a:p>
            <a:pPr algn="r" indent="0" marL="0">
              <a:buNone/>
            </a:pPr>
            <a:r>
              <a:rPr lang="en-US" sz="860" b="1" dirty="0">
                <a:solidFill>
                  <a:srgbClr val="65738A"/>
                </a:solidFill>
                <a:latin typeface="Inter" pitchFamily="34" charset="0"/>
                <a:ea typeface="Inter" pitchFamily="34" charset="-122"/>
                <a:cs typeface="Inter" pitchFamily="34" charset="-120"/>
              </a:rPr>
              <a:t>03</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603504" y="256032"/>
            <a:ext cx="6858000" cy="201168"/>
          </a:xfrm>
          <a:prstGeom prst="rect">
            <a:avLst/>
          </a:prstGeom>
          <a:noFill/>
          <a:ln/>
        </p:spPr>
        <p:txBody>
          <a:bodyPr wrap="square" lIns="0" tIns="0" rIns="0" bIns="0" rtlCol="0" anchor="ctr">
            <a:normAutofit/>
          </a:bodyPr>
          <a:lstStyle/>
          <a:p>
            <a:pPr algn="l" indent="0" marL="0">
              <a:buNone/>
            </a:pPr>
            <a:r>
              <a:rPr lang="en-US" sz="920" b="1" spc="125" kern="0" dirty="0">
                <a:solidFill>
                  <a:srgbClr val="17AEB0"/>
                </a:solidFill>
                <a:latin typeface="Inter" pitchFamily="34" charset="0"/>
                <a:ea typeface="Inter" pitchFamily="34" charset="-122"/>
                <a:cs typeface="Inter" pitchFamily="34" charset="-120"/>
              </a:rPr>
              <a:t>03  /  REFERENCE APPROACH</a:t>
            </a:r>
            <a:endParaRPr lang="en-US" sz="920" dirty="0"/>
          </a:p>
        </p:txBody>
      </p:sp>
      <p:sp>
        <p:nvSpPr>
          <p:cNvPr id="3" name="Text 1"/>
          <p:cNvSpPr txBox="1"/>
          <p:nvPr/>
        </p:nvSpPr>
        <p:spPr>
          <a:xfrm>
            <a:off x="594360" y="512064"/>
            <a:ext cx="11018520" cy="457200"/>
          </a:xfrm>
          <a:prstGeom prst="rect">
            <a:avLst/>
          </a:prstGeom>
          <a:noFill/>
          <a:ln/>
        </p:spPr>
        <p:txBody>
          <a:bodyPr wrap="square" lIns="0" tIns="0" rIns="0" bIns="0" rtlCol="0" anchor="ctr">
            <a:normAutofit/>
          </a:bodyPr>
          <a:lstStyle/>
          <a:p>
            <a:pPr algn="l" indent="0" marL="0">
              <a:buNone/>
            </a:pPr>
            <a:r>
              <a:rPr lang="en-US" sz="2550" b="1" dirty="0">
                <a:solidFill>
                  <a:srgbClr val="101A32"/>
                </a:solidFill>
                <a:latin typeface="Inter" pitchFamily="34" charset="0"/>
                <a:ea typeface="Inter" pitchFamily="34" charset="-122"/>
                <a:cs typeface="Inter" pitchFamily="34" charset="-120"/>
              </a:rPr>
              <a:t>The reference compares two linear-regression pipelines</a:t>
            </a:r>
            <a:endParaRPr lang="en-US" sz="2550" dirty="0"/>
          </a:p>
        </p:txBody>
      </p:sp>
      <p:sp>
        <p:nvSpPr>
          <p:cNvPr id="4" name="Text 2"/>
          <p:cNvSpPr txBox="1"/>
          <p:nvPr/>
        </p:nvSpPr>
        <p:spPr>
          <a:xfrm>
            <a:off x="612648" y="1005840"/>
            <a:ext cx="10972800" cy="292608"/>
          </a:xfrm>
          <a:prstGeom prst="rect">
            <a:avLst/>
          </a:prstGeom>
          <a:noFill/>
          <a:ln/>
        </p:spPr>
        <p:txBody>
          <a:bodyPr wrap="square" lIns="0" tIns="0" rIns="0" bIns="0" rtlCol="0" anchor="ctr">
            <a:normAutofit/>
          </a:bodyPr>
          <a:lstStyle/>
          <a:p>
            <a:pPr algn="l" indent="0" marL="0">
              <a:buNone/>
            </a:pPr>
            <a:r>
              <a:rPr lang="en-US" sz="1160" dirty="0">
                <a:solidFill>
                  <a:srgbClr val="65738A"/>
                </a:solidFill>
                <a:latin typeface="Inter" pitchFamily="34" charset="0"/>
                <a:ea typeface="Inter" pitchFamily="34" charset="-122"/>
                <a:cs typeface="Inter" pitchFamily="34" charset="-120"/>
              </a:rPr>
              <a:t>Feature crossing gives the model an explicit signal for a prefix/type combination.</a:t>
            </a:r>
            <a:endParaRPr lang="en-US" sz="1160" dirty="0"/>
          </a:p>
        </p:txBody>
      </p:sp>
      <p:sp>
        <p:nvSpPr>
          <p:cNvPr id="5" name="Shape 3"/>
          <p:cNvSpPr/>
          <p:nvPr/>
        </p:nvSpPr>
        <p:spPr>
          <a:xfrm>
            <a:off x="658368" y="1901952"/>
            <a:ext cx="2048256" cy="3337560"/>
          </a:xfrm>
          <a:prstGeom prst="roundRect">
            <a:avLst>
              <a:gd name="adj" fmla="val 8036"/>
            </a:avLst>
          </a:prstGeom>
          <a:solidFill>
            <a:srgbClr val="101A32"/>
          </a:solidFill>
          <a:ln w="10160">
            <a:solidFill>
              <a:srgbClr val="101A32"/>
            </a:solidFill>
            <a:prstDash val="solid"/>
          </a:ln>
        </p:spPr>
      </p:sp>
      <p:sp>
        <p:nvSpPr>
          <p:cNvPr id="6" name="Text 4"/>
          <p:cNvSpPr txBox="1"/>
          <p:nvPr/>
        </p:nvSpPr>
        <p:spPr>
          <a:xfrm>
            <a:off x="896112" y="2167128"/>
            <a:ext cx="1600200" cy="201168"/>
          </a:xfrm>
          <a:prstGeom prst="rect">
            <a:avLst/>
          </a:prstGeom>
          <a:noFill/>
          <a:ln/>
        </p:spPr>
        <p:txBody>
          <a:bodyPr wrap="square" lIns="0" tIns="0" rIns="0" bIns="0" rtlCol="0" anchor="ctr">
            <a:normAutofit/>
          </a:bodyPr>
          <a:lstStyle/>
          <a:p>
            <a:pPr algn="ctr" indent="0" marL="0">
              <a:buNone/>
            </a:pPr>
            <a:r>
              <a:rPr lang="en-US" sz="950" b="1" spc="80" kern="0" dirty="0">
                <a:solidFill>
                  <a:srgbClr val="AFC0D9"/>
                </a:solidFill>
                <a:latin typeface="Inter" pitchFamily="34" charset="0"/>
                <a:ea typeface="Inter" pitchFamily="34" charset="-122"/>
                <a:cs typeface="Inter" pitchFamily="34" charset="-120"/>
              </a:rPr>
              <a:t>INPUT FEATURES</a:t>
            </a:r>
            <a:endParaRPr lang="en-US" sz="950" dirty="0"/>
          </a:p>
        </p:txBody>
      </p:sp>
      <p:sp>
        <p:nvSpPr>
          <p:cNvPr id="7" name="Text 5"/>
          <p:cNvSpPr txBox="1"/>
          <p:nvPr/>
        </p:nvSpPr>
        <p:spPr>
          <a:xfrm>
            <a:off x="960120" y="2679192"/>
            <a:ext cx="1435608" cy="292608"/>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Inter" pitchFamily="34" charset="0"/>
                <a:ea typeface="Inter" pitchFamily="34" charset="-122"/>
                <a:cs typeface="Inter" pitchFamily="34" charset="-120"/>
              </a:rPr>
              <a:t>Prefix</a:t>
            </a:r>
            <a:endParaRPr lang="en-US" sz="1900" dirty="0"/>
          </a:p>
        </p:txBody>
      </p:sp>
      <p:sp>
        <p:nvSpPr>
          <p:cNvPr id="8" name="Text 6"/>
          <p:cNvSpPr txBox="1"/>
          <p:nvPr/>
        </p:nvSpPr>
        <p:spPr>
          <a:xfrm>
            <a:off x="932688" y="3026664"/>
            <a:ext cx="1499616" cy="219456"/>
          </a:xfrm>
          <a:prstGeom prst="rect">
            <a:avLst/>
          </a:prstGeom>
          <a:noFill/>
          <a:ln/>
        </p:spPr>
        <p:txBody>
          <a:bodyPr wrap="square" lIns="0" tIns="0" rIns="0" bIns="0" rtlCol="0" anchor="ctr">
            <a:normAutofit/>
          </a:bodyPr>
          <a:lstStyle/>
          <a:p>
            <a:pPr algn="ctr" indent="0" marL="0">
              <a:buNone/>
            </a:pPr>
            <a:r>
              <a:rPr lang="en-US" sz="1200" dirty="0">
                <a:solidFill>
                  <a:srgbClr val="AFC0D9"/>
                </a:solidFill>
                <a:latin typeface="Inter" pitchFamily="34" charset="0"/>
                <a:ea typeface="Inter" pitchFamily="34" charset="-122"/>
                <a:cs typeface="Inter" pitchFamily="34" charset="-120"/>
              </a:rPr>
              <a:t>src/main</a:t>
            </a:r>
            <a:endParaRPr lang="en-US" sz="1200" dirty="0"/>
          </a:p>
        </p:txBody>
      </p:sp>
      <p:sp>
        <p:nvSpPr>
          <p:cNvPr id="9" name="Shape 7"/>
          <p:cNvSpPr/>
          <p:nvPr/>
        </p:nvSpPr>
        <p:spPr>
          <a:xfrm>
            <a:off x="1005840" y="3456432"/>
            <a:ext cx="1353312" cy="0"/>
          </a:xfrm>
          <a:prstGeom prst="line">
            <a:avLst/>
          </a:prstGeom>
          <a:noFill/>
          <a:ln w="12700">
            <a:solidFill>
              <a:srgbClr val="455775"/>
            </a:solidFill>
            <a:prstDash val="solid"/>
            <a:headEnd type="none"/>
            <a:tailEnd type="none"/>
          </a:ln>
        </p:spPr>
      </p:sp>
      <p:sp>
        <p:nvSpPr>
          <p:cNvPr id="10" name="Text 8"/>
          <p:cNvSpPr txBox="1"/>
          <p:nvPr/>
        </p:nvSpPr>
        <p:spPr>
          <a:xfrm>
            <a:off x="960120" y="3749040"/>
            <a:ext cx="1435608" cy="292608"/>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Inter" pitchFamily="34" charset="0"/>
                <a:ea typeface="Inter" pitchFamily="34" charset="-122"/>
                <a:cs typeface="Inter" pitchFamily="34" charset="-120"/>
              </a:rPr>
              <a:t>File type</a:t>
            </a:r>
            <a:endParaRPr lang="en-US" sz="1900" dirty="0"/>
          </a:p>
        </p:txBody>
      </p:sp>
      <p:sp>
        <p:nvSpPr>
          <p:cNvPr id="11" name="Text 9"/>
          <p:cNvSpPr txBox="1"/>
          <p:nvPr/>
        </p:nvSpPr>
        <p:spPr>
          <a:xfrm>
            <a:off x="932688" y="4096512"/>
            <a:ext cx="1499616" cy="219456"/>
          </a:xfrm>
          <a:prstGeom prst="rect">
            <a:avLst/>
          </a:prstGeom>
          <a:noFill/>
          <a:ln/>
        </p:spPr>
        <p:txBody>
          <a:bodyPr wrap="square" lIns="0" tIns="0" rIns="0" bIns="0" rtlCol="0" anchor="ctr">
            <a:normAutofit/>
          </a:bodyPr>
          <a:lstStyle/>
          <a:p>
            <a:pPr algn="ctr" indent="0" marL="0">
              <a:buNone/>
            </a:pPr>
            <a:r>
              <a:rPr lang="en-US" sz="1200" dirty="0">
                <a:solidFill>
                  <a:srgbClr val="AFC0D9"/>
                </a:solidFill>
                <a:latin typeface="Inter" pitchFamily="34" charset="0"/>
                <a:ea typeface="Inter" pitchFamily="34" charset="-122"/>
                <a:cs typeface="Inter" pitchFamily="34" charset="-120"/>
              </a:rPr>
              <a:t>JAVA</a:t>
            </a:r>
            <a:endParaRPr lang="en-US" sz="1200" dirty="0"/>
          </a:p>
        </p:txBody>
      </p:sp>
      <p:sp>
        <p:nvSpPr>
          <p:cNvPr id="12" name="Text 10"/>
          <p:cNvSpPr txBox="1"/>
          <p:nvPr/>
        </p:nvSpPr>
        <p:spPr>
          <a:xfrm>
            <a:off x="859536" y="4718304"/>
            <a:ext cx="1673352" cy="219456"/>
          </a:xfrm>
          <a:prstGeom prst="rect">
            <a:avLst/>
          </a:prstGeom>
          <a:noFill/>
          <a:ln/>
        </p:spPr>
        <p:txBody>
          <a:bodyPr wrap="square" lIns="0" tIns="0" rIns="0" bIns="0" rtlCol="0" anchor="ctr">
            <a:normAutofit/>
          </a:bodyPr>
          <a:lstStyle/>
          <a:p>
            <a:pPr algn="ctr" indent="0" marL="0">
              <a:buNone/>
            </a:pPr>
            <a:r>
              <a:rPr lang="en-US" sz="1000" b="1" dirty="0">
                <a:solidFill>
                  <a:srgbClr val="D2DCEC"/>
                </a:solidFill>
                <a:latin typeface="Inter" pitchFamily="34" charset="0"/>
                <a:ea typeface="Inter" pitchFamily="34" charset="-122"/>
                <a:cs typeface="Inter" pitchFamily="34" charset="-120"/>
              </a:rPr>
              <a:t>Target: CPUTime (ms)</a:t>
            </a:r>
            <a:endParaRPr lang="en-US" sz="1000" dirty="0"/>
          </a:p>
        </p:txBody>
      </p:sp>
      <p:sp>
        <p:nvSpPr>
          <p:cNvPr id="13" name="Shape 11"/>
          <p:cNvSpPr/>
          <p:nvPr/>
        </p:nvSpPr>
        <p:spPr>
          <a:xfrm>
            <a:off x="3108960" y="1801368"/>
            <a:ext cx="1353312" cy="283464"/>
          </a:xfrm>
          <a:prstGeom prst="roundRect">
            <a:avLst>
              <a:gd name="adj" fmla="val 38710"/>
            </a:avLst>
          </a:prstGeom>
          <a:solidFill>
            <a:srgbClr val="E9EEFC"/>
          </a:solidFill>
          <a:ln w="1270">
            <a:solidFill>
              <a:srgbClr val="E9EEFC">
                <a:alpha val="0"/>
              </a:srgbClr>
            </a:solidFill>
            <a:prstDash val="solid"/>
          </a:ln>
        </p:spPr>
      </p:sp>
      <p:sp>
        <p:nvSpPr>
          <p:cNvPr id="14" name="Text 12"/>
          <p:cNvSpPr txBox="1"/>
          <p:nvPr/>
        </p:nvSpPr>
        <p:spPr>
          <a:xfrm>
            <a:off x="3182112" y="1815084"/>
            <a:ext cx="1207008" cy="256032"/>
          </a:xfrm>
          <a:prstGeom prst="rect">
            <a:avLst/>
          </a:prstGeom>
          <a:noFill/>
          <a:ln/>
        </p:spPr>
        <p:txBody>
          <a:bodyPr wrap="square" lIns="0" tIns="0" rIns="0" bIns="0" rtlCol="0" anchor="ctr">
            <a:normAutofit/>
          </a:bodyPr>
          <a:lstStyle/>
          <a:p>
            <a:pPr algn="ctr" indent="0" marL="0">
              <a:buNone/>
            </a:pPr>
            <a:r>
              <a:rPr lang="en-US" sz="870" b="1" dirty="0">
                <a:solidFill>
                  <a:srgbClr val="5478D4"/>
                </a:solidFill>
                <a:latin typeface="Inter" pitchFamily="34" charset="0"/>
                <a:ea typeface="Inter" pitchFamily="34" charset="-122"/>
                <a:cs typeface="Inter" pitchFamily="34" charset="-120"/>
              </a:rPr>
              <a:t>EXPERIMENT A</a:t>
            </a:r>
            <a:endParaRPr lang="en-US" sz="870" dirty="0"/>
          </a:p>
        </p:txBody>
      </p:sp>
      <p:sp>
        <p:nvSpPr>
          <p:cNvPr id="15" name="Shape 13"/>
          <p:cNvSpPr/>
          <p:nvPr/>
        </p:nvSpPr>
        <p:spPr>
          <a:xfrm>
            <a:off x="2999232" y="2167128"/>
            <a:ext cx="1929384" cy="1024128"/>
          </a:xfrm>
          <a:prstGeom prst="roundRect">
            <a:avLst>
              <a:gd name="adj" fmla="val 13393"/>
            </a:avLst>
          </a:prstGeom>
          <a:solidFill>
            <a:srgbClr val="FFFFFF"/>
          </a:solidFill>
          <a:ln w="10160">
            <a:solidFill>
              <a:srgbClr val="E0E7F0"/>
            </a:solidFill>
            <a:prstDash val="solid"/>
          </a:ln>
        </p:spPr>
      </p:sp>
      <p:sp>
        <p:nvSpPr>
          <p:cNvPr id="16" name="Text 14"/>
          <p:cNvSpPr txBox="1"/>
          <p:nvPr/>
        </p:nvSpPr>
        <p:spPr>
          <a:xfrm>
            <a:off x="3182112" y="2377440"/>
            <a:ext cx="1572768" cy="493776"/>
          </a:xfrm>
          <a:prstGeom prst="rect">
            <a:avLst/>
          </a:prstGeom>
          <a:noFill/>
          <a:ln/>
        </p:spPr>
        <p:txBody>
          <a:bodyPr wrap="square" lIns="0" tIns="0" rIns="0" bIns="0" rtlCol="0" anchor="ctr">
            <a:normAutofit/>
          </a:bodyPr>
          <a:lstStyle/>
          <a:p>
            <a:pPr algn="ctr" indent="0" marL="0">
              <a:buNone/>
            </a:pPr>
            <a:r>
              <a:rPr lang="en-US" sz="1400" b="1" dirty="0">
                <a:solidFill>
                  <a:srgbClr val="101A32"/>
                </a:solidFill>
                <a:latin typeface="Inter" pitchFamily="34" charset="0"/>
                <a:ea typeface="Inter" pitchFamily="34" charset="-122"/>
                <a:cs typeface="Inter" pitchFamily="34" charset="-120"/>
              </a:rPr>
              <a:t>Categorical</a:t>
            </a:r>
            <a:endParaRPr lang="en-US" sz="1400" dirty="0"/>
          </a:p>
          <a:p>
            <a:pPr algn="ctr" indent="0" marL="0">
              <a:buNone/>
            </a:pPr>
            <a:r>
              <a:rPr lang="en-US" sz="1400" b="1" dirty="0">
                <a:solidFill>
                  <a:srgbClr val="101A32"/>
                </a:solidFill>
                <a:latin typeface="Inter" pitchFamily="34" charset="0"/>
                <a:ea typeface="Inter" pitchFamily="34" charset="-122"/>
                <a:cs typeface="Inter" pitchFamily="34" charset="-120"/>
              </a:rPr>
              <a:t>encoding</a:t>
            </a:r>
            <a:endParaRPr lang="en-US" sz="1400" dirty="0"/>
          </a:p>
        </p:txBody>
      </p:sp>
      <p:sp>
        <p:nvSpPr>
          <p:cNvPr id="17" name="Shape 15"/>
          <p:cNvSpPr/>
          <p:nvPr/>
        </p:nvSpPr>
        <p:spPr>
          <a:xfrm>
            <a:off x="4928616" y="2679192"/>
            <a:ext cx="393192" cy="0"/>
          </a:xfrm>
          <a:prstGeom prst="line">
            <a:avLst/>
          </a:prstGeom>
          <a:noFill/>
          <a:ln w="20320">
            <a:solidFill>
              <a:srgbClr val="5478D4"/>
            </a:solidFill>
            <a:prstDash val="solid"/>
            <a:headEnd type="none"/>
            <a:tailEnd type="none"/>
          </a:ln>
        </p:spPr>
      </p:sp>
      <p:sp>
        <p:nvSpPr>
          <p:cNvPr id="18" name="Shape 16"/>
          <p:cNvSpPr/>
          <p:nvPr/>
        </p:nvSpPr>
        <p:spPr>
          <a:xfrm>
            <a:off x="5166360" y="2560320"/>
            <a:ext cx="210312" cy="237744"/>
          </a:xfrm>
          <a:prstGeom prst="chevron">
            <a:avLst/>
          </a:prstGeom>
          <a:solidFill>
            <a:srgbClr val="5478D4"/>
          </a:solidFill>
          <a:ln w="1270">
            <a:solidFill>
              <a:srgbClr val="5478D4"/>
            </a:solidFill>
            <a:prstDash val="solid"/>
          </a:ln>
        </p:spPr>
      </p:sp>
      <p:sp>
        <p:nvSpPr>
          <p:cNvPr id="19" name="Shape 17"/>
          <p:cNvSpPr/>
          <p:nvPr/>
        </p:nvSpPr>
        <p:spPr>
          <a:xfrm>
            <a:off x="5376672" y="2167128"/>
            <a:ext cx="2039112" cy="1024128"/>
          </a:xfrm>
          <a:prstGeom prst="roundRect">
            <a:avLst>
              <a:gd name="adj" fmla="val 13393"/>
            </a:avLst>
          </a:prstGeom>
          <a:solidFill>
            <a:srgbClr val="E9EEFC"/>
          </a:solidFill>
          <a:ln w="10160">
            <a:solidFill>
              <a:srgbClr val="D8E1FA"/>
            </a:solidFill>
            <a:prstDash val="solid"/>
          </a:ln>
        </p:spPr>
      </p:sp>
      <p:sp>
        <p:nvSpPr>
          <p:cNvPr id="20" name="Text 18"/>
          <p:cNvSpPr txBox="1"/>
          <p:nvPr/>
        </p:nvSpPr>
        <p:spPr>
          <a:xfrm>
            <a:off x="5596128" y="2377440"/>
            <a:ext cx="1600200" cy="493776"/>
          </a:xfrm>
          <a:prstGeom prst="rect">
            <a:avLst/>
          </a:prstGeom>
          <a:noFill/>
          <a:ln/>
        </p:spPr>
        <p:txBody>
          <a:bodyPr wrap="square" lIns="0" tIns="0" rIns="0" bIns="0" rtlCol="0" anchor="ctr">
            <a:normAutofit/>
          </a:bodyPr>
          <a:lstStyle/>
          <a:p>
            <a:pPr algn="ctr" indent="0" marL="0">
              <a:buNone/>
            </a:pPr>
            <a:r>
              <a:rPr lang="en-US" sz="1400" b="1" dirty="0">
                <a:solidFill>
                  <a:srgbClr val="101A32"/>
                </a:solidFill>
                <a:latin typeface="Inter" pitchFamily="34" charset="0"/>
                <a:ea typeface="Inter" pitchFamily="34" charset="-122"/>
                <a:cs typeface="Inter" pitchFamily="34" charset="-120"/>
              </a:rPr>
              <a:t>Linear</a:t>
            </a:r>
            <a:endParaRPr lang="en-US" sz="1400" dirty="0"/>
          </a:p>
          <a:p>
            <a:pPr algn="ctr" indent="0" marL="0">
              <a:buNone/>
            </a:pPr>
            <a:r>
              <a:rPr lang="en-US" sz="1400" b="1" dirty="0">
                <a:solidFill>
                  <a:srgbClr val="101A32"/>
                </a:solidFill>
                <a:latin typeface="Inter" pitchFamily="34" charset="0"/>
                <a:ea typeface="Inter" pitchFamily="34" charset="-122"/>
                <a:cs typeface="Inter" pitchFamily="34" charset="-120"/>
              </a:rPr>
              <a:t>Regression</a:t>
            </a:r>
            <a:endParaRPr lang="en-US" sz="1400" dirty="0"/>
          </a:p>
        </p:txBody>
      </p:sp>
      <p:sp>
        <p:nvSpPr>
          <p:cNvPr id="21" name="Shape 19"/>
          <p:cNvSpPr/>
          <p:nvPr/>
        </p:nvSpPr>
        <p:spPr>
          <a:xfrm>
            <a:off x="7415784" y="2679192"/>
            <a:ext cx="402336" cy="0"/>
          </a:xfrm>
          <a:prstGeom prst="line">
            <a:avLst/>
          </a:prstGeom>
          <a:noFill/>
          <a:ln w="20320">
            <a:solidFill>
              <a:srgbClr val="5478D4"/>
            </a:solidFill>
            <a:prstDash val="solid"/>
            <a:headEnd type="none"/>
            <a:tailEnd type="none"/>
          </a:ln>
        </p:spPr>
      </p:sp>
      <p:sp>
        <p:nvSpPr>
          <p:cNvPr id="22" name="Shape 20"/>
          <p:cNvSpPr/>
          <p:nvPr/>
        </p:nvSpPr>
        <p:spPr>
          <a:xfrm>
            <a:off x="7662672" y="2560320"/>
            <a:ext cx="210312" cy="237744"/>
          </a:xfrm>
          <a:prstGeom prst="chevron">
            <a:avLst/>
          </a:prstGeom>
          <a:solidFill>
            <a:srgbClr val="5478D4"/>
          </a:solidFill>
          <a:ln w="1270">
            <a:solidFill>
              <a:srgbClr val="5478D4"/>
            </a:solidFill>
            <a:prstDash val="solid"/>
          </a:ln>
        </p:spPr>
      </p:sp>
      <p:sp>
        <p:nvSpPr>
          <p:cNvPr id="23" name="Shape 21"/>
          <p:cNvSpPr/>
          <p:nvPr/>
        </p:nvSpPr>
        <p:spPr>
          <a:xfrm>
            <a:off x="7872984" y="2167128"/>
            <a:ext cx="1517904" cy="1024128"/>
          </a:xfrm>
          <a:prstGeom prst="roundRect">
            <a:avLst>
              <a:gd name="adj" fmla="val 13393"/>
            </a:avLst>
          </a:prstGeom>
          <a:solidFill>
            <a:srgbClr val="FFFFFF"/>
          </a:solidFill>
          <a:ln w="10160">
            <a:solidFill>
              <a:srgbClr val="E0E7F0"/>
            </a:solidFill>
            <a:prstDash val="solid"/>
          </a:ln>
        </p:spPr>
      </p:sp>
      <p:sp>
        <p:nvSpPr>
          <p:cNvPr id="24" name="Text 22"/>
          <p:cNvSpPr txBox="1"/>
          <p:nvPr/>
        </p:nvSpPr>
        <p:spPr>
          <a:xfrm>
            <a:off x="8083296" y="2441448"/>
            <a:ext cx="1097280" cy="274320"/>
          </a:xfrm>
          <a:prstGeom prst="rect">
            <a:avLst/>
          </a:prstGeom>
          <a:noFill/>
          <a:ln/>
        </p:spPr>
        <p:txBody>
          <a:bodyPr wrap="square" lIns="0" tIns="0" rIns="0" bIns="0" rtlCol="0" anchor="ctr">
            <a:normAutofit/>
          </a:bodyPr>
          <a:lstStyle/>
          <a:p>
            <a:pPr algn="ctr" indent="0" marL="0">
              <a:buNone/>
            </a:pPr>
            <a:r>
              <a:rPr lang="en-US" sz="1700" b="1" dirty="0">
                <a:solidFill>
                  <a:srgbClr val="5478D4"/>
                </a:solidFill>
                <a:latin typeface="Inter" pitchFamily="34" charset="0"/>
                <a:ea typeface="Inter" pitchFamily="34" charset="-122"/>
                <a:cs typeface="Inter" pitchFamily="34" charset="-120"/>
              </a:rPr>
              <a:t>RMSE</a:t>
            </a:r>
            <a:endParaRPr lang="en-US" sz="1700" dirty="0"/>
          </a:p>
        </p:txBody>
      </p:sp>
      <p:sp>
        <p:nvSpPr>
          <p:cNvPr id="25" name="Text 23"/>
          <p:cNvSpPr txBox="1"/>
          <p:nvPr/>
        </p:nvSpPr>
        <p:spPr>
          <a:xfrm>
            <a:off x="9646920" y="2377440"/>
            <a:ext cx="1572768" cy="310896"/>
          </a:xfrm>
          <a:prstGeom prst="rect">
            <a:avLst/>
          </a:prstGeom>
          <a:noFill/>
          <a:ln/>
        </p:spPr>
        <p:txBody>
          <a:bodyPr wrap="square" lIns="0" tIns="0" rIns="0" bIns="0" rtlCol="0" anchor="ctr">
            <a:normAutofit/>
          </a:bodyPr>
          <a:lstStyle/>
          <a:p>
            <a:pPr algn="l" indent="0" marL="0">
              <a:buNone/>
            </a:pPr>
            <a:r>
              <a:rPr lang="en-US" sz="1250" b="1" dirty="0">
                <a:solidFill>
                  <a:srgbClr val="65738A"/>
                </a:solidFill>
                <a:latin typeface="Inter" pitchFamily="34" charset="0"/>
                <a:ea typeface="Inter" pitchFamily="34" charset="-122"/>
                <a:cs typeface="Inter" pitchFamily="34" charset="-120"/>
              </a:rPr>
              <a:t>No crossing</a:t>
            </a:r>
            <a:endParaRPr lang="en-US" sz="1250" dirty="0"/>
          </a:p>
        </p:txBody>
      </p:sp>
      <p:sp>
        <p:nvSpPr>
          <p:cNvPr id="26" name="Text 24"/>
          <p:cNvSpPr txBox="1"/>
          <p:nvPr/>
        </p:nvSpPr>
        <p:spPr>
          <a:xfrm>
            <a:off x="9646920" y="2724912"/>
            <a:ext cx="1600200" cy="475488"/>
          </a:xfrm>
          <a:prstGeom prst="rect">
            <a:avLst/>
          </a:prstGeom>
          <a:noFill/>
          <a:ln/>
        </p:spPr>
        <p:txBody>
          <a:bodyPr wrap="square" lIns="0" tIns="0" rIns="0" bIns="0" rtlCol="0" anchor="t">
            <a:normAutofit/>
          </a:bodyPr>
          <a:lstStyle/>
          <a:p>
            <a:pPr algn="l" indent="0" marL="0">
              <a:buNone/>
            </a:pPr>
            <a:r>
              <a:rPr lang="en-US" sz="1000" dirty="0">
                <a:solidFill>
                  <a:srgbClr val="65738A"/>
                </a:solidFill>
                <a:latin typeface="Inter" pitchFamily="34" charset="0"/>
                <a:ea typeface="Inter" pitchFamily="34" charset="-122"/>
                <a:cs typeface="Inter" pitchFamily="34" charset="-120"/>
              </a:rPr>
              <a:t>Prefix and type enter as separate categorical features.</a:t>
            </a:r>
            <a:endParaRPr lang="en-US" sz="1000" dirty="0"/>
          </a:p>
        </p:txBody>
      </p:sp>
      <p:sp>
        <p:nvSpPr>
          <p:cNvPr id="27" name="Shape 25"/>
          <p:cNvSpPr/>
          <p:nvPr/>
        </p:nvSpPr>
        <p:spPr>
          <a:xfrm>
            <a:off x="3108960" y="3785616"/>
            <a:ext cx="1353312" cy="283464"/>
          </a:xfrm>
          <a:prstGeom prst="roundRect">
            <a:avLst>
              <a:gd name="adj" fmla="val 38710"/>
            </a:avLst>
          </a:prstGeom>
          <a:solidFill>
            <a:srgbClr val="FFF2DE"/>
          </a:solidFill>
          <a:ln w="1270">
            <a:solidFill>
              <a:srgbClr val="FFF2DE">
                <a:alpha val="0"/>
              </a:srgbClr>
            </a:solidFill>
            <a:prstDash val="solid"/>
          </a:ln>
        </p:spPr>
      </p:sp>
      <p:sp>
        <p:nvSpPr>
          <p:cNvPr id="28" name="Text 26"/>
          <p:cNvSpPr txBox="1"/>
          <p:nvPr/>
        </p:nvSpPr>
        <p:spPr>
          <a:xfrm>
            <a:off x="3182112" y="3799332"/>
            <a:ext cx="1207008" cy="256032"/>
          </a:xfrm>
          <a:prstGeom prst="rect">
            <a:avLst/>
          </a:prstGeom>
          <a:noFill/>
          <a:ln/>
        </p:spPr>
        <p:txBody>
          <a:bodyPr wrap="square" lIns="0" tIns="0" rIns="0" bIns="0" rtlCol="0" anchor="ctr">
            <a:normAutofit/>
          </a:bodyPr>
          <a:lstStyle/>
          <a:p>
            <a:pPr algn="ctr" indent="0" marL="0">
              <a:buNone/>
            </a:pPr>
            <a:r>
              <a:rPr lang="en-US" sz="870" b="1" dirty="0">
                <a:solidFill>
                  <a:srgbClr val="B57612"/>
                </a:solidFill>
                <a:latin typeface="Inter" pitchFamily="34" charset="0"/>
                <a:ea typeface="Inter" pitchFamily="34" charset="-122"/>
                <a:cs typeface="Inter" pitchFamily="34" charset="-120"/>
              </a:rPr>
              <a:t>EXPERIMENT B</a:t>
            </a:r>
            <a:endParaRPr lang="en-US" sz="870" dirty="0"/>
          </a:p>
        </p:txBody>
      </p:sp>
      <p:sp>
        <p:nvSpPr>
          <p:cNvPr id="29" name="Shape 27"/>
          <p:cNvSpPr/>
          <p:nvPr/>
        </p:nvSpPr>
        <p:spPr>
          <a:xfrm>
            <a:off x="2999232" y="4160520"/>
            <a:ext cx="1929384" cy="1024128"/>
          </a:xfrm>
          <a:prstGeom prst="roundRect">
            <a:avLst>
              <a:gd name="adj" fmla="val 13393"/>
            </a:avLst>
          </a:prstGeom>
          <a:solidFill>
            <a:srgbClr val="FFFFFF"/>
          </a:solidFill>
          <a:ln w="10160">
            <a:solidFill>
              <a:srgbClr val="E0E7F0"/>
            </a:solidFill>
            <a:prstDash val="solid"/>
          </a:ln>
        </p:spPr>
      </p:sp>
      <p:sp>
        <p:nvSpPr>
          <p:cNvPr id="30" name="Text 28"/>
          <p:cNvSpPr txBox="1"/>
          <p:nvPr/>
        </p:nvSpPr>
        <p:spPr>
          <a:xfrm>
            <a:off x="3172968" y="4361688"/>
            <a:ext cx="1591056" cy="493776"/>
          </a:xfrm>
          <a:prstGeom prst="rect">
            <a:avLst/>
          </a:prstGeom>
          <a:noFill/>
          <a:ln/>
        </p:spPr>
        <p:txBody>
          <a:bodyPr wrap="square" lIns="0" tIns="0" rIns="0" bIns="0" rtlCol="0" anchor="ctr">
            <a:normAutofit/>
          </a:bodyPr>
          <a:lstStyle/>
          <a:p>
            <a:pPr algn="ctr" indent="0" marL="0">
              <a:buNone/>
            </a:pPr>
            <a:r>
              <a:rPr lang="en-US" sz="1350" b="1" dirty="0">
                <a:solidFill>
                  <a:srgbClr val="101A32"/>
                </a:solidFill>
                <a:latin typeface="Inter" pitchFamily="34" charset="0"/>
                <a:ea typeface="Inter" pitchFamily="34" charset="-122"/>
                <a:cs typeface="Inter" pitchFamily="34" charset="-120"/>
              </a:rPr>
              <a:t>Add prefix × type</a:t>
            </a:r>
            <a:endParaRPr lang="en-US" sz="1350" dirty="0"/>
          </a:p>
          <a:p>
            <a:pPr algn="ctr" indent="0" marL="0">
              <a:buNone/>
            </a:pPr>
            <a:r>
              <a:rPr lang="en-US" sz="1350" b="1" dirty="0">
                <a:solidFill>
                  <a:srgbClr val="101A32"/>
                </a:solidFill>
                <a:latin typeface="Inter" pitchFamily="34" charset="0"/>
                <a:ea typeface="Inter" pitchFamily="34" charset="-122"/>
                <a:cs typeface="Inter" pitchFamily="34" charset="-120"/>
              </a:rPr>
              <a:t>feature</a:t>
            </a:r>
            <a:endParaRPr lang="en-US" sz="1350" dirty="0"/>
          </a:p>
        </p:txBody>
      </p:sp>
      <p:sp>
        <p:nvSpPr>
          <p:cNvPr id="31" name="Shape 29"/>
          <p:cNvSpPr/>
          <p:nvPr/>
        </p:nvSpPr>
        <p:spPr>
          <a:xfrm>
            <a:off x="4928616" y="4672584"/>
            <a:ext cx="393192" cy="0"/>
          </a:xfrm>
          <a:prstGeom prst="line">
            <a:avLst/>
          </a:prstGeom>
          <a:noFill/>
          <a:ln w="20320">
            <a:solidFill>
              <a:srgbClr val="F2A541"/>
            </a:solidFill>
            <a:prstDash val="solid"/>
            <a:headEnd type="none"/>
            <a:tailEnd type="none"/>
          </a:ln>
        </p:spPr>
      </p:sp>
      <p:sp>
        <p:nvSpPr>
          <p:cNvPr id="32" name="Shape 30"/>
          <p:cNvSpPr/>
          <p:nvPr/>
        </p:nvSpPr>
        <p:spPr>
          <a:xfrm>
            <a:off x="5166360" y="4553712"/>
            <a:ext cx="210312" cy="237744"/>
          </a:xfrm>
          <a:prstGeom prst="chevron">
            <a:avLst/>
          </a:prstGeom>
          <a:solidFill>
            <a:srgbClr val="F2A541"/>
          </a:solidFill>
          <a:ln w="1270">
            <a:solidFill>
              <a:srgbClr val="F2A541"/>
            </a:solidFill>
            <a:prstDash val="solid"/>
          </a:ln>
        </p:spPr>
      </p:sp>
      <p:sp>
        <p:nvSpPr>
          <p:cNvPr id="33" name="Shape 31"/>
          <p:cNvSpPr/>
          <p:nvPr/>
        </p:nvSpPr>
        <p:spPr>
          <a:xfrm>
            <a:off x="5376672" y="4160520"/>
            <a:ext cx="2039112" cy="1024128"/>
          </a:xfrm>
          <a:prstGeom prst="roundRect">
            <a:avLst>
              <a:gd name="adj" fmla="val 13393"/>
            </a:avLst>
          </a:prstGeom>
          <a:solidFill>
            <a:srgbClr val="FFF2DE"/>
          </a:solidFill>
          <a:ln w="10160">
            <a:solidFill>
              <a:srgbClr val="F4E0BD"/>
            </a:solidFill>
            <a:prstDash val="solid"/>
          </a:ln>
        </p:spPr>
      </p:sp>
      <p:sp>
        <p:nvSpPr>
          <p:cNvPr id="34" name="Text 32"/>
          <p:cNvSpPr txBox="1"/>
          <p:nvPr/>
        </p:nvSpPr>
        <p:spPr>
          <a:xfrm>
            <a:off x="5596128" y="4361688"/>
            <a:ext cx="1600200" cy="493776"/>
          </a:xfrm>
          <a:prstGeom prst="rect">
            <a:avLst/>
          </a:prstGeom>
          <a:noFill/>
          <a:ln/>
        </p:spPr>
        <p:txBody>
          <a:bodyPr wrap="square" lIns="0" tIns="0" rIns="0" bIns="0" rtlCol="0" anchor="ctr">
            <a:normAutofit/>
          </a:bodyPr>
          <a:lstStyle/>
          <a:p>
            <a:pPr algn="ctr" indent="0" marL="0">
              <a:buNone/>
            </a:pPr>
            <a:r>
              <a:rPr lang="en-US" sz="1400" b="1" dirty="0">
                <a:solidFill>
                  <a:srgbClr val="101A32"/>
                </a:solidFill>
                <a:latin typeface="Inter" pitchFamily="34" charset="0"/>
                <a:ea typeface="Inter" pitchFamily="34" charset="-122"/>
                <a:cs typeface="Inter" pitchFamily="34" charset="-120"/>
              </a:rPr>
              <a:t>Linear</a:t>
            </a:r>
            <a:endParaRPr lang="en-US" sz="1400" dirty="0"/>
          </a:p>
          <a:p>
            <a:pPr algn="ctr" indent="0" marL="0">
              <a:buNone/>
            </a:pPr>
            <a:r>
              <a:rPr lang="en-US" sz="1400" b="1" dirty="0">
                <a:solidFill>
                  <a:srgbClr val="101A32"/>
                </a:solidFill>
                <a:latin typeface="Inter" pitchFamily="34" charset="0"/>
                <a:ea typeface="Inter" pitchFamily="34" charset="-122"/>
                <a:cs typeface="Inter" pitchFamily="34" charset="-120"/>
              </a:rPr>
              <a:t>Regression</a:t>
            </a:r>
            <a:endParaRPr lang="en-US" sz="1400" dirty="0"/>
          </a:p>
        </p:txBody>
      </p:sp>
      <p:sp>
        <p:nvSpPr>
          <p:cNvPr id="35" name="Shape 33"/>
          <p:cNvSpPr/>
          <p:nvPr/>
        </p:nvSpPr>
        <p:spPr>
          <a:xfrm>
            <a:off x="7415784" y="4672584"/>
            <a:ext cx="402336" cy="0"/>
          </a:xfrm>
          <a:prstGeom prst="line">
            <a:avLst/>
          </a:prstGeom>
          <a:noFill/>
          <a:ln w="20320">
            <a:solidFill>
              <a:srgbClr val="F2A541"/>
            </a:solidFill>
            <a:prstDash val="solid"/>
            <a:headEnd type="none"/>
            <a:tailEnd type="none"/>
          </a:ln>
        </p:spPr>
      </p:sp>
      <p:sp>
        <p:nvSpPr>
          <p:cNvPr id="36" name="Shape 34"/>
          <p:cNvSpPr/>
          <p:nvPr/>
        </p:nvSpPr>
        <p:spPr>
          <a:xfrm>
            <a:off x="7662672" y="4553712"/>
            <a:ext cx="210312" cy="237744"/>
          </a:xfrm>
          <a:prstGeom prst="chevron">
            <a:avLst/>
          </a:prstGeom>
          <a:solidFill>
            <a:srgbClr val="F2A541"/>
          </a:solidFill>
          <a:ln w="1270">
            <a:solidFill>
              <a:srgbClr val="F2A541"/>
            </a:solidFill>
            <a:prstDash val="solid"/>
          </a:ln>
        </p:spPr>
      </p:sp>
      <p:sp>
        <p:nvSpPr>
          <p:cNvPr id="37" name="Shape 35"/>
          <p:cNvSpPr/>
          <p:nvPr/>
        </p:nvSpPr>
        <p:spPr>
          <a:xfrm>
            <a:off x="7872984" y="4160520"/>
            <a:ext cx="1517904" cy="1024128"/>
          </a:xfrm>
          <a:prstGeom prst="roundRect">
            <a:avLst>
              <a:gd name="adj" fmla="val 13393"/>
            </a:avLst>
          </a:prstGeom>
          <a:solidFill>
            <a:srgbClr val="FFFFFF"/>
          </a:solidFill>
          <a:ln w="10160">
            <a:solidFill>
              <a:srgbClr val="E0E7F0"/>
            </a:solidFill>
            <a:prstDash val="solid"/>
          </a:ln>
        </p:spPr>
      </p:sp>
      <p:sp>
        <p:nvSpPr>
          <p:cNvPr id="38" name="Text 36"/>
          <p:cNvSpPr txBox="1"/>
          <p:nvPr/>
        </p:nvSpPr>
        <p:spPr>
          <a:xfrm>
            <a:off x="8083296" y="4434840"/>
            <a:ext cx="1097280" cy="274320"/>
          </a:xfrm>
          <a:prstGeom prst="rect">
            <a:avLst/>
          </a:prstGeom>
          <a:noFill/>
          <a:ln/>
        </p:spPr>
        <p:txBody>
          <a:bodyPr wrap="square" lIns="0" tIns="0" rIns="0" bIns="0" rtlCol="0" anchor="ctr">
            <a:normAutofit/>
          </a:bodyPr>
          <a:lstStyle/>
          <a:p>
            <a:pPr algn="ctr" indent="0" marL="0">
              <a:buNone/>
            </a:pPr>
            <a:r>
              <a:rPr lang="en-US" sz="1700" b="1" dirty="0">
                <a:solidFill>
                  <a:srgbClr val="B57612"/>
                </a:solidFill>
                <a:latin typeface="Inter" pitchFamily="34" charset="0"/>
                <a:ea typeface="Inter" pitchFamily="34" charset="-122"/>
                <a:cs typeface="Inter" pitchFamily="34" charset="-120"/>
              </a:rPr>
              <a:t>RMSE</a:t>
            </a:r>
            <a:endParaRPr lang="en-US" sz="1700" dirty="0"/>
          </a:p>
        </p:txBody>
      </p:sp>
      <p:sp>
        <p:nvSpPr>
          <p:cNvPr id="39" name="Text 37"/>
          <p:cNvSpPr txBox="1"/>
          <p:nvPr/>
        </p:nvSpPr>
        <p:spPr>
          <a:xfrm>
            <a:off x="9646920" y="4370832"/>
            <a:ext cx="1572768" cy="310896"/>
          </a:xfrm>
          <a:prstGeom prst="rect">
            <a:avLst/>
          </a:prstGeom>
          <a:noFill/>
          <a:ln/>
        </p:spPr>
        <p:txBody>
          <a:bodyPr wrap="square" lIns="0" tIns="0" rIns="0" bIns="0" rtlCol="0" anchor="ctr">
            <a:normAutofit/>
          </a:bodyPr>
          <a:lstStyle/>
          <a:p>
            <a:pPr algn="l" indent="0" marL="0">
              <a:buNone/>
            </a:pPr>
            <a:r>
              <a:rPr lang="en-US" sz="1250" b="1" dirty="0">
                <a:solidFill>
                  <a:srgbClr val="65738A"/>
                </a:solidFill>
                <a:latin typeface="Inter" pitchFamily="34" charset="0"/>
                <a:ea typeface="Inter" pitchFamily="34" charset="-122"/>
                <a:cs typeface="Inter" pitchFamily="34" charset="-120"/>
              </a:rPr>
              <a:t>With crossing</a:t>
            </a:r>
            <a:endParaRPr lang="en-US" sz="1250" dirty="0"/>
          </a:p>
        </p:txBody>
      </p:sp>
      <p:sp>
        <p:nvSpPr>
          <p:cNvPr id="40" name="Text 38"/>
          <p:cNvSpPr txBox="1"/>
          <p:nvPr/>
        </p:nvSpPr>
        <p:spPr>
          <a:xfrm>
            <a:off x="9646920" y="4718304"/>
            <a:ext cx="1627632" cy="475488"/>
          </a:xfrm>
          <a:prstGeom prst="rect">
            <a:avLst/>
          </a:prstGeom>
          <a:noFill/>
          <a:ln/>
        </p:spPr>
        <p:txBody>
          <a:bodyPr wrap="square" lIns="0" tIns="0" rIns="0" bIns="0" rtlCol="0" anchor="t">
            <a:normAutofit/>
          </a:bodyPr>
          <a:lstStyle/>
          <a:p>
            <a:pPr algn="l" indent="0" marL="0">
              <a:buNone/>
            </a:pPr>
            <a:r>
              <a:rPr lang="en-US" sz="1000" dirty="0">
                <a:solidFill>
                  <a:srgbClr val="65738A"/>
                </a:solidFill>
                <a:latin typeface="Inter" pitchFamily="34" charset="0"/>
                <a:ea typeface="Inter" pitchFamily="34" charset="-122"/>
                <a:cs typeface="Inter" pitchFamily="34" charset="-120"/>
              </a:rPr>
              <a:t>Example: src/main × JAVA becomes its own feature.</a:t>
            </a:r>
            <a:endParaRPr lang="en-US" sz="1000" dirty="0"/>
          </a:p>
        </p:txBody>
      </p:sp>
      <p:sp>
        <p:nvSpPr>
          <p:cNvPr id="41" name="Shape 39"/>
          <p:cNvSpPr/>
          <p:nvPr/>
        </p:nvSpPr>
        <p:spPr>
          <a:xfrm>
            <a:off x="2706624" y="2679192"/>
            <a:ext cx="292608" cy="0"/>
          </a:xfrm>
          <a:prstGeom prst="line">
            <a:avLst/>
          </a:prstGeom>
          <a:noFill/>
          <a:ln w="16510">
            <a:solidFill>
              <a:srgbClr val="7B8AA2"/>
            </a:solidFill>
            <a:prstDash val="solid"/>
            <a:headEnd type="none"/>
            <a:tailEnd type="none"/>
          </a:ln>
        </p:spPr>
      </p:sp>
      <p:sp>
        <p:nvSpPr>
          <p:cNvPr id="42" name="Shape 40"/>
          <p:cNvSpPr/>
          <p:nvPr/>
        </p:nvSpPr>
        <p:spPr>
          <a:xfrm>
            <a:off x="2706624" y="4672584"/>
            <a:ext cx="292608" cy="0"/>
          </a:xfrm>
          <a:prstGeom prst="line">
            <a:avLst/>
          </a:prstGeom>
          <a:noFill/>
          <a:ln w="16510">
            <a:solidFill>
              <a:srgbClr val="7B8AA2"/>
            </a:solidFill>
            <a:prstDash val="solid"/>
            <a:headEnd type="none"/>
            <a:tailEnd type="none"/>
          </a:ln>
        </p:spPr>
      </p:sp>
      <p:sp>
        <p:nvSpPr>
          <p:cNvPr id="43" name="Shape 41"/>
          <p:cNvSpPr/>
          <p:nvPr/>
        </p:nvSpPr>
        <p:spPr>
          <a:xfrm>
            <a:off x="667512" y="5623560"/>
            <a:ext cx="10917936" cy="502920"/>
          </a:xfrm>
          <a:prstGeom prst="roundRect">
            <a:avLst>
              <a:gd name="adj" fmla="val 23636"/>
            </a:avLst>
          </a:prstGeom>
          <a:solidFill>
            <a:srgbClr val="FFFFFF"/>
          </a:solidFill>
          <a:ln w="10160">
            <a:solidFill>
              <a:srgbClr val="E0E7F0"/>
            </a:solidFill>
            <a:prstDash val="solid"/>
          </a:ln>
        </p:spPr>
      </p:sp>
      <p:sp>
        <p:nvSpPr>
          <p:cNvPr id="44" name="Text 42"/>
          <p:cNvSpPr txBox="1"/>
          <p:nvPr/>
        </p:nvSpPr>
        <p:spPr>
          <a:xfrm>
            <a:off x="877824" y="5779008"/>
            <a:ext cx="1463040" cy="164592"/>
          </a:xfrm>
          <a:prstGeom prst="rect">
            <a:avLst/>
          </a:prstGeom>
          <a:noFill/>
          <a:ln/>
        </p:spPr>
        <p:txBody>
          <a:bodyPr wrap="square" lIns="0" tIns="0" rIns="0" bIns="0" rtlCol="0" anchor="ctr">
            <a:normAutofit/>
          </a:bodyPr>
          <a:lstStyle/>
          <a:p>
            <a:pPr algn="l" indent="0" marL="0">
              <a:buNone/>
            </a:pPr>
            <a:r>
              <a:rPr lang="en-US" sz="930" b="1" dirty="0">
                <a:solidFill>
                  <a:srgbClr val="65738A"/>
                </a:solidFill>
                <a:latin typeface="Inter" pitchFamily="34" charset="0"/>
                <a:ea typeface="Inter" pitchFamily="34" charset="-122"/>
                <a:cs typeface="Inter" pitchFamily="34" charset="-120"/>
              </a:rPr>
              <a:t>Reference settings</a:t>
            </a:r>
            <a:endParaRPr lang="en-US" sz="930" dirty="0"/>
          </a:p>
        </p:txBody>
      </p:sp>
      <p:sp>
        <p:nvSpPr>
          <p:cNvPr id="45" name="Shape 43"/>
          <p:cNvSpPr/>
          <p:nvPr/>
        </p:nvSpPr>
        <p:spPr>
          <a:xfrm>
            <a:off x="2450592" y="5715000"/>
            <a:ext cx="621792" cy="274320"/>
          </a:xfrm>
          <a:prstGeom prst="roundRect">
            <a:avLst>
              <a:gd name="adj" fmla="val 40000"/>
            </a:avLst>
          </a:prstGeom>
          <a:solidFill>
            <a:srgbClr val="EDF1F7"/>
          </a:solidFill>
          <a:ln w="1270">
            <a:solidFill>
              <a:srgbClr val="EDF1F7">
                <a:alpha val="0"/>
              </a:srgbClr>
            </a:solidFill>
            <a:prstDash val="solid"/>
          </a:ln>
        </p:spPr>
      </p:sp>
      <p:sp>
        <p:nvSpPr>
          <p:cNvPr id="46" name="Text 44"/>
          <p:cNvSpPr txBox="1"/>
          <p:nvPr/>
        </p:nvSpPr>
        <p:spPr>
          <a:xfrm>
            <a:off x="2523744" y="5728716"/>
            <a:ext cx="475488" cy="246888"/>
          </a:xfrm>
          <a:prstGeom prst="rect">
            <a:avLst/>
          </a:prstGeom>
          <a:noFill/>
          <a:ln/>
        </p:spPr>
        <p:txBody>
          <a:bodyPr wrap="square" lIns="0" tIns="0" rIns="0" bIns="0" rtlCol="0" anchor="ctr">
            <a:normAutofit/>
          </a:bodyPr>
          <a:lstStyle/>
          <a:p>
            <a:pPr algn="ctr" indent="0" marL="0">
              <a:buNone/>
            </a:pPr>
            <a:r>
              <a:rPr lang="en-US" sz="850" b="1" dirty="0">
                <a:solidFill>
                  <a:srgbClr val="101A32"/>
                </a:solidFill>
                <a:latin typeface="Inter" pitchFamily="34" charset="0"/>
                <a:ea typeface="Inter" pitchFamily="34" charset="-122"/>
                <a:cs typeface="Inter" pitchFamily="34" charset="-120"/>
              </a:rPr>
              <a:t>SGD</a:t>
            </a:r>
            <a:endParaRPr lang="en-US" sz="850" dirty="0"/>
          </a:p>
        </p:txBody>
      </p:sp>
      <p:sp>
        <p:nvSpPr>
          <p:cNvPr id="47" name="Shape 45"/>
          <p:cNvSpPr/>
          <p:nvPr/>
        </p:nvSpPr>
        <p:spPr>
          <a:xfrm>
            <a:off x="3200400" y="5715000"/>
            <a:ext cx="1581912" cy="274320"/>
          </a:xfrm>
          <a:prstGeom prst="roundRect">
            <a:avLst>
              <a:gd name="adj" fmla="val 40000"/>
            </a:avLst>
          </a:prstGeom>
          <a:solidFill>
            <a:srgbClr val="EDF1F7"/>
          </a:solidFill>
          <a:ln w="1270">
            <a:solidFill>
              <a:srgbClr val="EDF1F7">
                <a:alpha val="0"/>
              </a:srgbClr>
            </a:solidFill>
            <a:prstDash val="solid"/>
          </a:ln>
        </p:spPr>
      </p:sp>
      <p:sp>
        <p:nvSpPr>
          <p:cNvPr id="48" name="Text 46"/>
          <p:cNvSpPr txBox="1"/>
          <p:nvPr/>
        </p:nvSpPr>
        <p:spPr>
          <a:xfrm>
            <a:off x="3273552" y="5728716"/>
            <a:ext cx="1435608" cy="246888"/>
          </a:xfrm>
          <a:prstGeom prst="rect">
            <a:avLst/>
          </a:prstGeom>
          <a:noFill/>
          <a:ln/>
        </p:spPr>
        <p:txBody>
          <a:bodyPr wrap="square" lIns="0" tIns="0" rIns="0" bIns="0" rtlCol="0" anchor="ctr">
            <a:normAutofit/>
          </a:bodyPr>
          <a:lstStyle/>
          <a:p>
            <a:pPr algn="ctr" indent="0" marL="0">
              <a:buNone/>
            </a:pPr>
            <a:r>
              <a:rPr lang="en-US" sz="850" b="1" dirty="0">
                <a:solidFill>
                  <a:srgbClr val="101A32"/>
                </a:solidFill>
                <a:latin typeface="Inter" pitchFamily="34" charset="0"/>
                <a:ea typeface="Inter" pitchFamily="34" charset="-122"/>
                <a:cs typeface="Inter" pitchFamily="34" charset="-120"/>
              </a:rPr>
              <a:t>Learning rate 0.01</a:t>
            </a:r>
            <a:endParaRPr lang="en-US" sz="850" dirty="0"/>
          </a:p>
        </p:txBody>
      </p:sp>
      <p:sp>
        <p:nvSpPr>
          <p:cNvPr id="49" name="Shape 47"/>
          <p:cNvSpPr/>
          <p:nvPr/>
        </p:nvSpPr>
        <p:spPr>
          <a:xfrm>
            <a:off x="4937760" y="5715000"/>
            <a:ext cx="1234440" cy="274320"/>
          </a:xfrm>
          <a:prstGeom prst="roundRect">
            <a:avLst>
              <a:gd name="adj" fmla="val 40000"/>
            </a:avLst>
          </a:prstGeom>
          <a:solidFill>
            <a:srgbClr val="EDF1F7"/>
          </a:solidFill>
          <a:ln w="1270">
            <a:solidFill>
              <a:srgbClr val="EDF1F7">
                <a:alpha val="0"/>
              </a:srgbClr>
            </a:solidFill>
            <a:prstDash val="solid"/>
          </a:ln>
        </p:spPr>
      </p:sp>
      <p:sp>
        <p:nvSpPr>
          <p:cNvPr id="50" name="Text 48"/>
          <p:cNvSpPr txBox="1"/>
          <p:nvPr/>
        </p:nvSpPr>
        <p:spPr>
          <a:xfrm>
            <a:off x="5010912" y="5728716"/>
            <a:ext cx="1088136" cy="246888"/>
          </a:xfrm>
          <a:prstGeom prst="rect">
            <a:avLst/>
          </a:prstGeom>
          <a:noFill/>
          <a:ln/>
        </p:spPr>
        <p:txBody>
          <a:bodyPr wrap="square" lIns="0" tIns="0" rIns="0" bIns="0" rtlCol="0" anchor="ctr">
            <a:normAutofit/>
          </a:bodyPr>
          <a:lstStyle/>
          <a:p>
            <a:pPr algn="ctr" indent="0" marL="0">
              <a:buNone/>
            </a:pPr>
            <a:r>
              <a:rPr lang="en-US" sz="850" b="1" dirty="0">
                <a:solidFill>
                  <a:srgbClr val="101A32"/>
                </a:solidFill>
                <a:latin typeface="Inter" pitchFamily="34" charset="0"/>
                <a:ea typeface="Inter" pitchFamily="34" charset="-122"/>
                <a:cs typeface="Inter" pitchFamily="34" charset="-120"/>
              </a:rPr>
              <a:t>Batch size 16</a:t>
            </a:r>
            <a:endParaRPr lang="en-US" sz="850" dirty="0"/>
          </a:p>
        </p:txBody>
      </p:sp>
      <p:sp>
        <p:nvSpPr>
          <p:cNvPr id="51" name="Shape 49"/>
          <p:cNvSpPr/>
          <p:nvPr/>
        </p:nvSpPr>
        <p:spPr>
          <a:xfrm>
            <a:off x="6327648" y="5715000"/>
            <a:ext cx="1490472" cy="274320"/>
          </a:xfrm>
          <a:prstGeom prst="roundRect">
            <a:avLst>
              <a:gd name="adj" fmla="val 40000"/>
            </a:avLst>
          </a:prstGeom>
          <a:solidFill>
            <a:srgbClr val="EDF1F7"/>
          </a:solidFill>
          <a:ln w="1270">
            <a:solidFill>
              <a:srgbClr val="EDF1F7">
                <a:alpha val="0"/>
              </a:srgbClr>
            </a:solidFill>
            <a:prstDash val="solid"/>
          </a:ln>
        </p:spPr>
      </p:sp>
      <p:sp>
        <p:nvSpPr>
          <p:cNvPr id="52" name="Text 50"/>
          <p:cNvSpPr txBox="1"/>
          <p:nvPr/>
        </p:nvSpPr>
        <p:spPr>
          <a:xfrm>
            <a:off x="6400800" y="5728716"/>
            <a:ext cx="1344168" cy="246888"/>
          </a:xfrm>
          <a:prstGeom prst="rect">
            <a:avLst/>
          </a:prstGeom>
          <a:noFill/>
          <a:ln/>
        </p:spPr>
        <p:txBody>
          <a:bodyPr wrap="square" lIns="0" tIns="0" rIns="0" bIns="0" rtlCol="0" anchor="ctr">
            <a:normAutofit/>
          </a:bodyPr>
          <a:lstStyle/>
          <a:p>
            <a:pPr algn="ctr" indent="0" marL="0">
              <a:buNone/>
            </a:pPr>
            <a:r>
              <a:rPr lang="en-US" sz="850" b="1" dirty="0">
                <a:solidFill>
                  <a:srgbClr val="101A32"/>
                </a:solidFill>
                <a:latin typeface="Inter" pitchFamily="34" charset="0"/>
                <a:ea typeface="Inter" pitchFamily="34" charset="-122"/>
                <a:cs typeface="Inter" pitchFamily="34" charset="-120"/>
              </a:rPr>
              <a:t>9 training periods</a:t>
            </a:r>
            <a:endParaRPr lang="en-US" sz="850" dirty="0"/>
          </a:p>
        </p:txBody>
      </p:sp>
      <p:sp>
        <p:nvSpPr>
          <p:cNvPr id="53" name="Shape 51"/>
          <p:cNvSpPr/>
          <p:nvPr/>
        </p:nvSpPr>
        <p:spPr>
          <a:xfrm>
            <a:off x="7973568" y="5715000"/>
            <a:ext cx="694944" cy="274320"/>
          </a:xfrm>
          <a:prstGeom prst="roundRect">
            <a:avLst>
              <a:gd name="adj" fmla="val 40000"/>
            </a:avLst>
          </a:prstGeom>
          <a:solidFill>
            <a:srgbClr val="EDF1F7"/>
          </a:solidFill>
          <a:ln w="1270">
            <a:solidFill>
              <a:srgbClr val="EDF1F7">
                <a:alpha val="0"/>
              </a:srgbClr>
            </a:solidFill>
            <a:prstDash val="solid"/>
          </a:ln>
        </p:spPr>
      </p:sp>
      <p:sp>
        <p:nvSpPr>
          <p:cNvPr id="54" name="Text 52"/>
          <p:cNvSpPr txBox="1"/>
          <p:nvPr/>
        </p:nvSpPr>
        <p:spPr>
          <a:xfrm>
            <a:off x="8046720" y="5728716"/>
            <a:ext cx="548640" cy="246888"/>
          </a:xfrm>
          <a:prstGeom prst="rect">
            <a:avLst/>
          </a:prstGeom>
          <a:noFill/>
          <a:ln/>
        </p:spPr>
        <p:txBody>
          <a:bodyPr wrap="square" lIns="0" tIns="0" rIns="0" bIns="0" rtlCol="0" anchor="ctr">
            <a:normAutofit/>
          </a:bodyPr>
          <a:lstStyle/>
          <a:p>
            <a:pPr algn="ctr" indent="0" marL="0">
              <a:buNone/>
            </a:pPr>
            <a:r>
              <a:rPr lang="en-US" sz="850" b="1" dirty="0">
                <a:solidFill>
                  <a:srgbClr val="101A32"/>
                </a:solidFill>
                <a:latin typeface="Inter" pitchFamily="34" charset="0"/>
                <a:ea typeface="Inter" pitchFamily="34" charset="-122"/>
                <a:cs typeface="Inter" pitchFamily="34" charset="-120"/>
              </a:rPr>
              <a:t>RMSE</a:t>
            </a:r>
            <a:endParaRPr lang="en-US" sz="850" dirty="0"/>
          </a:p>
        </p:txBody>
      </p:sp>
      <p:sp>
        <p:nvSpPr>
          <p:cNvPr id="55" name="Shape 53"/>
          <p:cNvSpPr/>
          <p:nvPr/>
        </p:nvSpPr>
        <p:spPr>
          <a:xfrm>
            <a:off x="594360" y="6473952"/>
            <a:ext cx="11000232" cy="0"/>
          </a:xfrm>
          <a:prstGeom prst="line">
            <a:avLst/>
          </a:prstGeom>
          <a:noFill/>
          <a:ln w="10160">
            <a:solidFill>
              <a:srgbClr val="E0E7F0"/>
            </a:solidFill>
            <a:prstDash val="solid"/>
            <a:headEnd type="none"/>
            <a:tailEnd type="none"/>
          </a:ln>
        </p:spPr>
      </p:sp>
      <p:sp>
        <p:nvSpPr>
          <p:cNvPr id="56" name="Text 54"/>
          <p:cNvSpPr txBox="1"/>
          <p:nvPr/>
        </p:nvSpPr>
        <p:spPr>
          <a:xfrm>
            <a:off x="612648" y="6537960"/>
            <a:ext cx="6583680" cy="164592"/>
          </a:xfrm>
          <a:prstGeom prst="rect">
            <a:avLst/>
          </a:prstGeom>
          <a:noFill/>
          <a:ln/>
        </p:spPr>
        <p:txBody>
          <a:bodyPr wrap="square" lIns="0" tIns="0" rIns="0" bIns="0" rtlCol="0" anchor="ctr">
            <a:normAutofit/>
          </a:bodyPr>
          <a:lstStyle/>
          <a:p>
            <a:pPr algn="l" indent="0" marL="0">
              <a:buNone/>
            </a:pPr>
            <a:r>
              <a:rPr lang="en-US" sz="780" b="1" spc="50" kern="0" dirty="0">
                <a:solidFill>
                  <a:srgbClr val="65738A"/>
                </a:solidFill>
                <a:latin typeface="Inter" pitchFamily="34" charset="0"/>
                <a:ea typeface="Inter" pitchFamily="34" charset="-122"/>
                <a:cs typeface="Inter" pitchFamily="34" charset="-120"/>
              </a:rPr>
              <a:t>PREDICTING BAZEL BUILD TIMES  •  MINI PROJECT</a:t>
            </a:r>
            <a:endParaRPr lang="en-US" sz="780" dirty="0"/>
          </a:p>
        </p:txBody>
      </p:sp>
      <p:sp>
        <p:nvSpPr>
          <p:cNvPr id="57" name="Text 55"/>
          <p:cNvSpPr txBox="1"/>
          <p:nvPr/>
        </p:nvSpPr>
        <p:spPr>
          <a:xfrm>
            <a:off x="11018520" y="6528816"/>
            <a:ext cx="502920" cy="164592"/>
          </a:xfrm>
          <a:prstGeom prst="rect">
            <a:avLst/>
          </a:prstGeom>
          <a:noFill/>
          <a:ln/>
        </p:spPr>
        <p:txBody>
          <a:bodyPr wrap="square" lIns="0" tIns="0" rIns="0" bIns="0" rtlCol="0" anchor="ctr">
            <a:normAutofit/>
          </a:bodyPr>
          <a:lstStyle/>
          <a:p>
            <a:pPr algn="r" indent="0" marL="0">
              <a:buNone/>
            </a:pPr>
            <a:r>
              <a:rPr lang="en-US" sz="860" b="1" dirty="0">
                <a:solidFill>
                  <a:srgbClr val="65738A"/>
                </a:solidFill>
                <a:latin typeface="Inter" pitchFamily="34" charset="0"/>
                <a:ea typeface="Inter" pitchFamily="34" charset="-122"/>
                <a:cs typeface="Inter" pitchFamily="34" charset="-120"/>
              </a:rPr>
              <a:t>04</a:t>
            </a:r>
            <a:endParaRPr lang="en-US" sz="8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603504" y="256032"/>
            <a:ext cx="6858000" cy="201168"/>
          </a:xfrm>
          <a:prstGeom prst="rect">
            <a:avLst/>
          </a:prstGeom>
          <a:noFill/>
          <a:ln/>
        </p:spPr>
        <p:txBody>
          <a:bodyPr wrap="square" lIns="0" tIns="0" rIns="0" bIns="0" rtlCol="0" anchor="ctr">
            <a:normAutofit/>
          </a:bodyPr>
          <a:lstStyle/>
          <a:p>
            <a:pPr algn="l" indent="0" marL="0">
              <a:buNone/>
            </a:pPr>
            <a:r>
              <a:rPr lang="en-US" sz="920" b="1" spc="125" kern="0" dirty="0">
                <a:solidFill>
                  <a:srgbClr val="17AEB0"/>
                </a:solidFill>
                <a:latin typeface="Inter" pitchFamily="34" charset="0"/>
                <a:ea typeface="Inter" pitchFamily="34" charset="-122"/>
                <a:cs typeface="Inter" pitchFamily="34" charset="-120"/>
              </a:rPr>
              <a:t>04  /  PART 1</a:t>
            </a:r>
            <a:endParaRPr lang="en-US" sz="920" dirty="0"/>
          </a:p>
        </p:txBody>
      </p:sp>
      <p:sp>
        <p:nvSpPr>
          <p:cNvPr id="3" name="Text 1"/>
          <p:cNvSpPr txBox="1"/>
          <p:nvPr/>
        </p:nvSpPr>
        <p:spPr>
          <a:xfrm>
            <a:off x="594360" y="512064"/>
            <a:ext cx="11018520" cy="457200"/>
          </a:xfrm>
          <a:prstGeom prst="rect">
            <a:avLst/>
          </a:prstGeom>
          <a:noFill/>
          <a:ln/>
        </p:spPr>
        <p:txBody>
          <a:bodyPr wrap="square" lIns="0" tIns="0" rIns="0" bIns="0" rtlCol="0" anchor="ctr">
            <a:normAutofit/>
          </a:bodyPr>
          <a:lstStyle/>
          <a:p>
            <a:pPr algn="l" indent="0" marL="0">
              <a:buNone/>
            </a:pPr>
            <a:r>
              <a:rPr lang="en-US" sz="2550" b="1" dirty="0">
                <a:solidFill>
                  <a:srgbClr val="101A32"/>
                </a:solidFill>
                <a:latin typeface="Inter" pitchFamily="34" charset="0"/>
                <a:ea typeface="Inter" pitchFamily="34" charset="-122"/>
                <a:cs typeface="Inter" pitchFamily="34" charset="-120"/>
              </a:rPr>
              <a:t>Reproduce the experiment, not just the reported number</a:t>
            </a:r>
            <a:endParaRPr lang="en-US" sz="2550" dirty="0"/>
          </a:p>
        </p:txBody>
      </p:sp>
      <p:sp>
        <p:nvSpPr>
          <p:cNvPr id="4" name="Text 2"/>
          <p:cNvSpPr txBox="1"/>
          <p:nvPr/>
        </p:nvSpPr>
        <p:spPr>
          <a:xfrm>
            <a:off x="612648" y="1005840"/>
            <a:ext cx="10972800" cy="292608"/>
          </a:xfrm>
          <a:prstGeom prst="rect">
            <a:avLst/>
          </a:prstGeom>
          <a:noFill/>
          <a:ln/>
        </p:spPr>
        <p:txBody>
          <a:bodyPr wrap="square" lIns="0" tIns="0" rIns="0" bIns="0" rtlCol="0" anchor="ctr">
            <a:normAutofit/>
          </a:bodyPr>
          <a:lstStyle/>
          <a:p>
            <a:pPr algn="l" indent="0" marL="0">
              <a:buNone/>
            </a:pPr>
            <a:r>
              <a:rPr lang="en-US" sz="1160" dirty="0">
                <a:solidFill>
                  <a:srgbClr val="65738A"/>
                </a:solidFill>
                <a:latin typeface="Inter" pitchFamily="34" charset="0"/>
                <a:ea typeface="Inter" pitchFamily="34" charset="-122"/>
                <a:cs typeface="Inter" pitchFamily="34" charset="-120"/>
              </a:rPr>
              <a:t>We independently rebuilt the pipeline from the paper and the supplied CSVs.</a:t>
            </a:r>
            <a:endParaRPr lang="en-US" sz="1160" dirty="0"/>
          </a:p>
        </p:txBody>
      </p:sp>
      <p:sp>
        <p:nvSpPr>
          <p:cNvPr id="5" name="Shape 3"/>
          <p:cNvSpPr/>
          <p:nvPr/>
        </p:nvSpPr>
        <p:spPr>
          <a:xfrm>
            <a:off x="640080" y="1700784"/>
            <a:ext cx="2660904" cy="2057400"/>
          </a:xfrm>
          <a:prstGeom prst="roundRect">
            <a:avLst>
              <a:gd name="adj" fmla="val 7111"/>
            </a:avLst>
          </a:prstGeom>
          <a:solidFill>
            <a:srgbClr val="FFFFFF"/>
          </a:solidFill>
          <a:ln w="10160">
            <a:solidFill>
              <a:srgbClr val="E0E7F0"/>
            </a:solidFill>
            <a:prstDash val="solid"/>
          </a:ln>
        </p:spPr>
      </p:sp>
      <p:sp>
        <p:nvSpPr>
          <p:cNvPr id="6" name="Shape 4"/>
          <p:cNvSpPr/>
          <p:nvPr/>
        </p:nvSpPr>
        <p:spPr>
          <a:xfrm>
            <a:off x="850392" y="1938528"/>
            <a:ext cx="411480" cy="411480"/>
          </a:xfrm>
          <a:prstGeom prst="ellipse">
            <a:avLst/>
          </a:prstGeom>
          <a:solidFill>
            <a:srgbClr val="17AEB0"/>
          </a:solidFill>
          <a:ln w="10160">
            <a:solidFill>
              <a:srgbClr val="17AEB0"/>
            </a:solidFill>
            <a:prstDash val="solid"/>
          </a:ln>
        </p:spPr>
      </p:sp>
      <p:sp>
        <p:nvSpPr>
          <p:cNvPr id="7" name="Text 5"/>
          <p:cNvSpPr txBox="1"/>
          <p:nvPr/>
        </p:nvSpPr>
        <p:spPr>
          <a:xfrm>
            <a:off x="850392" y="1993392"/>
            <a:ext cx="411480" cy="210312"/>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8" name="Text 6"/>
          <p:cNvSpPr txBox="1"/>
          <p:nvPr/>
        </p:nvSpPr>
        <p:spPr>
          <a:xfrm>
            <a:off x="859536" y="2560320"/>
            <a:ext cx="2221992" cy="283464"/>
          </a:xfrm>
          <a:prstGeom prst="rect">
            <a:avLst/>
          </a:prstGeom>
          <a:noFill/>
          <a:ln/>
        </p:spPr>
        <p:txBody>
          <a:bodyPr wrap="square" lIns="0" tIns="0" rIns="0" bIns="0" rtlCol="0" anchor="ctr">
            <a:normAutofit/>
          </a:bodyPr>
          <a:lstStyle/>
          <a:p>
            <a:pPr algn="l" indent="0" marL="0">
              <a:buNone/>
            </a:pPr>
            <a:r>
              <a:rPr lang="en-US" sz="1600" b="1" dirty="0">
                <a:solidFill>
                  <a:srgbClr val="101A32"/>
                </a:solidFill>
                <a:latin typeface="Inter" pitchFamily="34" charset="0"/>
                <a:ea typeface="Inter" pitchFamily="34" charset="-122"/>
                <a:cs typeface="Inter" pitchFamily="34" charset="-120"/>
              </a:rPr>
              <a:t>Load &amp; align</a:t>
            </a:r>
            <a:endParaRPr lang="en-US" sz="1600" dirty="0"/>
          </a:p>
        </p:txBody>
      </p:sp>
      <p:sp>
        <p:nvSpPr>
          <p:cNvPr id="9" name="Text 7"/>
          <p:cNvSpPr txBox="1"/>
          <p:nvPr/>
        </p:nvSpPr>
        <p:spPr>
          <a:xfrm>
            <a:off x="859536" y="2971800"/>
            <a:ext cx="2203704" cy="557784"/>
          </a:xfrm>
          <a:prstGeom prst="rect">
            <a:avLst/>
          </a:prstGeom>
          <a:noFill/>
          <a:ln/>
        </p:spPr>
        <p:txBody>
          <a:bodyPr wrap="square" lIns="0" tIns="0" rIns="0" bIns="0" rtlCol="0" anchor="t">
            <a:normAutofit/>
          </a:bodyPr>
          <a:lstStyle/>
          <a:p>
            <a:pPr algn="l" indent="0" marL="0">
              <a:buNone/>
            </a:pPr>
            <a:r>
              <a:rPr lang="en-US" sz="1120" dirty="0">
                <a:solidFill>
                  <a:srgbClr val="65738A"/>
                </a:solidFill>
                <a:latin typeface="Inter" pitchFamily="34" charset="0"/>
                <a:ea typeface="Inter" pitchFamily="34" charset="-122"/>
                <a:cs typeface="Inter" pitchFamily="34" charset="-120"/>
              </a:rPr>
              <a:t>Read 500 rows from each CSV; pair rows in the supplied order.</a:t>
            </a:r>
            <a:endParaRPr lang="en-US" sz="1120" dirty="0"/>
          </a:p>
        </p:txBody>
      </p:sp>
      <p:sp>
        <p:nvSpPr>
          <p:cNvPr id="10" name="Shape 8"/>
          <p:cNvSpPr/>
          <p:nvPr/>
        </p:nvSpPr>
        <p:spPr>
          <a:xfrm>
            <a:off x="3300984" y="2688336"/>
            <a:ext cx="118872" cy="0"/>
          </a:xfrm>
          <a:prstGeom prst="line">
            <a:avLst/>
          </a:prstGeom>
          <a:noFill/>
          <a:ln w="20320">
            <a:solidFill>
              <a:srgbClr val="E0E7F0"/>
            </a:solidFill>
            <a:prstDash val="solid"/>
            <a:headEnd type="none"/>
            <a:tailEnd type="none"/>
          </a:ln>
        </p:spPr>
      </p:sp>
      <p:sp>
        <p:nvSpPr>
          <p:cNvPr id="11" name="Shape 9"/>
          <p:cNvSpPr/>
          <p:nvPr/>
        </p:nvSpPr>
        <p:spPr>
          <a:xfrm>
            <a:off x="3419856" y="1700784"/>
            <a:ext cx="2660904" cy="2057400"/>
          </a:xfrm>
          <a:prstGeom prst="roundRect">
            <a:avLst>
              <a:gd name="adj" fmla="val 7111"/>
            </a:avLst>
          </a:prstGeom>
          <a:solidFill>
            <a:srgbClr val="FFFFFF"/>
          </a:solidFill>
          <a:ln w="10160">
            <a:solidFill>
              <a:srgbClr val="E0E7F0"/>
            </a:solidFill>
            <a:prstDash val="solid"/>
          </a:ln>
        </p:spPr>
      </p:sp>
      <p:sp>
        <p:nvSpPr>
          <p:cNvPr id="12" name="Shape 10"/>
          <p:cNvSpPr/>
          <p:nvPr/>
        </p:nvSpPr>
        <p:spPr>
          <a:xfrm>
            <a:off x="3630168" y="1938528"/>
            <a:ext cx="411480" cy="411480"/>
          </a:xfrm>
          <a:prstGeom prst="ellipse">
            <a:avLst/>
          </a:prstGeom>
          <a:solidFill>
            <a:srgbClr val="5478D4"/>
          </a:solidFill>
          <a:ln w="10160">
            <a:solidFill>
              <a:srgbClr val="5478D4"/>
            </a:solidFill>
            <a:prstDash val="solid"/>
          </a:ln>
        </p:spPr>
      </p:sp>
      <p:sp>
        <p:nvSpPr>
          <p:cNvPr id="13" name="Text 11"/>
          <p:cNvSpPr txBox="1"/>
          <p:nvPr/>
        </p:nvSpPr>
        <p:spPr>
          <a:xfrm>
            <a:off x="3630168" y="1993392"/>
            <a:ext cx="411480" cy="210312"/>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4" name="Text 12"/>
          <p:cNvSpPr txBox="1"/>
          <p:nvPr/>
        </p:nvSpPr>
        <p:spPr>
          <a:xfrm>
            <a:off x="3639312" y="2560320"/>
            <a:ext cx="2221992" cy="283464"/>
          </a:xfrm>
          <a:prstGeom prst="rect">
            <a:avLst/>
          </a:prstGeom>
          <a:noFill/>
          <a:ln/>
        </p:spPr>
        <p:txBody>
          <a:bodyPr wrap="square" lIns="0" tIns="0" rIns="0" bIns="0" rtlCol="0" anchor="ctr">
            <a:normAutofit/>
          </a:bodyPr>
          <a:lstStyle/>
          <a:p>
            <a:pPr algn="l" indent="0" marL="0">
              <a:buNone/>
            </a:pPr>
            <a:r>
              <a:rPr lang="en-US" sz="1600" b="1" dirty="0">
                <a:solidFill>
                  <a:srgbClr val="101A32"/>
                </a:solidFill>
                <a:latin typeface="Inter" pitchFamily="34" charset="0"/>
                <a:ea typeface="Inter" pitchFamily="34" charset="-122"/>
                <a:cs typeface="Inter" pitchFamily="34" charset="-120"/>
              </a:rPr>
              <a:t>Encode categories</a:t>
            </a:r>
            <a:endParaRPr lang="en-US" sz="1600" dirty="0"/>
          </a:p>
        </p:txBody>
      </p:sp>
      <p:sp>
        <p:nvSpPr>
          <p:cNvPr id="15" name="Text 13"/>
          <p:cNvSpPr txBox="1"/>
          <p:nvPr/>
        </p:nvSpPr>
        <p:spPr>
          <a:xfrm>
            <a:off x="3639312" y="2971800"/>
            <a:ext cx="2203704" cy="557784"/>
          </a:xfrm>
          <a:prstGeom prst="rect">
            <a:avLst/>
          </a:prstGeom>
          <a:noFill/>
          <a:ln/>
        </p:spPr>
        <p:txBody>
          <a:bodyPr wrap="square" lIns="0" tIns="0" rIns="0" bIns="0" rtlCol="0" anchor="t">
            <a:normAutofit/>
          </a:bodyPr>
          <a:lstStyle/>
          <a:p>
            <a:pPr algn="l" indent="0" marL="0">
              <a:buNone/>
            </a:pPr>
            <a:r>
              <a:rPr lang="en-US" sz="1120" dirty="0">
                <a:solidFill>
                  <a:srgbClr val="65738A"/>
                </a:solidFill>
                <a:latin typeface="Inter" pitchFamily="34" charset="0"/>
                <a:ea typeface="Inter" pitchFamily="34" charset="-122"/>
                <a:cs typeface="Inter" pitchFamily="34" charset="-120"/>
              </a:rPr>
              <a:t>One-hot encode prefix and type; add prefix × type block for experiment B.</a:t>
            </a:r>
            <a:endParaRPr lang="en-US" sz="1120" dirty="0"/>
          </a:p>
        </p:txBody>
      </p:sp>
      <p:sp>
        <p:nvSpPr>
          <p:cNvPr id="16" name="Shape 14"/>
          <p:cNvSpPr/>
          <p:nvPr/>
        </p:nvSpPr>
        <p:spPr>
          <a:xfrm>
            <a:off x="6080760" y="2688336"/>
            <a:ext cx="118872" cy="0"/>
          </a:xfrm>
          <a:prstGeom prst="line">
            <a:avLst/>
          </a:prstGeom>
          <a:noFill/>
          <a:ln w="20320">
            <a:solidFill>
              <a:srgbClr val="E0E7F0"/>
            </a:solidFill>
            <a:prstDash val="solid"/>
            <a:headEnd type="none"/>
            <a:tailEnd type="none"/>
          </a:ln>
        </p:spPr>
      </p:sp>
      <p:sp>
        <p:nvSpPr>
          <p:cNvPr id="17" name="Shape 15"/>
          <p:cNvSpPr/>
          <p:nvPr/>
        </p:nvSpPr>
        <p:spPr>
          <a:xfrm>
            <a:off x="6199632" y="1700784"/>
            <a:ext cx="2660904" cy="2057400"/>
          </a:xfrm>
          <a:prstGeom prst="roundRect">
            <a:avLst>
              <a:gd name="adj" fmla="val 7111"/>
            </a:avLst>
          </a:prstGeom>
          <a:solidFill>
            <a:srgbClr val="FFFFFF"/>
          </a:solidFill>
          <a:ln w="10160">
            <a:solidFill>
              <a:srgbClr val="E0E7F0"/>
            </a:solidFill>
            <a:prstDash val="solid"/>
          </a:ln>
        </p:spPr>
      </p:sp>
      <p:sp>
        <p:nvSpPr>
          <p:cNvPr id="18" name="Shape 16"/>
          <p:cNvSpPr/>
          <p:nvPr/>
        </p:nvSpPr>
        <p:spPr>
          <a:xfrm>
            <a:off x="6409944" y="1938528"/>
            <a:ext cx="411480" cy="411480"/>
          </a:xfrm>
          <a:prstGeom prst="ellipse">
            <a:avLst/>
          </a:prstGeom>
          <a:solidFill>
            <a:srgbClr val="F2A541"/>
          </a:solidFill>
          <a:ln w="10160">
            <a:solidFill>
              <a:srgbClr val="F2A541"/>
            </a:solidFill>
            <a:prstDash val="solid"/>
          </a:ln>
        </p:spPr>
      </p:sp>
      <p:sp>
        <p:nvSpPr>
          <p:cNvPr id="19" name="Text 17"/>
          <p:cNvSpPr txBox="1"/>
          <p:nvPr/>
        </p:nvSpPr>
        <p:spPr>
          <a:xfrm>
            <a:off x="6409944" y="1993392"/>
            <a:ext cx="411480" cy="210312"/>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20" name="Text 18"/>
          <p:cNvSpPr txBox="1"/>
          <p:nvPr/>
        </p:nvSpPr>
        <p:spPr>
          <a:xfrm>
            <a:off x="6419088" y="2560320"/>
            <a:ext cx="2221992" cy="283464"/>
          </a:xfrm>
          <a:prstGeom prst="rect">
            <a:avLst/>
          </a:prstGeom>
          <a:noFill/>
          <a:ln/>
        </p:spPr>
        <p:txBody>
          <a:bodyPr wrap="square" lIns="0" tIns="0" rIns="0" bIns="0" rtlCol="0" anchor="ctr">
            <a:normAutofit/>
          </a:bodyPr>
          <a:lstStyle/>
          <a:p>
            <a:pPr algn="l" indent="0" marL="0">
              <a:buNone/>
            </a:pPr>
            <a:r>
              <a:rPr lang="en-US" sz="1600" b="1" dirty="0">
                <a:solidFill>
                  <a:srgbClr val="101A32"/>
                </a:solidFill>
                <a:latin typeface="Inter" pitchFamily="34" charset="0"/>
                <a:ea typeface="Inter" pitchFamily="34" charset="-122"/>
                <a:cs typeface="Inter" pitchFamily="34" charset="-120"/>
              </a:rPr>
              <a:t>Train the model</a:t>
            </a:r>
            <a:endParaRPr lang="en-US" sz="1600" dirty="0"/>
          </a:p>
        </p:txBody>
      </p:sp>
      <p:sp>
        <p:nvSpPr>
          <p:cNvPr id="21" name="Text 19"/>
          <p:cNvSpPr txBox="1"/>
          <p:nvPr/>
        </p:nvSpPr>
        <p:spPr>
          <a:xfrm>
            <a:off x="6419088" y="2971800"/>
            <a:ext cx="2203704" cy="557784"/>
          </a:xfrm>
          <a:prstGeom prst="rect">
            <a:avLst/>
          </a:prstGeom>
          <a:noFill/>
          <a:ln/>
        </p:spPr>
        <p:txBody>
          <a:bodyPr wrap="square" lIns="0" tIns="0" rIns="0" bIns="0" rtlCol="0" anchor="t">
            <a:normAutofit/>
          </a:bodyPr>
          <a:lstStyle/>
          <a:p>
            <a:pPr algn="l" indent="0" marL="0">
              <a:buNone/>
            </a:pPr>
            <a:r>
              <a:rPr lang="en-US" sz="1120" dirty="0">
                <a:solidFill>
                  <a:srgbClr val="65738A"/>
                </a:solidFill>
                <a:latin typeface="Inter" pitchFamily="34" charset="0"/>
                <a:ea typeface="Inter" pitchFamily="34" charset="-122"/>
                <a:cs typeface="Inter" pitchFamily="34" charset="-120"/>
              </a:rPr>
              <a:t>Linear regression trained with mini-batch SGD over 9 periods.</a:t>
            </a:r>
            <a:endParaRPr lang="en-US" sz="1120" dirty="0"/>
          </a:p>
        </p:txBody>
      </p:sp>
      <p:sp>
        <p:nvSpPr>
          <p:cNvPr id="22" name="Shape 20"/>
          <p:cNvSpPr/>
          <p:nvPr/>
        </p:nvSpPr>
        <p:spPr>
          <a:xfrm>
            <a:off x="8860536" y="2688336"/>
            <a:ext cx="118872" cy="0"/>
          </a:xfrm>
          <a:prstGeom prst="line">
            <a:avLst/>
          </a:prstGeom>
          <a:noFill/>
          <a:ln w="20320">
            <a:solidFill>
              <a:srgbClr val="E0E7F0"/>
            </a:solidFill>
            <a:prstDash val="solid"/>
            <a:headEnd type="none"/>
            <a:tailEnd type="none"/>
          </a:ln>
        </p:spPr>
      </p:sp>
      <p:sp>
        <p:nvSpPr>
          <p:cNvPr id="23" name="Shape 21"/>
          <p:cNvSpPr/>
          <p:nvPr/>
        </p:nvSpPr>
        <p:spPr>
          <a:xfrm>
            <a:off x="8979408" y="1700784"/>
            <a:ext cx="2660904" cy="2057400"/>
          </a:xfrm>
          <a:prstGeom prst="roundRect">
            <a:avLst>
              <a:gd name="adj" fmla="val 7111"/>
            </a:avLst>
          </a:prstGeom>
          <a:solidFill>
            <a:srgbClr val="FFFFFF"/>
          </a:solidFill>
          <a:ln w="10160">
            <a:solidFill>
              <a:srgbClr val="E0E7F0"/>
            </a:solidFill>
            <a:prstDash val="solid"/>
          </a:ln>
        </p:spPr>
      </p:sp>
      <p:sp>
        <p:nvSpPr>
          <p:cNvPr id="24" name="Shape 22"/>
          <p:cNvSpPr/>
          <p:nvPr/>
        </p:nvSpPr>
        <p:spPr>
          <a:xfrm>
            <a:off x="9189720" y="1938528"/>
            <a:ext cx="411480" cy="411480"/>
          </a:xfrm>
          <a:prstGeom prst="ellipse">
            <a:avLst/>
          </a:prstGeom>
          <a:solidFill>
            <a:srgbClr val="17AEB0"/>
          </a:solidFill>
          <a:ln w="10160">
            <a:solidFill>
              <a:srgbClr val="17AEB0"/>
            </a:solidFill>
            <a:prstDash val="solid"/>
          </a:ln>
        </p:spPr>
      </p:sp>
      <p:sp>
        <p:nvSpPr>
          <p:cNvPr id="25" name="Text 23"/>
          <p:cNvSpPr txBox="1"/>
          <p:nvPr/>
        </p:nvSpPr>
        <p:spPr>
          <a:xfrm>
            <a:off x="9189720" y="1993392"/>
            <a:ext cx="411480" cy="210312"/>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6" name="Text 24"/>
          <p:cNvSpPr txBox="1"/>
          <p:nvPr/>
        </p:nvSpPr>
        <p:spPr>
          <a:xfrm>
            <a:off x="9198864" y="2560320"/>
            <a:ext cx="2221992" cy="283464"/>
          </a:xfrm>
          <a:prstGeom prst="rect">
            <a:avLst/>
          </a:prstGeom>
          <a:noFill/>
          <a:ln/>
        </p:spPr>
        <p:txBody>
          <a:bodyPr wrap="square" lIns="0" tIns="0" rIns="0" bIns="0" rtlCol="0" anchor="ctr">
            <a:normAutofit/>
          </a:bodyPr>
          <a:lstStyle/>
          <a:p>
            <a:pPr algn="l" indent="0" marL="0">
              <a:buNone/>
            </a:pPr>
            <a:r>
              <a:rPr lang="en-US" sz="1600" b="1" dirty="0">
                <a:solidFill>
                  <a:srgbClr val="101A32"/>
                </a:solidFill>
                <a:latin typeface="Inter" pitchFamily="34" charset="0"/>
                <a:ea typeface="Inter" pitchFamily="34" charset="-122"/>
                <a:cs typeface="Inter" pitchFamily="34" charset="-120"/>
              </a:rPr>
              <a:t>Measure error</a:t>
            </a:r>
            <a:endParaRPr lang="en-US" sz="1600" dirty="0"/>
          </a:p>
        </p:txBody>
      </p:sp>
      <p:sp>
        <p:nvSpPr>
          <p:cNvPr id="27" name="Text 25"/>
          <p:cNvSpPr txBox="1"/>
          <p:nvPr/>
        </p:nvSpPr>
        <p:spPr>
          <a:xfrm>
            <a:off x="9198864" y="2971800"/>
            <a:ext cx="2203704" cy="557784"/>
          </a:xfrm>
          <a:prstGeom prst="rect">
            <a:avLst/>
          </a:prstGeom>
          <a:noFill/>
          <a:ln/>
        </p:spPr>
        <p:txBody>
          <a:bodyPr wrap="square" lIns="0" tIns="0" rIns="0" bIns="0" rtlCol="0" anchor="t">
            <a:normAutofit/>
          </a:bodyPr>
          <a:lstStyle/>
          <a:p>
            <a:pPr algn="l" indent="0" marL="0">
              <a:buNone/>
            </a:pPr>
            <a:r>
              <a:rPr lang="en-US" sz="1120" dirty="0">
                <a:solidFill>
                  <a:srgbClr val="65738A"/>
                </a:solidFill>
                <a:latin typeface="Inter" pitchFamily="34" charset="0"/>
                <a:ea typeface="Inter" pitchFamily="34" charset="-122"/>
                <a:cs typeface="Inter" pitchFamily="34" charset="-120"/>
              </a:rPr>
              <a:t>Calculate training, validation and test RMSE at each period.</a:t>
            </a:r>
            <a:endParaRPr lang="en-US" sz="1120" dirty="0"/>
          </a:p>
        </p:txBody>
      </p:sp>
      <p:sp>
        <p:nvSpPr>
          <p:cNvPr id="28" name="Text 26"/>
          <p:cNvSpPr txBox="1"/>
          <p:nvPr/>
        </p:nvSpPr>
        <p:spPr>
          <a:xfrm>
            <a:off x="658368" y="4160520"/>
            <a:ext cx="3108960" cy="201168"/>
          </a:xfrm>
          <a:prstGeom prst="rect">
            <a:avLst/>
          </a:prstGeom>
          <a:noFill/>
          <a:ln/>
        </p:spPr>
        <p:txBody>
          <a:bodyPr wrap="square" lIns="0" tIns="0" rIns="0" bIns="0" rtlCol="0" anchor="ctr">
            <a:normAutofit/>
          </a:bodyPr>
          <a:lstStyle/>
          <a:p>
            <a:pPr algn="l" indent="0" marL="0">
              <a:buNone/>
            </a:pPr>
            <a:r>
              <a:rPr lang="en-US" sz="930" b="1" spc="100" kern="0" dirty="0">
                <a:solidFill>
                  <a:srgbClr val="17AEB0"/>
                </a:solidFill>
                <a:latin typeface="Inter" pitchFamily="34" charset="0"/>
                <a:ea typeface="Inter" pitchFamily="34" charset="-122"/>
                <a:cs typeface="Inter" pitchFamily="34" charset="-120"/>
              </a:rPr>
              <a:t>EXPERIMENT SETTINGS</a:t>
            </a:r>
            <a:endParaRPr lang="en-US" sz="930" dirty="0"/>
          </a:p>
        </p:txBody>
      </p:sp>
      <p:sp>
        <p:nvSpPr>
          <p:cNvPr id="29" name="Shape 27"/>
          <p:cNvSpPr/>
          <p:nvPr/>
        </p:nvSpPr>
        <p:spPr>
          <a:xfrm>
            <a:off x="640080" y="4507992"/>
            <a:ext cx="2075688" cy="795528"/>
          </a:xfrm>
          <a:prstGeom prst="roundRect">
            <a:avLst>
              <a:gd name="adj" fmla="val 16092"/>
            </a:avLst>
          </a:prstGeom>
          <a:solidFill>
            <a:srgbClr val="101A32"/>
          </a:solidFill>
          <a:ln w="10160">
            <a:solidFill>
              <a:srgbClr val="101A32"/>
            </a:solidFill>
            <a:prstDash val="solid"/>
          </a:ln>
        </p:spPr>
      </p:sp>
      <p:sp>
        <p:nvSpPr>
          <p:cNvPr id="30" name="Text 28"/>
          <p:cNvSpPr txBox="1"/>
          <p:nvPr/>
        </p:nvSpPr>
        <p:spPr>
          <a:xfrm>
            <a:off x="786384" y="4663440"/>
            <a:ext cx="1783080" cy="164592"/>
          </a:xfrm>
          <a:prstGeom prst="rect">
            <a:avLst/>
          </a:prstGeom>
          <a:noFill/>
          <a:ln/>
        </p:spPr>
        <p:txBody>
          <a:bodyPr wrap="square" lIns="0" tIns="0" rIns="0" bIns="0" rtlCol="0" anchor="ctr">
            <a:normAutofit/>
          </a:bodyPr>
          <a:lstStyle/>
          <a:p>
            <a:pPr algn="l" indent="0" marL="0">
              <a:buNone/>
            </a:pPr>
            <a:r>
              <a:rPr lang="en-US" sz="830" b="1" spc="70" kern="0" dirty="0">
                <a:solidFill>
                  <a:srgbClr val="A9B8D0"/>
                </a:solidFill>
                <a:latin typeface="Inter" pitchFamily="34" charset="0"/>
                <a:ea typeface="Inter" pitchFamily="34" charset="-122"/>
                <a:cs typeface="Inter" pitchFamily="34" charset="-120"/>
              </a:rPr>
              <a:t>SPLIT</a:t>
            </a:r>
            <a:endParaRPr lang="en-US" sz="830" dirty="0"/>
          </a:p>
        </p:txBody>
      </p:sp>
      <p:sp>
        <p:nvSpPr>
          <p:cNvPr id="31" name="Text 29"/>
          <p:cNvSpPr txBox="1"/>
          <p:nvPr/>
        </p:nvSpPr>
        <p:spPr>
          <a:xfrm>
            <a:off x="786384" y="4910328"/>
            <a:ext cx="1783080" cy="219456"/>
          </a:xfrm>
          <a:prstGeom prst="rect">
            <a:avLst/>
          </a:prstGeom>
          <a:noFill/>
          <a:ln/>
        </p:spPr>
        <p:txBody>
          <a:bodyPr wrap="square" lIns="0" tIns="0" rIns="0" bIns="0" rtlCol="0" anchor="ctr">
            <a:normAutofit/>
          </a:bodyPr>
          <a:lstStyle/>
          <a:p>
            <a:pPr algn="l" indent="0" marL="0">
              <a:buNone/>
            </a:pPr>
            <a:r>
              <a:rPr lang="en-US" sz="1500" b="1" dirty="0">
                <a:solidFill>
                  <a:srgbClr val="FFFFFF"/>
                </a:solidFill>
                <a:latin typeface="Inter" pitchFamily="34" charset="0"/>
                <a:ea typeface="Inter" pitchFamily="34" charset="-122"/>
                <a:cs typeface="Inter" pitchFamily="34" charset="-120"/>
              </a:rPr>
              <a:t>300 / 100 / 100</a:t>
            </a:r>
            <a:endParaRPr lang="en-US" sz="1500" dirty="0"/>
          </a:p>
        </p:txBody>
      </p:sp>
      <p:sp>
        <p:nvSpPr>
          <p:cNvPr id="32" name="Shape 30"/>
          <p:cNvSpPr/>
          <p:nvPr/>
        </p:nvSpPr>
        <p:spPr>
          <a:xfrm>
            <a:off x="2852928" y="4507992"/>
            <a:ext cx="2075688" cy="795528"/>
          </a:xfrm>
          <a:prstGeom prst="roundRect">
            <a:avLst>
              <a:gd name="adj" fmla="val 16092"/>
            </a:avLst>
          </a:prstGeom>
          <a:solidFill>
            <a:srgbClr val="101A32"/>
          </a:solidFill>
          <a:ln w="10160">
            <a:solidFill>
              <a:srgbClr val="101A32"/>
            </a:solidFill>
            <a:prstDash val="solid"/>
          </a:ln>
        </p:spPr>
      </p:sp>
      <p:sp>
        <p:nvSpPr>
          <p:cNvPr id="33" name="Text 31"/>
          <p:cNvSpPr txBox="1"/>
          <p:nvPr/>
        </p:nvSpPr>
        <p:spPr>
          <a:xfrm>
            <a:off x="2999232" y="4663440"/>
            <a:ext cx="1783080" cy="164592"/>
          </a:xfrm>
          <a:prstGeom prst="rect">
            <a:avLst/>
          </a:prstGeom>
          <a:noFill/>
          <a:ln/>
        </p:spPr>
        <p:txBody>
          <a:bodyPr wrap="square" lIns="0" tIns="0" rIns="0" bIns="0" rtlCol="0" anchor="ctr">
            <a:normAutofit/>
          </a:bodyPr>
          <a:lstStyle/>
          <a:p>
            <a:pPr algn="l" indent="0" marL="0">
              <a:buNone/>
            </a:pPr>
            <a:r>
              <a:rPr lang="en-US" sz="830" b="1" spc="70" kern="0" dirty="0">
                <a:solidFill>
                  <a:srgbClr val="A9B8D0"/>
                </a:solidFill>
                <a:latin typeface="Inter" pitchFamily="34" charset="0"/>
                <a:ea typeface="Inter" pitchFamily="34" charset="-122"/>
                <a:cs typeface="Inter" pitchFamily="34" charset="-120"/>
              </a:rPr>
              <a:t>LEARNING RATE</a:t>
            </a:r>
            <a:endParaRPr lang="en-US" sz="830" dirty="0"/>
          </a:p>
        </p:txBody>
      </p:sp>
      <p:sp>
        <p:nvSpPr>
          <p:cNvPr id="34" name="Text 32"/>
          <p:cNvSpPr txBox="1"/>
          <p:nvPr/>
        </p:nvSpPr>
        <p:spPr>
          <a:xfrm>
            <a:off x="2999232" y="4910328"/>
            <a:ext cx="1783080" cy="219456"/>
          </a:xfrm>
          <a:prstGeom prst="rect">
            <a:avLst/>
          </a:prstGeom>
          <a:noFill/>
          <a:ln/>
        </p:spPr>
        <p:txBody>
          <a:bodyPr wrap="square" lIns="0" tIns="0" rIns="0" bIns="0" rtlCol="0" anchor="ctr">
            <a:normAutofit/>
          </a:bodyPr>
          <a:lstStyle/>
          <a:p>
            <a:pPr algn="l" indent="0" marL="0">
              <a:buNone/>
            </a:pPr>
            <a:r>
              <a:rPr lang="en-US" sz="1500" b="1" dirty="0">
                <a:solidFill>
                  <a:srgbClr val="FFFFFF"/>
                </a:solidFill>
                <a:latin typeface="Inter" pitchFamily="34" charset="0"/>
                <a:ea typeface="Inter" pitchFamily="34" charset="-122"/>
                <a:cs typeface="Inter" pitchFamily="34" charset="-120"/>
              </a:rPr>
              <a:t>0.01</a:t>
            </a:r>
            <a:endParaRPr lang="en-US" sz="1500" dirty="0"/>
          </a:p>
        </p:txBody>
      </p:sp>
      <p:sp>
        <p:nvSpPr>
          <p:cNvPr id="35" name="Shape 33"/>
          <p:cNvSpPr/>
          <p:nvPr/>
        </p:nvSpPr>
        <p:spPr>
          <a:xfrm>
            <a:off x="5065776" y="4507992"/>
            <a:ext cx="2075688" cy="795528"/>
          </a:xfrm>
          <a:prstGeom prst="roundRect">
            <a:avLst>
              <a:gd name="adj" fmla="val 16092"/>
            </a:avLst>
          </a:prstGeom>
          <a:solidFill>
            <a:srgbClr val="101A32"/>
          </a:solidFill>
          <a:ln w="10160">
            <a:solidFill>
              <a:srgbClr val="101A32"/>
            </a:solidFill>
            <a:prstDash val="solid"/>
          </a:ln>
        </p:spPr>
      </p:sp>
      <p:sp>
        <p:nvSpPr>
          <p:cNvPr id="36" name="Text 34"/>
          <p:cNvSpPr txBox="1"/>
          <p:nvPr/>
        </p:nvSpPr>
        <p:spPr>
          <a:xfrm>
            <a:off x="5212080" y="4663440"/>
            <a:ext cx="1783080" cy="164592"/>
          </a:xfrm>
          <a:prstGeom prst="rect">
            <a:avLst/>
          </a:prstGeom>
          <a:noFill/>
          <a:ln/>
        </p:spPr>
        <p:txBody>
          <a:bodyPr wrap="square" lIns="0" tIns="0" rIns="0" bIns="0" rtlCol="0" anchor="ctr">
            <a:normAutofit/>
          </a:bodyPr>
          <a:lstStyle/>
          <a:p>
            <a:pPr algn="l" indent="0" marL="0">
              <a:buNone/>
            </a:pPr>
            <a:r>
              <a:rPr lang="en-US" sz="830" b="1" spc="70" kern="0" dirty="0">
                <a:solidFill>
                  <a:srgbClr val="A9B8D0"/>
                </a:solidFill>
                <a:latin typeface="Inter" pitchFamily="34" charset="0"/>
                <a:ea typeface="Inter" pitchFamily="34" charset="-122"/>
                <a:cs typeface="Inter" pitchFamily="34" charset="-120"/>
              </a:rPr>
              <a:t>BATCH SIZE</a:t>
            </a:r>
            <a:endParaRPr lang="en-US" sz="830" dirty="0"/>
          </a:p>
        </p:txBody>
      </p:sp>
      <p:sp>
        <p:nvSpPr>
          <p:cNvPr id="37" name="Text 35"/>
          <p:cNvSpPr txBox="1"/>
          <p:nvPr/>
        </p:nvSpPr>
        <p:spPr>
          <a:xfrm>
            <a:off x="5212080" y="4910328"/>
            <a:ext cx="1783080" cy="219456"/>
          </a:xfrm>
          <a:prstGeom prst="rect">
            <a:avLst/>
          </a:prstGeom>
          <a:noFill/>
          <a:ln/>
        </p:spPr>
        <p:txBody>
          <a:bodyPr wrap="square" lIns="0" tIns="0" rIns="0" bIns="0" rtlCol="0" anchor="ctr">
            <a:normAutofit/>
          </a:bodyPr>
          <a:lstStyle/>
          <a:p>
            <a:pPr algn="l" indent="0" marL="0">
              <a:buNone/>
            </a:pPr>
            <a:r>
              <a:rPr lang="en-US" sz="1500" b="1" dirty="0">
                <a:solidFill>
                  <a:srgbClr val="FFFFFF"/>
                </a:solidFill>
                <a:latin typeface="Inter" pitchFamily="34" charset="0"/>
                <a:ea typeface="Inter" pitchFamily="34" charset="-122"/>
                <a:cs typeface="Inter" pitchFamily="34" charset="-120"/>
              </a:rPr>
              <a:t>16</a:t>
            </a:r>
            <a:endParaRPr lang="en-US" sz="1500" dirty="0"/>
          </a:p>
        </p:txBody>
      </p:sp>
      <p:sp>
        <p:nvSpPr>
          <p:cNvPr id="38" name="Shape 36"/>
          <p:cNvSpPr/>
          <p:nvPr/>
        </p:nvSpPr>
        <p:spPr>
          <a:xfrm>
            <a:off x="7278624" y="4507992"/>
            <a:ext cx="2075688" cy="795528"/>
          </a:xfrm>
          <a:prstGeom prst="roundRect">
            <a:avLst>
              <a:gd name="adj" fmla="val 16092"/>
            </a:avLst>
          </a:prstGeom>
          <a:solidFill>
            <a:srgbClr val="101A32"/>
          </a:solidFill>
          <a:ln w="10160">
            <a:solidFill>
              <a:srgbClr val="101A32"/>
            </a:solidFill>
            <a:prstDash val="solid"/>
          </a:ln>
        </p:spPr>
      </p:sp>
      <p:sp>
        <p:nvSpPr>
          <p:cNvPr id="39" name="Text 37"/>
          <p:cNvSpPr txBox="1"/>
          <p:nvPr/>
        </p:nvSpPr>
        <p:spPr>
          <a:xfrm>
            <a:off x="7424928" y="4663440"/>
            <a:ext cx="1783080" cy="164592"/>
          </a:xfrm>
          <a:prstGeom prst="rect">
            <a:avLst/>
          </a:prstGeom>
          <a:noFill/>
          <a:ln/>
        </p:spPr>
        <p:txBody>
          <a:bodyPr wrap="square" lIns="0" tIns="0" rIns="0" bIns="0" rtlCol="0" anchor="ctr">
            <a:normAutofit/>
          </a:bodyPr>
          <a:lstStyle/>
          <a:p>
            <a:pPr algn="l" indent="0" marL="0">
              <a:buNone/>
            </a:pPr>
            <a:r>
              <a:rPr lang="en-US" sz="830" b="1" spc="70" kern="0" dirty="0">
                <a:solidFill>
                  <a:srgbClr val="A9B8D0"/>
                </a:solidFill>
                <a:latin typeface="Inter" pitchFamily="34" charset="0"/>
                <a:ea typeface="Inter" pitchFamily="34" charset="-122"/>
                <a:cs typeface="Inter" pitchFamily="34" charset="-120"/>
              </a:rPr>
              <a:t>PERIODS</a:t>
            </a:r>
            <a:endParaRPr lang="en-US" sz="830" dirty="0"/>
          </a:p>
        </p:txBody>
      </p:sp>
      <p:sp>
        <p:nvSpPr>
          <p:cNvPr id="40" name="Text 38"/>
          <p:cNvSpPr txBox="1"/>
          <p:nvPr/>
        </p:nvSpPr>
        <p:spPr>
          <a:xfrm>
            <a:off x="7424928" y="4910328"/>
            <a:ext cx="1783080" cy="219456"/>
          </a:xfrm>
          <a:prstGeom prst="rect">
            <a:avLst/>
          </a:prstGeom>
          <a:noFill/>
          <a:ln/>
        </p:spPr>
        <p:txBody>
          <a:bodyPr wrap="square" lIns="0" tIns="0" rIns="0" bIns="0" rtlCol="0" anchor="ctr">
            <a:normAutofit/>
          </a:bodyPr>
          <a:lstStyle/>
          <a:p>
            <a:pPr algn="l" indent="0" marL="0">
              <a:buNone/>
            </a:pPr>
            <a:r>
              <a:rPr lang="en-US" sz="1500" b="1" dirty="0">
                <a:solidFill>
                  <a:srgbClr val="FFFFFF"/>
                </a:solidFill>
                <a:latin typeface="Inter" pitchFamily="34" charset="0"/>
                <a:ea typeface="Inter" pitchFamily="34" charset="-122"/>
                <a:cs typeface="Inter" pitchFamily="34" charset="-120"/>
              </a:rPr>
              <a:t>9</a:t>
            </a:r>
            <a:endParaRPr lang="en-US" sz="1500" dirty="0"/>
          </a:p>
        </p:txBody>
      </p:sp>
      <p:sp>
        <p:nvSpPr>
          <p:cNvPr id="41" name="Shape 39"/>
          <p:cNvSpPr/>
          <p:nvPr/>
        </p:nvSpPr>
        <p:spPr>
          <a:xfrm>
            <a:off x="9491472" y="4507992"/>
            <a:ext cx="2075688" cy="795528"/>
          </a:xfrm>
          <a:prstGeom prst="roundRect">
            <a:avLst>
              <a:gd name="adj" fmla="val 16092"/>
            </a:avLst>
          </a:prstGeom>
          <a:solidFill>
            <a:srgbClr val="101A32"/>
          </a:solidFill>
          <a:ln w="10160">
            <a:solidFill>
              <a:srgbClr val="101A32"/>
            </a:solidFill>
            <a:prstDash val="solid"/>
          </a:ln>
        </p:spPr>
      </p:sp>
      <p:sp>
        <p:nvSpPr>
          <p:cNvPr id="42" name="Text 40"/>
          <p:cNvSpPr txBox="1"/>
          <p:nvPr/>
        </p:nvSpPr>
        <p:spPr>
          <a:xfrm>
            <a:off x="9637776" y="4663440"/>
            <a:ext cx="1783080" cy="164592"/>
          </a:xfrm>
          <a:prstGeom prst="rect">
            <a:avLst/>
          </a:prstGeom>
          <a:noFill/>
          <a:ln/>
        </p:spPr>
        <p:txBody>
          <a:bodyPr wrap="square" lIns="0" tIns="0" rIns="0" bIns="0" rtlCol="0" anchor="ctr">
            <a:normAutofit/>
          </a:bodyPr>
          <a:lstStyle/>
          <a:p>
            <a:pPr algn="l" indent="0" marL="0">
              <a:buNone/>
            </a:pPr>
            <a:r>
              <a:rPr lang="en-US" sz="830" b="1" spc="70" kern="0" dirty="0">
                <a:solidFill>
                  <a:srgbClr val="A9B8D0"/>
                </a:solidFill>
                <a:latin typeface="Inter" pitchFamily="34" charset="0"/>
                <a:ea typeface="Inter" pitchFamily="34" charset="-122"/>
                <a:cs typeface="Inter" pitchFamily="34" charset="-120"/>
              </a:rPr>
              <a:t>METRIC</a:t>
            </a:r>
            <a:endParaRPr lang="en-US" sz="830" dirty="0"/>
          </a:p>
        </p:txBody>
      </p:sp>
      <p:sp>
        <p:nvSpPr>
          <p:cNvPr id="43" name="Text 41"/>
          <p:cNvSpPr txBox="1"/>
          <p:nvPr/>
        </p:nvSpPr>
        <p:spPr>
          <a:xfrm>
            <a:off x="9637776" y="4910328"/>
            <a:ext cx="1783080" cy="219456"/>
          </a:xfrm>
          <a:prstGeom prst="rect">
            <a:avLst/>
          </a:prstGeom>
          <a:noFill/>
          <a:ln/>
        </p:spPr>
        <p:txBody>
          <a:bodyPr wrap="square" lIns="0" tIns="0" rIns="0" bIns="0" rtlCol="0" anchor="ctr">
            <a:normAutofit/>
          </a:bodyPr>
          <a:lstStyle/>
          <a:p>
            <a:pPr algn="l" indent="0" marL="0">
              <a:buNone/>
            </a:pPr>
            <a:r>
              <a:rPr lang="en-US" sz="1500" b="1" dirty="0">
                <a:solidFill>
                  <a:srgbClr val="FFFFFF"/>
                </a:solidFill>
                <a:latin typeface="Inter" pitchFamily="34" charset="0"/>
                <a:ea typeface="Inter" pitchFamily="34" charset="-122"/>
                <a:cs typeface="Inter" pitchFamily="34" charset="-120"/>
              </a:rPr>
              <a:t>RMSE</a:t>
            </a:r>
            <a:endParaRPr lang="en-US" sz="1500" dirty="0"/>
          </a:p>
        </p:txBody>
      </p:sp>
      <p:sp>
        <p:nvSpPr>
          <p:cNvPr id="44" name="Shape 42"/>
          <p:cNvSpPr/>
          <p:nvPr/>
        </p:nvSpPr>
        <p:spPr>
          <a:xfrm>
            <a:off x="640080" y="5559552"/>
            <a:ext cx="10945368" cy="576072"/>
          </a:xfrm>
          <a:prstGeom prst="roundRect">
            <a:avLst>
              <a:gd name="adj" fmla="val 22222"/>
            </a:avLst>
          </a:prstGeom>
          <a:solidFill>
            <a:srgbClr val="FFF2DE"/>
          </a:solidFill>
          <a:ln w="10160">
            <a:solidFill>
              <a:srgbClr val="F4E0BD"/>
            </a:solidFill>
            <a:prstDash val="solid"/>
          </a:ln>
        </p:spPr>
      </p:sp>
      <p:sp>
        <p:nvSpPr>
          <p:cNvPr id="45" name="Text 43"/>
          <p:cNvSpPr txBox="1"/>
          <p:nvPr/>
        </p:nvSpPr>
        <p:spPr>
          <a:xfrm>
            <a:off x="859536" y="5687568"/>
            <a:ext cx="1600200" cy="192024"/>
          </a:xfrm>
          <a:prstGeom prst="rect">
            <a:avLst/>
          </a:prstGeom>
          <a:noFill/>
          <a:ln/>
        </p:spPr>
        <p:txBody>
          <a:bodyPr wrap="square" lIns="0" tIns="0" rIns="0" bIns="0" rtlCol="0" anchor="ctr">
            <a:normAutofit/>
          </a:bodyPr>
          <a:lstStyle/>
          <a:p>
            <a:pPr algn="l" indent="0" marL="0">
              <a:buNone/>
            </a:pPr>
            <a:r>
              <a:rPr lang="en-US" sz="1000" b="1" dirty="0">
                <a:solidFill>
                  <a:srgbClr val="9A6515"/>
                </a:solidFill>
                <a:latin typeface="Inter" pitchFamily="34" charset="0"/>
                <a:ea typeface="Inter" pitchFamily="34" charset="-122"/>
                <a:cs typeface="Inter" pitchFamily="34" charset="-120"/>
              </a:rPr>
              <a:t>Reproducibility note</a:t>
            </a:r>
            <a:endParaRPr lang="en-US" sz="1000" dirty="0"/>
          </a:p>
        </p:txBody>
      </p:sp>
      <p:sp>
        <p:nvSpPr>
          <p:cNvPr id="46" name="Text 44"/>
          <p:cNvSpPr txBox="1"/>
          <p:nvPr/>
        </p:nvSpPr>
        <p:spPr>
          <a:xfrm>
            <a:off x="2514600" y="5650992"/>
            <a:ext cx="8732520" cy="283464"/>
          </a:xfrm>
          <a:prstGeom prst="rect">
            <a:avLst/>
          </a:prstGeom>
          <a:noFill/>
          <a:ln/>
        </p:spPr>
        <p:txBody>
          <a:bodyPr wrap="square" lIns="0" tIns="0" rIns="0" bIns="0" rtlCol="0" anchor="ctr">
            <a:normAutofit/>
          </a:bodyPr>
          <a:lstStyle/>
          <a:p>
            <a:pPr algn="l" indent="0" marL="0">
              <a:buNone/>
            </a:pPr>
            <a:r>
              <a:rPr lang="en-US" sz="1020" dirty="0">
                <a:solidFill>
                  <a:srgbClr val="805719"/>
                </a:solidFill>
                <a:latin typeface="Inter" pitchFamily="34" charset="0"/>
                <a:ea typeface="Inter" pitchFamily="34" charset="-122"/>
                <a:cs typeface="Inter" pitchFamily="34" charset="-120"/>
              </a:rPr>
              <a:t>The paper omits the exact split seed and grid-search candidates; we used row order and the reported selected hyperparameters.</a:t>
            </a:r>
            <a:endParaRPr lang="en-US" sz="1020" dirty="0"/>
          </a:p>
        </p:txBody>
      </p:sp>
      <p:sp>
        <p:nvSpPr>
          <p:cNvPr id="47" name="Shape 45"/>
          <p:cNvSpPr/>
          <p:nvPr/>
        </p:nvSpPr>
        <p:spPr>
          <a:xfrm>
            <a:off x="594360" y="6473952"/>
            <a:ext cx="11000232" cy="0"/>
          </a:xfrm>
          <a:prstGeom prst="line">
            <a:avLst/>
          </a:prstGeom>
          <a:noFill/>
          <a:ln w="10160">
            <a:solidFill>
              <a:srgbClr val="E0E7F0"/>
            </a:solidFill>
            <a:prstDash val="solid"/>
            <a:headEnd type="none"/>
            <a:tailEnd type="none"/>
          </a:ln>
        </p:spPr>
      </p:sp>
      <p:sp>
        <p:nvSpPr>
          <p:cNvPr id="48" name="Text 46"/>
          <p:cNvSpPr txBox="1"/>
          <p:nvPr/>
        </p:nvSpPr>
        <p:spPr>
          <a:xfrm>
            <a:off x="612648" y="6537960"/>
            <a:ext cx="6583680" cy="164592"/>
          </a:xfrm>
          <a:prstGeom prst="rect">
            <a:avLst/>
          </a:prstGeom>
          <a:noFill/>
          <a:ln/>
        </p:spPr>
        <p:txBody>
          <a:bodyPr wrap="square" lIns="0" tIns="0" rIns="0" bIns="0" rtlCol="0" anchor="ctr">
            <a:normAutofit/>
          </a:bodyPr>
          <a:lstStyle/>
          <a:p>
            <a:pPr algn="l" indent="0" marL="0">
              <a:buNone/>
            </a:pPr>
            <a:r>
              <a:rPr lang="en-US" sz="780" b="1" spc="50" kern="0" dirty="0">
                <a:solidFill>
                  <a:srgbClr val="65738A"/>
                </a:solidFill>
                <a:latin typeface="Inter" pitchFamily="34" charset="0"/>
                <a:ea typeface="Inter" pitchFamily="34" charset="-122"/>
                <a:cs typeface="Inter" pitchFamily="34" charset="-120"/>
              </a:rPr>
              <a:t>PREDICTING BAZEL BUILD TIMES  •  MINI PROJECT</a:t>
            </a:r>
            <a:endParaRPr lang="en-US" sz="780" dirty="0"/>
          </a:p>
        </p:txBody>
      </p:sp>
      <p:sp>
        <p:nvSpPr>
          <p:cNvPr id="49" name="Text 47"/>
          <p:cNvSpPr txBox="1"/>
          <p:nvPr/>
        </p:nvSpPr>
        <p:spPr>
          <a:xfrm>
            <a:off x="11018520" y="6528816"/>
            <a:ext cx="502920" cy="164592"/>
          </a:xfrm>
          <a:prstGeom prst="rect">
            <a:avLst/>
          </a:prstGeom>
          <a:noFill/>
          <a:ln/>
        </p:spPr>
        <p:txBody>
          <a:bodyPr wrap="square" lIns="0" tIns="0" rIns="0" bIns="0" rtlCol="0" anchor="ctr">
            <a:normAutofit/>
          </a:bodyPr>
          <a:lstStyle/>
          <a:p>
            <a:pPr algn="r" indent="0" marL="0">
              <a:buNone/>
            </a:pPr>
            <a:r>
              <a:rPr lang="en-US" sz="860" b="1" dirty="0">
                <a:solidFill>
                  <a:srgbClr val="65738A"/>
                </a:solidFill>
                <a:latin typeface="Inter" pitchFamily="34" charset="0"/>
                <a:ea typeface="Inter" pitchFamily="34" charset="-122"/>
                <a:cs typeface="Inter" pitchFamily="34" charset="-120"/>
              </a:rPr>
              <a:t>05</a:t>
            </a:r>
            <a:endParaRPr lang="en-US" sz="8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603504" y="256032"/>
            <a:ext cx="6858000" cy="201168"/>
          </a:xfrm>
          <a:prstGeom prst="rect">
            <a:avLst/>
          </a:prstGeom>
          <a:noFill/>
          <a:ln/>
        </p:spPr>
        <p:txBody>
          <a:bodyPr wrap="square" lIns="0" tIns="0" rIns="0" bIns="0" rtlCol="0" anchor="ctr">
            <a:normAutofit/>
          </a:bodyPr>
          <a:lstStyle/>
          <a:p>
            <a:pPr algn="l" indent="0" marL="0">
              <a:buNone/>
            </a:pPr>
            <a:r>
              <a:rPr lang="en-US" sz="920" b="1" spc="125" kern="0" dirty="0">
                <a:solidFill>
                  <a:srgbClr val="17AEB0"/>
                </a:solidFill>
                <a:latin typeface="Inter" pitchFamily="34" charset="0"/>
                <a:ea typeface="Inter" pitchFamily="34" charset="-122"/>
                <a:cs typeface="Inter" pitchFamily="34" charset="-120"/>
              </a:rPr>
              <a:t>05  /  PART 1 RESULTS</a:t>
            </a:r>
            <a:endParaRPr lang="en-US" sz="920" dirty="0"/>
          </a:p>
        </p:txBody>
      </p:sp>
      <p:sp>
        <p:nvSpPr>
          <p:cNvPr id="3" name="Text 1"/>
          <p:cNvSpPr txBox="1"/>
          <p:nvPr/>
        </p:nvSpPr>
        <p:spPr>
          <a:xfrm>
            <a:off x="594360" y="512064"/>
            <a:ext cx="11018520" cy="457200"/>
          </a:xfrm>
          <a:prstGeom prst="rect">
            <a:avLst/>
          </a:prstGeom>
          <a:noFill/>
          <a:ln/>
        </p:spPr>
        <p:txBody>
          <a:bodyPr wrap="square" lIns="0" tIns="0" rIns="0" bIns="0" rtlCol="0" anchor="ctr">
            <a:normAutofit/>
          </a:bodyPr>
          <a:lstStyle/>
          <a:p>
            <a:pPr algn="l" indent="0" marL="0">
              <a:buNone/>
            </a:pPr>
            <a:r>
              <a:rPr lang="en-US" sz="2550" b="1" dirty="0">
                <a:solidFill>
                  <a:srgbClr val="101A32"/>
                </a:solidFill>
                <a:latin typeface="Inter" pitchFamily="34" charset="0"/>
                <a:ea typeface="Inter" pitchFamily="34" charset="-122"/>
                <a:cs typeface="Inter" pitchFamily="34" charset="-120"/>
              </a:rPr>
              <a:t>Our reproduced training RMSE is close to the paper</a:t>
            </a:r>
            <a:endParaRPr lang="en-US" sz="2550" dirty="0"/>
          </a:p>
        </p:txBody>
      </p:sp>
      <p:sp>
        <p:nvSpPr>
          <p:cNvPr id="4" name="Text 2"/>
          <p:cNvSpPr txBox="1"/>
          <p:nvPr/>
        </p:nvSpPr>
        <p:spPr>
          <a:xfrm>
            <a:off x="612648" y="1005840"/>
            <a:ext cx="10972800" cy="292608"/>
          </a:xfrm>
          <a:prstGeom prst="rect">
            <a:avLst/>
          </a:prstGeom>
          <a:noFill/>
          <a:ln/>
        </p:spPr>
        <p:txBody>
          <a:bodyPr wrap="square" lIns="0" tIns="0" rIns="0" bIns="0" rtlCol="0" anchor="ctr">
            <a:normAutofit/>
          </a:bodyPr>
          <a:lstStyle/>
          <a:p>
            <a:pPr algn="l" indent="0" marL="0">
              <a:buNone/>
            </a:pPr>
            <a:r>
              <a:rPr lang="en-US" sz="1160" dirty="0">
                <a:solidFill>
                  <a:srgbClr val="65738A"/>
                </a:solidFill>
                <a:latin typeface="Inter" pitchFamily="34" charset="0"/>
                <a:ea typeface="Inter" pitchFamily="34" charset="-122"/>
                <a:cs typeface="Inter" pitchFamily="34" charset="-120"/>
              </a:rPr>
              <a:t>Values below are average training RMSE over the 9 periods shown in the reference paper.</a:t>
            </a:r>
            <a:endParaRPr lang="en-US" sz="1160" dirty="0"/>
          </a:p>
        </p:txBody>
      </p:sp>
      <p:sp>
        <p:nvSpPr>
          <p:cNvPr id="5" name="Shape 3"/>
          <p:cNvSpPr/>
          <p:nvPr/>
        </p:nvSpPr>
        <p:spPr>
          <a:xfrm>
            <a:off x="603504" y="1609344"/>
            <a:ext cx="7726680" cy="3401568"/>
          </a:xfrm>
          <a:prstGeom prst="roundRect">
            <a:avLst>
              <a:gd name="adj" fmla="val 4839"/>
            </a:avLst>
          </a:prstGeom>
          <a:solidFill>
            <a:srgbClr val="FFFFFF"/>
          </a:solidFill>
          <a:ln w="10160">
            <a:solidFill>
              <a:srgbClr val="E0E7F0"/>
            </a:solidFill>
            <a:prstDash val="solid"/>
          </a:ln>
        </p:spPr>
      </p:sp>
      <p:sp>
        <p:nvSpPr>
          <p:cNvPr id="6" name="Shape 4"/>
          <p:cNvSpPr/>
          <p:nvPr/>
        </p:nvSpPr>
        <p:spPr>
          <a:xfrm>
            <a:off x="804672" y="1828800"/>
            <a:ext cx="7333488" cy="475488"/>
          </a:xfrm>
          <a:prstGeom prst="roundRect">
            <a:avLst>
              <a:gd name="adj" fmla="val 19231"/>
            </a:avLst>
          </a:prstGeom>
          <a:solidFill>
            <a:srgbClr val="101A32"/>
          </a:solidFill>
          <a:ln w="10160">
            <a:solidFill>
              <a:srgbClr val="101A32"/>
            </a:solidFill>
            <a:prstDash val="solid"/>
          </a:ln>
        </p:spPr>
      </p:sp>
      <p:sp>
        <p:nvSpPr>
          <p:cNvPr id="7" name="Text 5"/>
          <p:cNvSpPr txBox="1"/>
          <p:nvPr/>
        </p:nvSpPr>
        <p:spPr>
          <a:xfrm>
            <a:off x="978408" y="1965960"/>
            <a:ext cx="3154680" cy="155448"/>
          </a:xfrm>
          <a:prstGeom prst="rect">
            <a:avLst/>
          </a:prstGeom>
          <a:noFill/>
          <a:ln/>
        </p:spPr>
        <p:txBody>
          <a:bodyPr wrap="square" lIns="0" tIns="0" rIns="0" bIns="0" rtlCol="0" anchor="ctr">
            <a:normAutofit/>
          </a:bodyPr>
          <a:lstStyle/>
          <a:p>
            <a:pPr algn="l" indent="0" marL="0">
              <a:buNone/>
            </a:pPr>
            <a:r>
              <a:rPr lang="en-US" sz="900" b="1" spc="50" kern="0" dirty="0">
                <a:solidFill>
                  <a:srgbClr val="D4DEED"/>
                </a:solidFill>
                <a:latin typeface="Inter" pitchFamily="34" charset="0"/>
                <a:ea typeface="Inter" pitchFamily="34" charset="-122"/>
                <a:cs typeface="Inter" pitchFamily="34" charset="-120"/>
              </a:rPr>
              <a:t>EXPERIMENT</a:t>
            </a:r>
            <a:endParaRPr lang="en-US" sz="900" dirty="0"/>
          </a:p>
        </p:txBody>
      </p:sp>
      <p:sp>
        <p:nvSpPr>
          <p:cNvPr id="8" name="Text 6"/>
          <p:cNvSpPr txBox="1"/>
          <p:nvPr/>
        </p:nvSpPr>
        <p:spPr>
          <a:xfrm>
            <a:off x="4325112" y="1965960"/>
            <a:ext cx="1042416" cy="155448"/>
          </a:xfrm>
          <a:prstGeom prst="rect">
            <a:avLst/>
          </a:prstGeom>
          <a:noFill/>
          <a:ln/>
        </p:spPr>
        <p:txBody>
          <a:bodyPr wrap="square" lIns="0" tIns="0" rIns="0" bIns="0" rtlCol="0" anchor="ctr">
            <a:normAutofit/>
          </a:bodyPr>
          <a:lstStyle/>
          <a:p>
            <a:pPr algn="r" indent="0" marL="0">
              <a:buNone/>
            </a:pPr>
            <a:r>
              <a:rPr lang="en-US" sz="900" b="1" spc="50" kern="0" dirty="0">
                <a:solidFill>
                  <a:srgbClr val="D4DEED"/>
                </a:solidFill>
                <a:latin typeface="Inter" pitchFamily="34" charset="0"/>
                <a:ea typeface="Inter" pitchFamily="34" charset="-122"/>
                <a:cs typeface="Inter" pitchFamily="34" charset="-120"/>
              </a:rPr>
              <a:t>PAPER</a:t>
            </a:r>
            <a:endParaRPr lang="en-US" sz="900" dirty="0"/>
          </a:p>
        </p:txBody>
      </p:sp>
      <p:sp>
        <p:nvSpPr>
          <p:cNvPr id="9" name="Text 7"/>
          <p:cNvSpPr txBox="1"/>
          <p:nvPr/>
        </p:nvSpPr>
        <p:spPr>
          <a:xfrm>
            <a:off x="5522976" y="1965960"/>
            <a:ext cx="1316736" cy="155448"/>
          </a:xfrm>
          <a:prstGeom prst="rect">
            <a:avLst/>
          </a:prstGeom>
          <a:noFill/>
          <a:ln/>
        </p:spPr>
        <p:txBody>
          <a:bodyPr wrap="square" lIns="0" tIns="0" rIns="0" bIns="0" rtlCol="0" anchor="ctr">
            <a:normAutofit/>
          </a:bodyPr>
          <a:lstStyle/>
          <a:p>
            <a:pPr algn="r" indent="0" marL="0">
              <a:buNone/>
            </a:pPr>
            <a:r>
              <a:rPr lang="en-US" sz="900" b="1" spc="50" kern="0" dirty="0">
                <a:solidFill>
                  <a:srgbClr val="D4DEED"/>
                </a:solidFill>
                <a:latin typeface="Inter" pitchFamily="34" charset="0"/>
                <a:ea typeface="Inter" pitchFamily="34" charset="-122"/>
                <a:cs typeface="Inter" pitchFamily="34" charset="-120"/>
              </a:rPr>
              <a:t>REPRODUCED</a:t>
            </a:r>
            <a:endParaRPr lang="en-US" sz="900" dirty="0"/>
          </a:p>
        </p:txBody>
      </p:sp>
      <p:sp>
        <p:nvSpPr>
          <p:cNvPr id="10" name="Text 8"/>
          <p:cNvSpPr txBox="1"/>
          <p:nvPr/>
        </p:nvSpPr>
        <p:spPr>
          <a:xfrm>
            <a:off x="7187184" y="1965960"/>
            <a:ext cx="685800" cy="155448"/>
          </a:xfrm>
          <a:prstGeom prst="rect">
            <a:avLst/>
          </a:prstGeom>
          <a:noFill/>
          <a:ln/>
        </p:spPr>
        <p:txBody>
          <a:bodyPr wrap="square" lIns="0" tIns="0" rIns="0" bIns="0" rtlCol="0" anchor="ctr">
            <a:normAutofit/>
          </a:bodyPr>
          <a:lstStyle/>
          <a:p>
            <a:pPr algn="r" indent="0" marL="0">
              <a:buNone/>
            </a:pPr>
            <a:r>
              <a:rPr lang="en-US" sz="900" b="1" spc="50" kern="0" dirty="0">
                <a:solidFill>
                  <a:srgbClr val="D4DEED"/>
                </a:solidFill>
                <a:latin typeface="Inter" pitchFamily="34" charset="0"/>
                <a:ea typeface="Inter" pitchFamily="34" charset="-122"/>
                <a:cs typeface="Inter" pitchFamily="34" charset="-120"/>
              </a:rPr>
              <a:t>DIFF.</a:t>
            </a:r>
            <a:endParaRPr lang="en-US" sz="900" dirty="0"/>
          </a:p>
        </p:txBody>
      </p:sp>
      <p:sp>
        <p:nvSpPr>
          <p:cNvPr id="11" name="Shape 9"/>
          <p:cNvSpPr/>
          <p:nvPr/>
        </p:nvSpPr>
        <p:spPr>
          <a:xfrm>
            <a:off x="832104" y="2487168"/>
            <a:ext cx="7306056" cy="822960"/>
          </a:xfrm>
          <a:prstGeom prst="roundRect">
            <a:avLst>
              <a:gd name="adj" fmla="val 12222"/>
            </a:avLst>
          </a:prstGeom>
          <a:solidFill>
            <a:srgbClr val="F8FAFD"/>
          </a:solidFill>
          <a:ln w="10160">
            <a:solidFill>
              <a:srgbClr val="E0E7F0"/>
            </a:solidFill>
            <a:prstDash val="solid"/>
          </a:ln>
        </p:spPr>
      </p:sp>
      <p:sp>
        <p:nvSpPr>
          <p:cNvPr id="12" name="Shape 10"/>
          <p:cNvSpPr/>
          <p:nvPr/>
        </p:nvSpPr>
        <p:spPr>
          <a:xfrm>
            <a:off x="832104" y="2487168"/>
            <a:ext cx="64008" cy="822960"/>
          </a:xfrm>
          <a:prstGeom prst="roundRect">
            <a:avLst>
              <a:gd name="adj" fmla="val 42857"/>
            </a:avLst>
          </a:prstGeom>
          <a:solidFill>
            <a:srgbClr val="5478D4"/>
          </a:solidFill>
          <a:ln w="1270">
            <a:solidFill>
              <a:srgbClr val="5478D4">
                <a:alpha val="0"/>
              </a:srgbClr>
            </a:solidFill>
            <a:prstDash val="solid"/>
          </a:ln>
        </p:spPr>
      </p:sp>
      <p:sp>
        <p:nvSpPr>
          <p:cNvPr id="13" name="Text 11"/>
          <p:cNvSpPr txBox="1"/>
          <p:nvPr/>
        </p:nvSpPr>
        <p:spPr>
          <a:xfrm>
            <a:off x="1024128" y="2596896"/>
            <a:ext cx="2971800" cy="530352"/>
          </a:xfrm>
          <a:prstGeom prst="rect">
            <a:avLst/>
          </a:prstGeom>
          <a:noFill/>
          <a:ln/>
        </p:spPr>
        <p:txBody>
          <a:bodyPr wrap="square" lIns="0" tIns="0" rIns="0" bIns="0" rtlCol="0" anchor="ctr">
            <a:normAutofit/>
          </a:bodyPr>
          <a:lstStyle/>
          <a:p>
            <a:pPr algn="l" indent="0" marL="0">
              <a:buNone/>
            </a:pPr>
            <a:r>
              <a:rPr lang="en-US" sz="1240" b="1" dirty="0">
                <a:solidFill>
                  <a:srgbClr val="101A32"/>
                </a:solidFill>
                <a:latin typeface="Inter" pitchFamily="34" charset="0"/>
                <a:ea typeface="Inter" pitchFamily="34" charset="-122"/>
                <a:cs typeface="Inter" pitchFamily="34" charset="-120"/>
              </a:rPr>
              <a:t>Linear Regression</a:t>
            </a:r>
            <a:endParaRPr lang="en-US" sz="1240" dirty="0"/>
          </a:p>
          <a:p>
            <a:pPr algn="l" indent="0" marL="0">
              <a:buNone/>
            </a:pPr>
            <a:r>
              <a:rPr lang="en-US" sz="1240" b="1" dirty="0">
                <a:solidFill>
                  <a:srgbClr val="101A32"/>
                </a:solidFill>
                <a:latin typeface="Inter" pitchFamily="34" charset="0"/>
                <a:ea typeface="Inter" pitchFamily="34" charset="-122"/>
                <a:cs typeface="Inter" pitchFamily="34" charset="-120"/>
              </a:rPr>
              <a:t>without crossing</a:t>
            </a:r>
            <a:endParaRPr lang="en-US" sz="1240" dirty="0"/>
          </a:p>
        </p:txBody>
      </p:sp>
      <p:sp>
        <p:nvSpPr>
          <p:cNvPr id="14" name="Text 12"/>
          <p:cNvSpPr txBox="1"/>
          <p:nvPr/>
        </p:nvSpPr>
        <p:spPr>
          <a:xfrm>
            <a:off x="4251960" y="2706624"/>
            <a:ext cx="1115568" cy="274320"/>
          </a:xfrm>
          <a:prstGeom prst="rect">
            <a:avLst/>
          </a:prstGeom>
          <a:noFill/>
          <a:ln/>
        </p:spPr>
        <p:txBody>
          <a:bodyPr wrap="square" lIns="0" tIns="0" rIns="0" bIns="0" rtlCol="0" anchor="ctr">
            <a:normAutofit/>
          </a:bodyPr>
          <a:lstStyle/>
          <a:p>
            <a:pPr algn="r" indent="0" marL="0">
              <a:buNone/>
            </a:pPr>
            <a:r>
              <a:rPr lang="en-US" sz="1400" b="1" dirty="0">
                <a:solidFill>
                  <a:srgbClr val="65738A"/>
                </a:solidFill>
                <a:latin typeface="Inter" pitchFamily="34" charset="0"/>
                <a:ea typeface="Inter" pitchFamily="34" charset="-122"/>
                <a:cs typeface="Inter" pitchFamily="34" charset="-120"/>
              </a:rPr>
              <a:t>5,735.84</a:t>
            </a:r>
            <a:endParaRPr lang="en-US" sz="1400" dirty="0"/>
          </a:p>
        </p:txBody>
      </p:sp>
      <p:sp>
        <p:nvSpPr>
          <p:cNvPr id="15" name="Text 13"/>
          <p:cNvSpPr txBox="1"/>
          <p:nvPr/>
        </p:nvSpPr>
        <p:spPr>
          <a:xfrm>
            <a:off x="5486400" y="2706624"/>
            <a:ext cx="1353312" cy="274320"/>
          </a:xfrm>
          <a:prstGeom prst="rect">
            <a:avLst/>
          </a:prstGeom>
          <a:noFill/>
          <a:ln/>
        </p:spPr>
        <p:txBody>
          <a:bodyPr wrap="square" lIns="0" tIns="0" rIns="0" bIns="0" rtlCol="0" anchor="ctr">
            <a:normAutofit/>
          </a:bodyPr>
          <a:lstStyle/>
          <a:p>
            <a:pPr algn="r" indent="0" marL="0">
              <a:buNone/>
            </a:pPr>
            <a:r>
              <a:rPr lang="en-US" sz="1400" b="1" dirty="0">
                <a:solidFill>
                  <a:srgbClr val="101A32"/>
                </a:solidFill>
                <a:latin typeface="Inter" pitchFamily="34" charset="0"/>
                <a:ea typeface="Inter" pitchFamily="34" charset="-122"/>
                <a:cs typeface="Inter" pitchFamily="34" charset="-120"/>
              </a:rPr>
              <a:t>5,707.02</a:t>
            </a:r>
            <a:endParaRPr lang="en-US" sz="1400" dirty="0"/>
          </a:p>
        </p:txBody>
      </p:sp>
      <p:sp>
        <p:nvSpPr>
          <p:cNvPr id="16" name="Shape 14"/>
          <p:cNvSpPr/>
          <p:nvPr/>
        </p:nvSpPr>
        <p:spPr>
          <a:xfrm>
            <a:off x="7050024" y="2743200"/>
            <a:ext cx="850392" cy="283464"/>
          </a:xfrm>
          <a:prstGeom prst="roundRect">
            <a:avLst>
              <a:gd name="adj" fmla="val 38710"/>
            </a:avLst>
          </a:prstGeom>
          <a:solidFill>
            <a:srgbClr val="E9EEFC"/>
          </a:solidFill>
          <a:ln w="1270">
            <a:solidFill>
              <a:srgbClr val="E9EEFC">
                <a:alpha val="0"/>
              </a:srgbClr>
            </a:solidFill>
            <a:prstDash val="solid"/>
          </a:ln>
        </p:spPr>
      </p:sp>
      <p:sp>
        <p:nvSpPr>
          <p:cNvPr id="17" name="Text 15"/>
          <p:cNvSpPr txBox="1"/>
          <p:nvPr/>
        </p:nvSpPr>
        <p:spPr>
          <a:xfrm>
            <a:off x="7123176" y="2756916"/>
            <a:ext cx="704088" cy="256032"/>
          </a:xfrm>
          <a:prstGeom prst="rect">
            <a:avLst/>
          </a:prstGeom>
          <a:noFill/>
          <a:ln/>
        </p:spPr>
        <p:txBody>
          <a:bodyPr wrap="square" lIns="0" tIns="0" rIns="0" bIns="0" rtlCol="0" anchor="ctr">
            <a:normAutofit/>
          </a:bodyPr>
          <a:lstStyle/>
          <a:p>
            <a:pPr algn="ctr" indent="0" marL="0">
              <a:buNone/>
            </a:pPr>
            <a:r>
              <a:rPr lang="en-US" sz="920" b="1" dirty="0">
                <a:solidFill>
                  <a:srgbClr val="5478D4"/>
                </a:solidFill>
                <a:latin typeface="Inter" pitchFamily="34" charset="0"/>
                <a:ea typeface="Inter" pitchFamily="34" charset="-122"/>
                <a:cs typeface="Inter" pitchFamily="34" charset="-120"/>
              </a:rPr>
              <a:t>−0.50%</a:t>
            </a:r>
            <a:endParaRPr lang="en-US" sz="920" dirty="0"/>
          </a:p>
        </p:txBody>
      </p:sp>
      <p:sp>
        <p:nvSpPr>
          <p:cNvPr id="18" name="Shape 16"/>
          <p:cNvSpPr/>
          <p:nvPr/>
        </p:nvSpPr>
        <p:spPr>
          <a:xfrm>
            <a:off x="832104" y="3493008"/>
            <a:ext cx="7306056" cy="822960"/>
          </a:xfrm>
          <a:prstGeom prst="roundRect">
            <a:avLst>
              <a:gd name="adj" fmla="val 12222"/>
            </a:avLst>
          </a:prstGeom>
          <a:solidFill>
            <a:srgbClr val="FCFAF6"/>
          </a:solidFill>
          <a:ln w="10160">
            <a:solidFill>
              <a:srgbClr val="E0E7F0"/>
            </a:solidFill>
            <a:prstDash val="solid"/>
          </a:ln>
        </p:spPr>
      </p:sp>
      <p:sp>
        <p:nvSpPr>
          <p:cNvPr id="19" name="Shape 17"/>
          <p:cNvSpPr/>
          <p:nvPr/>
        </p:nvSpPr>
        <p:spPr>
          <a:xfrm>
            <a:off x="832104" y="3493008"/>
            <a:ext cx="64008" cy="822960"/>
          </a:xfrm>
          <a:prstGeom prst="roundRect">
            <a:avLst>
              <a:gd name="adj" fmla="val 42857"/>
            </a:avLst>
          </a:prstGeom>
          <a:solidFill>
            <a:srgbClr val="F2A541"/>
          </a:solidFill>
          <a:ln w="1270">
            <a:solidFill>
              <a:srgbClr val="F2A541">
                <a:alpha val="0"/>
              </a:srgbClr>
            </a:solidFill>
            <a:prstDash val="solid"/>
          </a:ln>
        </p:spPr>
      </p:sp>
      <p:sp>
        <p:nvSpPr>
          <p:cNvPr id="20" name="Text 18"/>
          <p:cNvSpPr txBox="1"/>
          <p:nvPr/>
        </p:nvSpPr>
        <p:spPr>
          <a:xfrm>
            <a:off x="1024128" y="3602736"/>
            <a:ext cx="2971800" cy="530352"/>
          </a:xfrm>
          <a:prstGeom prst="rect">
            <a:avLst/>
          </a:prstGeom>
          <a:noFill/>
          <a:ln/>
        </p:spPr>
        <p:txBody>
          <a:bodyPr wrap="square" lIns="0" tIns="0" rIns="0" bIns="0" rtlCol="0" anchor="ctr">
            <a:normAutofit/>
          </a:bodyPr>
          <a:lstStyle/>
          <a:p>
            <a:pPr algn="l" indent="0" marL="0">
              <a:buNone/>
            </a:pPr>
            <a:r>
              <a:rPr lang="en-US" sz="1240" b="1" dirty="0">
                <a:solidFill>
                  <a:srgbClr val="101A32"/>
                </a:solidFill>
                <a:latin typeface="Inter" pitchFamily="34" charset="0"/>
                <a:ea typeface="Inter" pitchFamily="34" charset="-122"/>
                <a:cs typeface="Inter" pitchFamily="34" charset="-120"/>
              </a:rPr>
              <a:t>Linear Regression</a:t>
            </a:r>
            <a:endParaRPr lang="en-US" sz="1240" dirty="0"/>
          </a:p>
          <a:p>
            <a:pPr algn="l" indent="0" marL="0">
              <a:buNone/>
            </a:pPr>
            <a:r>
              <a:rPr lang="en-US" sz="1240" b="1" dirty="0">
                <a:solidFill>
                  <a:srgbClr val="101A32"/>
                </a:solidFill>
                <a:latin typeface="Inter" pitchFamily="34" charset="0"/>
                <a:ea typeface="Inter" pitchFamily="34" charset="-122"/>
                <a:cs typeface="Inter" pitchFamily="34" charset="-120"/>
              </a:rPr>
              <a:t>with prefix × type crossing</a:t>
            </a:r>
            <a:endParaRPr lang="en-US" sz="1240" dirty="0"/>
          </a:p>
        </p:txBody>
      </p:sp>
      <p:sp>
        <p:nvSpPr>
          <p:cNvPr id="21" name="Text 19"/>
          <p:cNvSpPr txBox="1"/>
          <p:nvPr/>
        </p:nvSpPr>
        <p:spPr>
          <a:xfrm>
            <a:off x="4251960" y="3712464"/>
            <a:ext cx="1115568" cy="274320"/>
          </a:xfrm>
          <a:prstGeom prst="rect">
            <a:avLst/>
          </a:prstGeom>
          <a:noFill/>
          <a:ln/>
        </p:spPr>
        <p:txBody>
          <a:bodyPr wrap="square" lIns="0" tIns="0" rIns="0" bIns="0" rtlCol="0" anchor="ctr">
            <a:normAutofit/>
          </a:bodyPr>
          <a:lstStyle/>
          <a:p>
            <a:pPr algn="r" indent="0" marL="0">
              <a:buNone/>
            </a:pPr>
            <a:r>
              <a:rPr lang="en-US" sz="1400" b="1" dirty="0">
                <a:solidFill>
                  <a:srgbClr val="65738A"/>
                </a:solidFill>
                <a:latin typeface="Inter" pitchFamily="34" charset="0"/>
                <a:ea typeface="Inter" pitchFamily="34" charset="-122"/>
                <a:cs typeface="Inter" pitchFamily="34" charset="-120"/>
              </a:rPr>
              <a:t>5,628.09</a:t>
            </a:r>
            <a:endParaRPr lang="en-US" sz="1400" dirty="0"/>
          </a:p>
        </p:txBody>
      </p:sp>
      <p:sp>
        <p:nvSpPr>
          <p:cNvPr id="22" name="Text 20"/>
          <p:cNvSpPr txBox="1"/>
          <p:nvPr/>
        </p:nvSpPr>
        <p:spPr>
          <a:xfrm>
            <a:off x="5486400" y="3712464"/>
            <a:ext cx="1353312" cy="274320"/>
          </a:xfrm>
          <a:prstGeom prst="rect">
            <a:avLst/>
          </a:prstGeom>
          <a:noFill/>
          <a:ln/>
        </p:spPr>
        <p:txBody>
          <a:bodyPr wrap="square" lIns="0" tIns="0" rIns="0" bIns="0" rtlCol="0" anchor="ctr">
            <a:normAutofit/>
          </a:bodyPr>
          <a:lstStyle/>
          <a:p>
            <a:pPr algn="r" indent="0" marL="0">
              <a:buNone/>
            </a:pPr>
            <a:r>
              <a:rPr lang="en-US" sz="1400" b="1" dirty="0">
                <a:solidFill>
                  <a:srgbClr val="101A32"/>
                </a:solidFill>
                <a:latin typeface="Inter" pitchFamily="34" charset="0"/>
                <a:ea typeface="Inter" pitchFamily="34" charset="-122"/>
                <a:cs typeface="Inter" pitchFamily="34" charset="-120"/>
              </a:rPr>
              <a:t>5,685.62</a:t>
            </a:r>
            <a:endParaRPr lang="en-US" sz="1400" dirty="0"/>
          </a:p>
        </p:txBody>
      </p:sp>
      <p:sp>
        <p:nvSpPr>
          <p:cNvPr id="23" name="Shape 21"/>
          <p:cNvSpPr/>
          <p:nvPr/>
        </p:nvSpPr>
        <p:spPr>
          <a:xfrm>
            <a:off x="7050024" y="3749040"/>
            <a:ext cx="850392" cy="283464"/>
          </a:xfrm>
          <a:prstGeom prst="roundRect">
            <a:avLst>
              <a:gd name="adj" fmla="val 38710"/>
            </a:avLst>
          </a:prstGeom>
          <a:solidFill>
            <a:srgbClr val="FFF2DE"/>
          </a:solidFill>
          <a:ln w="1270">
            <a:solidFill>
              <a:srgbClr val="FFF2DE">
                <a:alpha val="0"/>
              </a:srgbClr>
            </a:solidFill>
            <a:prstDash val="solid"/>
          </a:ln>
        </p:spPr>
      </p:sp>
      <p:sp>
        <p:nvSpPr>
          <p:cNvPr id="24" name="Text 22"/>
          <p:cNvSpPr txBox="1"/>
          <p:nvPr/>
        </p:nvSpPr>
        <p:spPr>
          <a:xfrm>
            <a:off x="7123176" y="3762756"/>
            <a:ext cx="704088" cy="256032"/>
          </a:xfrm>
          <a:prstGeom prst="rect">
            <a:avLst/>
          </a:prstGeom>
          <a:noFill/>
          <a:ln/>
        </p:spPr>
        <p:txBody>
          <a:bodyPr wrap="square" lIns="0" tIns="0" rIns="0" bIns="0" rtlCol="0" anchor="ctr">
            <a:normAutofit/>
          </a:bodyPr>
          <a:lstStyle/>
          <a:p>
            <a:pPr algn="ctr" indent="0" marL="0">
              <a:buNone/>
            </a:pPr>
            <a:r>
              <a:rPr lang="en-US" sz="920" b="1" dirty="0">
                <a:solidFill>
                  <a:srgbClr val="F2A541"/>
                </a:solidFill>
                <a:latin typeface="Inter" pitchFamily="34" charset="0"/>
                <a:ea typeface="Inter" pitchFamily="34" charset="-122"/>
                <a:cs typeface="Inter" pitchFamily="34" charset="-120"/>
              </a:rPr>
              <a:t>+1.02%</a:t>
            </a:r>
            <a:endParaRPr lang="en-US" sz="920" dirty="0"/>
          </a:p>
        </p:txBody>
      </p:sp>
      <p:sp>
        <p:nvSpPr>
          <p:cNvPr id="25" name="Text 23"/>
          <p:cNvSpPr txBox="1"/>
          <p:nvPr/>
        </p:nvSpPr>
        <p:spPr>
          <a:xfrm>
            <a:off x="987552" y="4517136"/>
            <a:ext cx="2194560" cy="164592"/>
          </a:xfrm>
          <a:prstGeom prst="rect">
            <a:avLst/>
          </a:prstGeom>
          <a:noFill/>
          <a:ln/>
        </p:spPr>
        <p:txBody>
          <a:bodyPr wrap="square" lIns="0" tIns="0" rIns="0" bIns="0" rtlCol="0" anchor="ctr">
            <a:normAutofit/>
          </a:bodyPr>
          <a:lstStyle/>
          <a:p>
            <a:pPr algn="l" indent="0" marL="0">
              <a:buNone/>
            </a:pPr>
            <a:r>
              <a:rPr lang="en-US" sz="920" i="1" dirty="0">
                <a:solidFill>
                  <a:srgbClr val="65738A"/>
                </a:solidFill>
                <a:latin typeface="Inter" pitchFamily="34" charset="0"/>
                <a:ea typeface="Inter" pitchFamily="34" charset="-122"/>
                <a:cs typeface="Inter" pitchFamily="34" charset="-120"/>
              </a:rPr>
              <a:t>RMSE is in milliseconds</a:t>
            </a:r>
            <a:endParaRPr lang="en-US" sz="920" dirty="0"/>
          </a:p>
        </p:txBody>
      </p:sp>
      <p:sp>
        <p:nvSpPr>
          <p:cNvPr id="26" name="Shape 24"/>
          <p:cNvSpPr/>
          <p:nvPr/>
        </p:nvSpPr>
        <p:spPr>
          <a:xfrm>
            <a:off x="8577072" y="1609344"/>
            <a:ext cx="3008376" cy="3401568"/>
          </a:xfrm>
          <a:prstGeom prst="roundRect">
            <a:avLst>
              <a:gd name="adj" fmla="val 5471"/>
            </a:avLst>
          </a:prstGeom>
          <a:solidFill>
            <a:srgbClr val="101A32"/>
          </a:solidFill>
          <a:ln w="10160">
            <a:solidFill>
              <a:srgbClr val="101A32"/>
            </a:solidFill>
            <a:prstDash val="solid"/>
          </a:ln>
        </p:spPr>
      </p:sp>
      <p:sp>
        <p:nvSpPr>
          <p:cNvPr id="27" name="Text 25"/>
          <p:cNvSpPr txBox="1"/>
          <p:nvPr/>
        </p:nvSpPr>
        <p:spPr>
          <a:xfrm>
            <a:off x="8887968" y="1938528"/>
            <a:ext cx="2395728" cy="201168"/>
          </a:xfrm>
          <a:prstGeom prst="rect">
            <a:avLst/>
          </a:prstGeom>
          <a:noFill/>
          <a:ln/>
        </p:spPr>
        <p:txBody>
          <a:bodyPr wrap="square" lIns="0" tIns="0" rIns="0" bIns="0" rtlCol="0" anchor="ctr">
            <a:normAutofit/>
          </a:bodyPr>
          <a:lstStyle/>
          <a:p>
            <a:pPr algn="l" indent="0" marL="0">
              <a:buNone/>
            </a:pPr>
            <a:r>
              <a:rPr lang="en-US" sz="920" b="1" spc="80" kern="0" dirty="0">
                <a:solidFill>
                  <a:srgbClr val="AEBED6"/>
                </a:solidFill>
                <a:latin typeface="Inter" pitchFamily="34" charset="0"/>
                <a:ea typeface="Inter" pitchFamily="34" charset="-122"/>
                <a:cs typeface="Inter" pitchFamily="34" charset="-120"/>
              </a:rPr>
              <a:t>REPRODUCTION CHECK</a:t>
            </a:r>
            <a:endParaRPr lang="en-US" sz="920" dirty="0"/>
          </a:p>
        </p:txBody>
      </p:sp>
      <p:sp>
        <p:nvSpPr>
          <p:cNvPr id="28" name="Text 26"/>
          <p:cNvSpPr txBox="1"/>
          <p:nvPr/>
        </p:nvSpPr>
        <p:spPr>
          <a:xfrm>
            <a:off x="8869680" y="2468880"/>
            <a:ext cx="2423160" cy="585216"/>
          </a:xfrm>
          <a:prstGeom prst="rect">
            <a:avLst/>
          </a:prstGeom>
          <a:noFill/>
          <a:ln/>
        </p:spPr>
        <p:txBody>
          <a:bodyPr wrap="square" lIns="0" tIns="0" rIns="0" bIns="0" rtlCol="0" anchor="ctr">
            <a:normAutofit/>
          </a:bodyPr>
          <a:lstStyle/>
          <a:p>
            <a:pPr algn="l" indent="0" marL="0">
              <a:buNone/>
            </a:pPr>
            <a:r>
              <a:rPr lang="en-US" sz="3000" b="1" dirty="0">
                <a:solidFill>
                  <a:srgbClr val="17AEB0"/>
                </a:solidFill>
                <a:latin typeface="Inter" pitchFamily="34" charset="0"/>
                <a:ea typeface="Inter" pitchFamily="34" charset="-122"/>
                <a:cs typeface="Inter" pitchFamily="34" charset="-120"/>
              </a:rPr>
              <a:t>~0.5%</a:t>
            </a:r>
            <a:endParaRPr lang="en-US" sz="3000" dirty="0"/>
          </a:p>
        </p:txBody>
      </p:sp>
      <p:sp>
        <p:nvSpPr>
          <p:cNvPr id="29" name="Text 27"/>
          <p:cNvSpPr txBox="1"/>
          <p:nvPr/>
        </p:nvSpPr>
        <p:spPr>
          <a:xfrm>
            <a:off x="8897112" y="3063240"/>
            <a:ext cx="2286000" cy="219456"/>
          </a:xfrm>
          <a:prstGeom prst="rect">
            <a:avLst/>
          </a:prstGeom>
          <a:noFill/>
          <a:ln/>
        </p:spPr>
        <p:txBody>
          <a:bodyPr wrap="square" lIns="0" tIns="0" rIns="0" bIns="0" rtlCol="0" anchor="ctr">
            <a:normAutofit/>
          </a:bodyPr>
          <a:lstStyle/>
          <a:p>
            <a:pPr algn="l" indent="0" marL="0">
              <a:buNone/>
            </a:pPr>
            <a:r>
              <a:rPr lang="en-US" sz="1050" dirty="0">
                <a:solidFill>
                  <a:srgbClr val="D4DEED"/>
                </a:solidFill>
                <a:latin typeface="Inter" pitchFamily="34" charset="0"/>
                <a:ea typeface="Inter" pitchFamily="34" charset="-122"/>
                <a:cs typeface="Inter" pitchFamily="34" charset="-120"/>
              </a:rPr>
              <a:t>difference without crossing</a:t>
            </a:r>
            <a:endParaRPr lang="en-US" sz="1050" dirty="0"/>
          </a:p>
        </p:txBody>
      </p:sp>
      <p:sp>
        <p:nvSpPr>
          <p:cNvPr id="30" name="Shape 28"/>
          <p:cNvSpPr/>
          <p:nvPr/>
        </p:nvSpPr>
        <p:spPr>
          <a:xfrm>
            <a:off x="8897112" y="3502152"/>
            <a:ext cx="2304288" cy="0"/>
          </a:xfrm>
          <a:prstGeom prst="line">
            <a:avLst/>
          </a:prstGeom>
          <a:noFill/>
          <a:ln w="12700">
            <a:solidFill>
              <a:srgbClr val="334461"/>
            </a:solidFill>
            <a:prstDash val="solid"/>
            <a:headEnd type="none"/>
            <a:tailEnd type="none"/>
          </a:ln>
        </p:spPr>
      </p:sp>
      <p:sp>
        <p:nvSpPr>
          <p:cNvPr id="31" name="Text 29"/>
          <p:cNvSpPr txBox="1"/>
          <p:nvPr/>
        </p:nvSpPr>
        <p:spPr>
          <a:xfrm>
            <a:off x="8869680" y="3721608"/>
            <a:ext cx="2423160" cy="585216"/>
          </a:xfrm>
          <a:prstGeom prst="rect">
            <a:avLst/>
          </a:prstGeom>
          <a:noFill/>
          <a:ln/>
        </p:spPr>
        <p:txBody>
          <a:bodyPr wrap="square" lIns="0" tIns="0" rIns="0" bIns="0" rtlCol="0" anchor="ctr">
            <a:normAutofit/>
          </a:bodyPr>
          <a:lstStyle/>
          <a:p>
            <a:pPr algn="l" indent="0" marL="0">
              <a:buNone/>
            </a:pPr>
            <a:r>
              <a:rPr lang="en-US" sz="3000" b="1" dirty="0">
                <a:solidFill>
                  <a:srgbClr val="F2A541"/>
                </a:solidFill>
                <a:latin typeface="Inter" pitchFamily="34" charset="0"/>
                <a:ea typeface="Inter" pitchFamily="34" charset="-122"/>
                <a:cs typeface="Inter" pitchFamily="34" charset="-120"/>
              </a:rPr>
              <a:t>~1.0%</a:t>
            </a:r>
            <a:endParaRPr lang="en-US" sz="3000" dirty="0"/>
          </a:p>
        </p:txBody>
      </p:sp>
      <p:sp>
        <p:nvSpPr>
          <p:cNvPr id="32" name="Text 30"/>
          <p:cNvSpPr txBox="1"/>
          <p:nvPr/>
        </p:nvSpPr>
        <p:spPr>
          <a:xfrm>
            <a:off x="8897112" y="4315968"/>
            <a:ext cx="2286000" cy="365760"/>
          </a:xfrm>
          <a:prstGeom prst="rect">
            <a:avLst/>
          </a:prstGeom>
          <a:noFill/>
          <a:ln/>
        </p:spPr>
        <p:txBody>
          <a:bodyPr wrap="square" lIns="0" tIns="0" rIns="0" bIns="0" rtlCol="0" anchor="t">
            <a:normAutofit/>
          </a:bodyPr>
          <a:lstStyle/>
          <a:p>
            <a:pPr algn="l" indent="0" marL="0">
              <a:buNone/>
            </a:pPr>
            <a:r>
              <a:rPr lang="en-US" sz="1050" dirty="0">
                <a:solidFill>
                  <a:srgbClr val="D4DEED"/>
                </a:solidFill>
                <a:latin typeface="Inter" pitchFamily="34" charset="0"/>
                <a:ea typeface="Inter" pitchFamily="34" charset="-122"/>
                <a:cs typeface="Inter" pitchFamily="34" charset="-120"/>
              </a:rPr>
              <a:t>difference with feature crossing</a:t>
            </a:r>
            <a:endParaRPr lang="en-US" sz="1050" dirty="0"/>
          </a:p>
        </p:txBody>
      </p:sp>
      <p:sp>
        <p:nvSpPr>
          <p:cNvPr id="33" name="Shape 31"/>
          <p:cNvSpPr/>
          <p:nvPr/>
        </p:nvSpPr>
        <p:spPr>
          <a:xfrm>
            <a:off x="603504" y="5285232"/>
            <a:ext cx="10981944" cy="731520"/>
          </a:xfrm>
          <a:prstGeom prst="roundRect">
            <a:avLst>
              <a:gd name="adj" fmla="val 17500"/>
            </a:avLst>
          </a:prstGeom>
          <a:solidFill>
            <a:srgbClr val="E3F7F6"/>
          </a:solidFill>
          <a:ln w="10160">
            <a:solidFill>
              <a:srgbClr val="CBEAE7"/>
            </a:solidFill>
            <a:prstDash val="solid"/>
          </a:ln>
        </p:spPr>
      </p:sp>
      <p:sp>
        <p:nvSpPr>
          <p:cNvPr id="34" name="Shape 32"/>
          <p:cNvSpPr/>
          <p:nvPr/>
        </p:nvSpPr>
        <p:spPr>
          <a:xfrm>
            <a:off x="850392" y="5504688"/>
            <a:ext cx="256032" cy="256032"/>
          </a:xfrm>
          <a:prstGeom prst="ellipse">
            <a:avLst/>
          </a:prstGeom>
          <a:solidFill>
            <a:srgbClr val="17AEB0"/>
          </a:solidFill>
          <a:ln w="10160">
            <a:solidFill>
              <a:srgbClr val="17AEB0"/>
            </a:solidFill>
            <a:prstDash val="solid"/>
          </a:ln>
        </p:spPr>
      </p:sp>
      <p:sp>
        <p:nvSpPr>
          <p:cNvPr id="35" name="Text 33"/>
          <p:cNvSpPr txBox="1"/>
          <p:nvPr/>
        </p:nvSpPr>
        <p:spPr>
          <a:xfrm>
            <a:off x="1261872" y="5449824"/>
            <a:ext cx="960120" cy="201168"/>
          </a:xfrm>
          <a:prstGeom prst="rect">
            <a:avLst/>
          </a:prstGeom>
          <a:noFill/>
          <a:ln/>
        </p:spPr>
        <p:txBody>
          <a:bodyPr wrap="square" lIns="0" tIns="0" rIns="0" bIns="0" rtlCol="0" anchor="ctr">
            <a:normAutofit/>
          </a:bodyPr>
          <a:lstStyle/>
          <a:p>
            <a:pPr algn="l" indent="0" marL="0">
              <a:buNone/>
            </a:pPr>
            <a:r>
              <a:rPr lang="en-US" sz="1050" b="1" dirty="0">
                <a:solidFill>
                  <a:srgbClr val="17AEB0"/>
                </a:solidFill>
                <a:latin typeface="Inter" pitchFamily="34" charset="0"/>
                <a:ea typeface="Inter" pitchFamily="34" charset="-122"/>
                <a:cs typeface="Inter" pitchFamily="34" charset="-120"/>
              </a:rPr>
              <a:t>Takeaway</a:t>
            </a:r>
            <a:endParaRPr lang="en-US" sz="1050" dirty="0"/>
          </a:p>
        </p:txBody>
      </p:sp>
      <p:sp>
        <p:nvSpPr>
          <p:cNvPr id="36" name="Text 34"/>
          <p:cNvSpPr txBox="1"/>
          <p:nvPr/>
        </p:nvSpPr>
        <p:spPr>
          <a:xfrm>
            <a:off x="2240280" y="5413248"/>
            <a:ext cx="8869680" cy="283464"/>
          </a:xfrm>
          <a:prstGeom prst="rect">
            <a:avLst/>
          </a:prstGeom>
          <a:noFill/>
          <a:ln/>
        </p:spPr>
        <p:txBody>
          <a:bodyPr wrap="square" lIns="0" tIns="0" rIns="0" bIns="0" rtlCol="0" anchor="ctr">
            <a:normAutofit/>
          </a:bodyPr>
          <a:lstStyle/>
          <a:p>
            <a:pPr algn="l" indent="0" marL="0">
              <a:buNone/>
            </a:pPr>
            <a:r>
              <a:rPr lang="en-US" sz="1300" b="1" dirty="0">
                <a:solidFill>
                  <a:srgbClr val="101A32"/>
                </a:solidFill>
                <a:latin typeface="Inter" pitchFamily="34" charset="0"/>
                <a:ea typeface="Inter" pitchFamily="34" charset="-122"/>
                <a:cs typeface="Inter" pitchFamily="34" charset="-120"/>
              </a:rPr>
              <a:t>Both reproduced averages are within about 1% of the paper’s reported training RMSE.</a:t>
            </a:r>
            <a:endParaRPr lang="en-US" sz="1300" dirty="0"/>
          </a:p>
        </p:txBody>
      </p:sp>
      <p:sp>
        <p:nvSpPr>
          <p:cNvPr id="37" name="Shape 35"/>
          <p:cNvSpPr/>
          <p:nvPr/>
        </p:nvSpPr>
        <p:spPr>
          <a:xfrm>
            <a:off x="603504" y="6108192"/>
            <a:ext cx="10981944" cy="201168"/>
          </a:xfrm>
          <a:prstGeom prst="roundRect">
            <a:avLst>
              <a:gd name="adj" fmla="val 22727"/>
            </a:avLst>
          </a:prstGeom>
          <a:solidFill>
            <a:srgbClr val="F5F7FB"/>
          </a:solidFill>
          <a:ln w="10160">
            <a:solidFill>
              <a:srgbClr val="F5F7FB"/>
            </a:solidFill>
            <a:prstDash val="solid"/>
          </a:ln>
        </p:spPr>
      </p:sp>
      <p:sp>
        <p:nvSpPr>
          <p:cNvPr id="38" name="Text 36"/>
          <p:cNvSpPr txBox="1"/>
          <p:nvPr/>
        </p:nvSpPr>
        <p:spPr>
          <a:xfrm>
            <a:off x="640080" y="6099048"/>
            <a:ext cx="10881360" cy="182880"/>
          </a:xfrm>
          <a:prstGeom prst="rect">
            <a:avLst/>
          </a:prstGeom>
          <a:noFill/>
          <a:ln/>
        </p:spPr>
        <p:txBody>
          <a:bodyPr wrap="square" lIns="0" tIns="0" rIns="0" bIns="0" rtlCol="0" anchor="ctr">
            <a:normAutofit/>
          </a:bodyPr>
          <a:lstStyle/>
          <a:p>
            <a:pPr algn="l" indent="0" marL="0">
              <a:buNone/>
            </a:pPr>
            <a:r>
              <a:rPr lang="en-US" sz="890" i="1" dirty="0">
                <a:solidFill>
                  <a:srgbClr val="65738A"/>
                </a:solidFill>
                <a:latin typeface="Inter" pitchFamily="34" charset="0"/>
                <a:ea typeface="Inter" pitchFamily="34" charset="-122"/>
                <a:cs typeface="Inter" pitchFamily="34" charset="-120"/>
              </a:rPr>
              <a:t>Important: these are training-set averages, not the held-out test values used for the Part 2 comparison.</a:t>
            </a:r>
            <a:endParaRPr lang="en-US" sz="890" dirty="0"/>
          </a:p>
        </p:txBody>
      </p:sp>
      <p:sp>
        <p:nvSpPr>
          <p:cNvPr id="39" name="Shape 37"/>
          <p:cNvSpPr/>
          <p:nvPr/>
        </p:nvSpPr>
        <p:spPr>
          <a:xfrm>
            <a:off x="594360" y="6473952"/>
            <a:ext cx="11000232" cy="0"/>
          </a:xfrm>
          <a:prstGeom prst="line">
            <a:avLst/>
          </a:prstGeom>
          <a:noFill/>
          <a:ln w="10160">
            <a:solidFill>
              <a:srgbClr val="E0E7F0"/>
            </a:solidFill>
            <a:prstDash val="solid"/>
            <a:headEnd type="none"/>
            <a:tailEnd type="none"/>
          </a:ln>
        </p:spPr>
      </p:sp>
      <p:sp>
        <p:nvSpPr>
          <p:cNvPr id="40" name="Text 38"/>
          <p:cNvSpPr txBox="1"/>
          <p:nvPr/>
        </p:nvSpPr>
        <p:spPr>
          <a:xfrm>
            <a:off x="612648" y="6537960"/>
            <a:ext cx="6583680" cy="164592"/>
          </a:xfrm>
          <a:prstGeom prst="rect">
            <a:avLst/>
          </a:prstGeom>
          <a:noFill/>
          <a:ln/>
        </p:spPr>
        <p:txBody>
          <a:bodyPr wrap="square" lIns="0" tIns="0" rIns="0" bIns="0" rtlCol="0" anchor="ctr">
            <a:normAutofit/>
          </a:bodyPr>
          <a:lstStyle/>
          <a:p>
            <a:pPr algn="l" indent="0" marL="0">
              <a:buNone/>
            </a:pPr>
            <a:r>
              <a:rPr lang="en-US" sz="780" b="1" spc="50" kern="0" dirty="0">
                <a:solidFill>
                  <a:srgbClr val="65738A"/>
                </a:solidFill>
                <a:latin typeface="Inter" pitchFamily="34" charset="0"/>
                <a:ea typeface="Inter" pitchFamily="34" charset="-122"/>
                <a:cs typeface="Inter" pitchFamily="34" charset="-120"/>
              </a:rPr>
              <a:t>PREDICTING BAZEL BUILD TIMES  •  MINI PROJECT</a:t>
            </a:r>
            <a:endParaRPr lang="en-US" sz="780" dirty="0"/>
          </a:p>
        </p:txBody>
      </p:sp>
      <p:sp>
        <p:nvSpPr>
          <p:cNvPr id="41" name="Text 39"/>
          <p:cNvSpPr txBox="1"/>
          <p:nvPr/>
        </p:nvSpPr>
        <p:spPr>
          <a:xfrm>
            <a:off x="11018520" y="6528816"/>
            <a:ext cx="502920" cy="164592"/>
          </a:xfrm>
          <a:prstGeom prst="rect">
            <a:avLst/>
          </a:prstGeom>
          <a:noFill/>
          <a:ln/>
        </p:spPr>
        <p:txBody>
          <a:bodyPr wrap="square" lIns="0" tIns="0" rIns="0" bIns="0" rtlCol="0" anchor="ctr">
            <a:normAutofit/>
          </a:bodyPr>
          <a:lstStyle/>
          <a:p>
            <a:pPr algn="r" indent="0" marL="0">
              <a:buNone/>
            </a:pPr>
            <a:r>
              <a:rPr lang="en-US" sz="860" b="1" dirty="0">
                <a:solidFill>
                  <a:srgbClr val="65738A"/>
                </a:solidFill>
                <a:latin typeface="Inter" pitchFamily="34" charset="0"/>
                <a:ea typeface="Inter" pitchFamily="34" charset="-122"/>
                <a:cs typeface="Inter" pitchFamily="34" charset="-120"/>
              </a:rPr>
              <a:t>06</a:t>
            </a:r>
            <a:endParaRPr lang="en-US" sz="8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603504" y="256032"/>
            <a:ext cx="6858000" cy="201168"/>
          </a:xfrm>
          <a:prstGeom prst="rect">
            <a:avLst/>
          </a:prstGeom>
          <a:noFill/>
          <a:ln/>
        </p:spPr>
        <p:txBody>
          <a:bodyPr wrap="square" lIns="0" tIns="0" rIns="0" bIns="0" rtlCol="0" anchor="ctr">
            <a:normAutofit/>
          </a:bodyPr>
          <a:lstStyle/>
          <a:p>
            <a:pPr algn="l" indent="0" marL="0">
              <a:buNone/>
            </a:pPr>
            <a:r>
              <a:rPr lang="en-US" sz="920" b="1" spc="125" kern="0" dirty="0">
                <a:solidFill>
                  <a:srgbClr val="17AEB0"/>
                </a:solidFill>
                <a:latin typeface="Inter" pitchFamily="34" charset="0"/>
                <a:ea typeface="Inter" pitchFamily="34" charset="-122"/>
                <a:cs typeface="Inter" pitchFamily="34" charset="-120"/>
              </a:rPr>
              <a:t>06  /  TRAINING BEHAVIOUR</a:t>
            </a:r>
            <a:endParaRPr lang="en-US" sz="920" dirty="0"/>
          </a:p>
        </p:txBody>
      </p:sp>
      <p:sp>
        <p:nvSpPr>
          <p:cNvPr id="3" name="Text 1"/>
          <p:cNvSpPr txBox="1"/>
          <p:nvPr/>
        </p:nvSpPr>
        <p:spPr>
          <a:xfrm>
            <a:off x="594360" y="512064"/>
            <a:ext cx="11018520" cy="457200"/>
          </a:xfrm>
          <a:prstGeom prst="rect">
            <a:avLst/>
          </a:prstGeom>
          <a:noFill/>
          <a:ln/>
        </p:spPr>
        <p:txBody>
          <a:bodyPr wrap="square" lIns="0" tIns="0" rIns="0" bIns="0" rtlCol="0" anchor="ctr">
            <a:normAutofit/>
          </a:bodyPr>
          <a:lstStyle/>
          <a:p>
            <a:pPr algn="l" indent="0" marL="0">
              <a:buNone/>
            </a:pPr>
            <a:r>
              <a:rPr lang="en-US" sz="2550" b="1" dirty="0">
                <a:solidFill>
                  <a:srgbClr val="101A32"/>
                </a:solidFill>
                <a:latin typeface="Inter" pitchFamily="34" charset="0"/>
                <a:ea typeface="Inter" pitchFamily="34" charset="-122"/>
                <a:cs typeface="Inter" pitchFamily="34" charset="-120"/>
              </a:rPr>
              <a:t>Error drops quickly, then starts to plateau</a:t>
            </a:r>
            <a:endParaRPr lang="en-US" sz="2550" dirty="0"/>
          </a:p>
        </p:txBody>
      </p:sp>
      <p:sp>
        <p:nvSpPr>
          <p:cNvPr id="4" name="Text 2"/>
          <p:cNvSpPr txBox="1"/>
          <p:nvPr/>
        </p:nvSpPr>
        <p:spPr>
          <a:xfrm>
            <a:off x="612648" y="1005840"/>
            <a:ext cx="10972800" cy="292608"/>
          </a:xfrm>
          <a:prstGeom prst="rect">
            <a:avLst/>
          </a:prstGeom>
          <a:noFill/>
          <a:ln/>
        </p:spPr>
        <p:txBody>
          <a:bodyPr wrap="square" lIns="0" tIns="0" rIns="0" bIns="0" rtlCol="0" anchor="ctr">
            <a:normAutofit/>
          </a:bodyPr>
          <a:lstStyle/>
          <a:p>
            <a:pPr algn="l" indent="0" marL="0">
              <a:buNone/>
            </a:pPr>
            <a:r>
              <a:rPr lang="en-US" sz="1160" dirty="0">
                <a:solidFill>
                  <a:srgbClr val="65738A"/>
                </a:solidFill>
                <a:latin typeface="Inter" pitchFamily="34" charset="0"/>
                <a:ea typeface="Inter" pitchFamily="34" charset="-122"/>
                <a:cs typeface="Inter" pitchFamily="34" charset="-120"/>
              </a:rPr>
              <a:t>The curves show how the linear models behave over the 9 training periods.</a:t>
            </a:r>
            <a:endParaRPr lang="en-US" sz="1160" dirty="0"/>
          </a:p>
        </p:txBody>
      </p:sp>
      <p:sp>
        <p:nvSpPr>
          <p:cNvPr id="5" name="Shape 3"/>
          <p:cNvSpPr/>
          <p:nvPr/>
        </p:nvSpPr>
        <p:spPr>
          <a:xfrm>
            <a:off x="603504" y="1581912"/>
            <a:ext cx="5413248" cy="3529584"/>
          </a:xfrm>
          <a:prstGeom prst="roundRect">
            <a:avLst>
              <a:gd name="adj" fmla="val 4145"/>
            </a:avLst>
          </a:prstGeom>
          <a:solidFill>
            <a:srgbClr val="FFFFFF"/>
          </a:solidFill>
          <a:ln w="10160">
            <a:solidFill>
              <a:srgbClr val="E0E7F0"/>
            </a:solidFill>
            <a:prstDash val="solid"/>
          </a:ln>
        </p:spPr>
      </p:sp>
      <p:sp>
        <p:nvSpPr>
          <p:cNvPr id="6" name="Shape 4"/>
          <p:cNvSpPr/>
          <p:nvPr/>
        </p:nvSpPr>
        <p:spPr>
          <a:xfrm>
            <a:off x="6181344" y="1581912"/>
            <a:ext cx="5413248" cy="3529584"/>
          </a:xfrm>
          <a:prstGeom prst="roundRect">
            <a:avLst>
              <a:gd name="adj" fmla="val 4145"/>
            </a:avLst>
          </a:prstGeom>
          <a:solidFill>
            <a:srgbClr val="FFFFFF"/>
          </a:solidFill>
          <a:ln w="10160">
            <a:solidFill>
              <a:srgbClr val="E0E7F0"/>
            </a:solidFill>
            <a:prstDash val="solid"/>
          </a:ln>
        </p:spPr>
      </p:sp>
      <p:pic>
        <p:nvPicPr>
          <p:cNvPr id="7" name="Image 0" descr="/mnt/data/ppt_assets/training_curve.png">    </p:cNvPr>
          <p:cNvPicPr>
            <a:picLocks noChangeAspect="1"/>
          </p:cNvPicPr>
          <p:nvPr/>
        </p:nvPicPr>
        <p:blipFill>
          <a:blip r:embed="rId1"/>
          <a:stretch>
            <a:fillRect/>
          </a:stretch>
        </p:blipFill>
        <p:spPr>
          <a:xfrm>
            <a:off x="749808" y="1755648"/>
            <a:ext cx="5120640" cy="3108960"/>
          </a:xfrm>
          <a:prstGeom prst="rect">
            <a:avLst/>
          </a:prstGeom>
        </p:spPr>
      </p:pic>
      <p:pic>
        <p:nvPicPr>
          <p:cNvPr id="8" name="Image 1" descr="/mnt/data/ppt_assets/validation_curve.png">    </p:cNvPr>
          <p:cNvPicPr>
            <a:picLocks noChangeAspect="1"/>
          </p:cNvPicPr>
          <p:nvPr/>
        </p:nvPicPr>
        <p:blipFill>
          <a:blip r:embed="rId2"/>
          <a:stretch>
            <a:fillRect/>
          </a:stretch>
        </p:blipFill>
        <p:spPr>
          <a:xfrm>
            <a:off x="6327648" y="1755648"/>
            <a:ext cx="5120640" cy="3108960"/>
          </a:xfrm>
          <a:prstGeom prst="rect">
            <a:avLst/>
          </a:prstGeom>
        </p:spPr>
      </p:pic>
      <p:sp>
        <p:nvSpPr>
          <p:cNvPr id="9" name="Shape 5"/>
          <p:cNvSpPr/>
          <p:nvPr/>
        </p:nvSpPr>
        <p:spPr>
          <a:xfrm>
            <a:off x="603504" y="5321808"/>
            <a:ext cx="10981944" cy="731520"/>
          </a:xfrm>
          <a:prstGeom prst="roundRect">
            <a:avLst>
              <a:gd name="adj" fmla="val 18750"/>
            </a:avLst>
          </a:prstGeom>
          <a:solidFill>
            <a:srgbClr val="101A32"/>
          </a:solidFill>
          <a:ln w="10160">
            <a:solidFill>
              <a:srgbClr val="101A32"/>
            </a:solidFill>
            <a:prstDash val="solid"/>
          </a:ln>
        </p:spPr>
      </p:sp>
      <p:sp>
        <p:nvSpPr>
          <p:cNvPr id="10" name="Text 6"/>
          <p:cNvSpPr txBox="1"/>
          <p:nvPr/>
        </p:nvSpPr>
        <p:spPr>
          <a:xfrm>
            <a:off x="850392" y="5559552"/>
            <a:ext cx="1344168" cy="182880"/>
          </a:xfrm>
          <a:prstGeom prst="rect">
            <a:avLst/>
          </a:prstGeom>
          <a:noFill/>
          <a:ln/>
        </p:spPr>
        <p:txBody>
          <a:bodyPr wrap="square" lIns="0" tIns="0" rIns="0" bIns="0" rtlCol="0" anchor="ctr">
            <a:normAutofit/>
          </a:bodyPr>
          <a:lstStyle/>
          <a:p>
            <a:pPr algn="l" indent="0" marL="0">
              <a:buNone/>
            </a:pPr>
            <a:r>
              <a:rPr lang="en-US" sz="900" b="1" spc="60" kern="0" dirty="0">
                <a:solidFill>
                  <a:srgbClr val="AEBED6"/>
                </a:solidFill>
                <a:latin typeface="Inter" pitchFamily="34" charset="0"/>
                <a:ea typeface="Inter" pitchFamily="34" charset="-122"/>
                <a:cs typeface="Inter" pitchFamily="34" charset="-120"/>
              </a:rPr>
              <a:t>WHAT TO NOTICE</a:t>
            </a:r>
            <a:endParaRPr lang="en-US" sz="900" dirty="0"/>
          </a:p>
        </p:txBody>
      </p:sp>
      <p:sp>
        <p:nvSpPr>
          <p:cNvPr id="11" name="Text 7"/>
          <p:cNvSpPr txBox="1"/>
          <p:nvPr/>
        </p:nvSpPr>
        <p:spPr>
          <a:xfrm>
            <a:off x="2322576" y="5477256"/>
            <a:ext cx="8759952" cy="329184"/>
          </a:xfrm>
          <a:prstGeom prst="rect">
            <a:avLst/>
          </a:prstGeom>
          <a:noFill/>
          <a:ln/>
        </p:spPr>
        <p:txBody>
          <a:bodyPr wrap="square" lIns="0" tIns="0" rIns="0" bIns="0" rtlCol="0" anchor="ctr">
            <a:normAutofit/>
          </a:bodyPr>
          <a:lstStyle/>
          <a:p>
            <a:pPr algn="l" indent="0" marL="0">
              <a:buNone/>
            </a:pPr>
            <a:r>
              <a:rPr lang="en-US" sz="1220" b="1" dirty="0">
                <a:solidFill>
                  <a:srgbClr val="FFFFFF"/>
                </a:solidFill>
                <a:latin typeface="Inter" pitchFamily="34" charset="0"/>
                <a:ea typeface="Inter" pitchFamily="34" charset="-122"/>
                <a:cs typeface="Inter" pitchFamily="34" charset="-120"/>
              </a:rPr>
              <a:t>Crossing lowers training RMSE, but validation curves are close and favour the non-crossed model slightly in later periods.</a:t>
            </a:r>
            <a:endParaRPr lang="en-US" sz="1220" dirty="0"/>
          </a:p>
        </p:txBody>
      </p:sp>
      <p:sp>
        <p:nvSpPr>
          <p:cNvPr id="12" name="Shape 8"/>
          <p:cNvSpPr/>
          <p:nvPr/>
        </p:nvSpPr>
        <p:spPr>
          <a:xfrm>
            <a:off x="594360" y="6473952"/>
            <a:ext cx="11000232" cy="0"/>
          </a:xfrm>
          <a:prstGeom prst="line">
            <a:avLst/>
          </a:prstGeom>
          <a:noFill/>
          <a:ln w="10160">
            <a:solidFill>
              <a:srgbClr val="E0E7F0"/>
            </a:solidFill>
            <a:prstDash val="solid"/>
            <a:headEnd type="none"/>
            <a:tailEnd type="none"/>
          </a:ln>
        </p:spPr>
      </p:sp>
      <p:sp>
        <p:nvSpPr>
          <p:cNvPr id="13" name="Text 9"/>
          <p:cNvSpPr txBox="1"/>
          <p:nvPr/>
        </p:nvSpPr>
        <p:spPr>
          <a:xfrm>
            <a:off x="612648" y="6537960"/>
            <a:ext cx="6583680" cy="164592"/>
          </a:xfrm>
          <a:prstGeom prst="rect">
            <a:avLst/>
          </a:prstGeom>
          <a:noFill/>
          <a:ln/>
        </p:spPr>
        <p:txBody>
          <a:bodyPr wrap="square" lIns="0" tIns="0" rIns="0" bIns="0" rtlCol="0" anchor="ctr">
            <a:normAutofit/>
          </a:bodyPr>
          <a:lstStyle/>
          <a:p>
            <a:pPr algn="l" indent="0" marL="0">
              <a:buNone/>
            </a:pPr>
            <a:r>
              <a:rPr lang="en-US" sz="780" b="1" spc="50" kern="0" dirty="0">
                <a:solidFill>
                  <a:srgbClr val="65738A"/>
                </a:solidFill>
                <a:latin typeface="Inter" pitchFamily="34" charset="0"/>
                <a:ea typeface="Inter" pitchFamily="34" charset="-122"/>
                <a:cs typeface="Inter" pitchFamily="34" charset="-120"/>
              </a:rPr>
              <a:t>PREDICTING BAZEL BUILD TIMES  •  MINI PROJECT</a:t>
            </a:r>
            <a:endParaRPr lang="en-US" sz="780" dirty="0"/>
          </a:p>
        </p:txBody>
      </p:sp>
      <p:sp>
        <p:nvSpPr>
          <p:cNvPr id="14" name="Text 10"/>
          <p:cNvSpPr txBox="1"/>
          <p:nvPr/>
        </p:nvSpPr>
        <p:spPr>
          <a:xfrm>
            <a:off x="11018520" y="6528816"/>
            <a:ext cx="502920" cy="164592"/>
          </a:xfrm>
          <a:prstGeom prst="rect">
            <a:avLst/>
          </a:prstGeom>
          <a:noFill/>
          <a:ln/>
        </p:spPr>
        <p:txBody>
          <a:bodyPr wrap="square" lIns="0" tIns="0" rIns="0" bIns="0" rtlCol="0" anchor="ctr">
            <a:normAutofit/>
          </a:bodyPr>
          <a:lstStyle/>
          <a:p>
            <a:pPr algn="r" indent="0" marL="0">
              <a:buNone/>
            </a:pPr>
            <a:r>
              <a:rPr lang="en-US" sz="860" b="1" dirty="0">
                <a:solidFill>
                  <a:srgbClr val="65738A"/>
                </a:solidFill>
                <a:latin typeface="Inter" pitchFamily="34" charset="0"/>
                <a:ea typeface="Inter" pitchFamily="34" charset="-122"/>
                <a:cs typeface="Inter" pitchFamily="34" charset="-120"/>
              </a:rPr>
              <a:t>07</a:t>
            </a:r>
            <a:endParaRPr lang="en-US" sz="8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603504" y="256032"/>
            <a:ext cx="6858000" cy="201168"/>
          </a:xfrm>
          <a:prstGeom prst="rect">
            <a:avLst/>
          </a:prstGeom>
          <a:noFill/>
          <a:ln/>
        </p:spPr>
        <p:txBody>
          <a:bodyPr wrap="square" lIns="0" tIns="0" rIns="0" bIns="0" rtlCol="0" anchor="ctr">
            <a:normAutofit/>
          </a:bodyPr>
          <a:lstStyle/>
          <a:p>
            <a:pPr algn="l" indent="0" marL="0">
              <a:buNone/>
            </a:pPr>
            <a:r>
              <a:rPr lang="en-US" sz="920" b="1" spc="125" kern="0" dirty="0">
                <a:solidFill>
                  <a:srgbClr val="17AEB0"/>
                </a:solidFill>
                <a:latin typeface="Inter" pitchFamily="34" charset="0"/>
                <a:ea typeface="Inter" pitchFamily="34" charset="-122"/>
                <a:cs typeface="Inter" pitchFamily="34" charset="-120"/>
              </a:rPr>
              <a:t>07  /  PART 2 EXTENSION</a:t>
            </a:r>
            <a:endParaRPr lang="en-US" sz="920" dirty="0"/>
          </a:p>
        </p:txBody>
      </p:sp>
      <p:sp>
        <p:nvSpPr>
          <p:cNvPr id="3" name="Text 1"/>
          <p:cNvSpPr txBox="1"/>
          <p:nvPr/>
        </p:nvSpPr>
        <p:spPr>
          <a:xfrm>
            <a:off x="594360" y="512064"/>
            <a:ext cx="11018520" cy="457200"/>
          </a:xfrm>
          <a:prstGeom prst="rect">
            <a:avLst/>
          </a:prstGeom>
          <a:noFill/>
          <a:ln/>
        </p:spPr>
        <p:txBody>
          <a:bodyPr wrap="square" lIns="0" tIns="0" rIns="0" bIns="0" rtlCol="0" anchor="ctr">
            <a:normAutofit/>
          </a:bodyPr>
          <a:lstStyle/>
          <a:p>
            <a:pPr algn="l" indent="0" marL="0">
              <a:buNone/>
            </a:pPr>
            <a:r>
              <a:rPr lang="en-US" sz="2550" b="1" dirty="0">
                <a:solidFill>
                  <a:srgbClr val="101A32"/>
                </a:solidFill>
                <a:latin typeface="Inter" pitchFamily="34" charset="0"/>
                <a:ea typeface="Inter" pitchFamily="34" charset="-122"/>
                <a:cs typeface="Inter" pitchFamily="34" charset="-120"/>
              </a:rPr>
              <a:t>Add-on model: Random Forest Regressor</a:t>
            </a:r>
            <a:endParaRPr lang="en-US" sz="2550" dirty="0"/>
          </a:p>
        </p:txBody>
      </p:sp>
      <p:sp>
        <p:nvSpPr>
          <p:cNvPr id="4" name="Text 2"/>
          <p:cNvSpPr txBox="1"/>
          <p:nvPr/>
        </p:nvSpPr>
        <p:spPr>
          <a:xfrm>
            <a:off x="612648" y="1005840"/>
            <a:ext cx="10972800" cy="292608"/>
          </a:xfrm>
          <a:prstGeom prst="rect">
            <a:avLst/>
          </a:prstGeom>
          <a:noFill/>
          <a:ln/>
        </p:spPr>
        <p:txBody>
          <a:bodyPr wrap="square" lIns="0" tIns="0" rIns="0" bIns="0" rtlCol="0" anchor="ctr">
            <a:normAutofit/>
          </a:bodyPr>
          <a:lstStyle/>
          <a:p>
            <a:pPr algn="l" indent="0" marL="0">
              <a:buNone/>
            </a:pPr>
            <a:r>
              <a:rPr lang="en-US" sz="1160" dirty="0">
                <a:solidFill>
                  <a:srgbClr val="65738A"/>
                </a:solidFill>
                <a:latin typeface="Inter" pitchFamily="34" charset="0"/>
                <a:ea typeface="Inter" pitchFamily="34" charset="-122"/>
                <a:cs typeface="Inter" pitchFamily="34" charset="-120"/>
              </a:rPr>
              <a:t>A different model family gives us a meaningful extension beyond the linear reference model.</a:t>
            </a:r>
            <a:endParaRPr lang="en-US" sz="1160" dirty="0"/>
          </a:p>
        </p:txBody>
      </p:sp>
      <p:sp>
        <p:nvSpPr>
          <p:cNvPr id="5" name="Shape 3"/>
          <p:cNvSpPr/>
          <p:nvPr/>
        </p:nvSpPr>
        <p:spPr>
          <a:xfrm>
            <a:off x="603504" y="1627632"/>
            <a:ext cx="4754880" cy="3602736"/>
          </a:xfrm>
          <a:prstGeom prst="roundRect">
            <a:avLst>
              <a:gd name="adj" fmla="val 4569"/>
            </a:avLst>
          </a:prstGeom>
          <a:solidFill>
            <a:srgbClr val="FFFFFF"/>
          </a:solidFill>
          <a:ln w="10160">
            <a:solidFill>
              <a:srgbClr val="E0E7F0"/>
            </a:solidFill>
            <a:prstDash val="solid"/>
          </a:ln>
        </p:spPr>
      </p:sp>
      <p:sp>
        <p:nvSpPr>
          <p:cNvPr id="6" name="Shape 4"/>
          <p:cNvSpPr/>
          <p:nvPr/>
        </p:nvSpPr>
        <p:spPr>
          <a:xfrm>
            <a:off x="868680" y="1883664"/>
            <a:ext cx="1874520" cy="301752"/>
          </a:xfrm>
          <a:prstGeom prst="roundRect">
            <a:avLst>
              <a:gd name="adj" fmla="val 36364"/>
            </a:avLst>
          </a:prstGeom>
          <a:solidFill>
            <a:srgbClr val="FFF2DE"/>
          </a:solidFill>
          <a:ln w="1270">
            <a:solidFill>
              <a:srgbClr val="FFF2DE">
                <a:alpha val="0"/>
              </a:srgbClr>
            </a:solidFill>
            <a:prstDash val="solid"/>
          </a:ln>
        </p:spPr>
      </p:sp>
      <p:sp>
        <p:nvSpPr>
          <p:cNvPr id="7" name="Text 5"/>
          <p:cNvSpPr txBox="1"/>
          <p:nvPr/>
        </p:nvSpPr>
        <p:spPr>
          <a:xfrm>
            <a:off x="941832" y="1897380"/>
            <a:ext cx="1728216" cy="274320"/>
          </a:xfrm>
          <a:prstGeom prst="rect">
            <a:avLst/>
          </a:prstGeom>
          <a:noFill/>
          <a:ln/>
        </p:spPr>
        <p:txBody>
          <a:bodyPr wrap="square" lIns="0" tIns="0" rIns="0" bIns="0" rtlCol="0" anchor="ctr">
            <a:normAutofit/>
          </a:bodyPr>
          <a:lstStyle/>
          <a:p>
            <a:pPr algn="ctr" indent="0" marL="0">
              <a:buNone/>
            </a:pPr>
            <a:r>
              <a:rPr lang="en-US" sz="910" b="1" dirty="0">
                <a:solidFill>
                  <a:srgbClr val="B57612"/>
                </a:solidFill>
                <a:latin typeface="Inter" pitchFamily="34" charset="0"/>
                <a:ea typeface="Inter" pitchFamily="34" charset="-122"/>
                <a:cs typeface="Inter" pitchFamily="34" charset="-120"/>
              </a:rPr>
              <a:t>WHY RANDOM FOREST?</a:t>
            </a:r>
            <a:endParaRPr lang="en-US" sz="910" dirty="0"/>
          </a:p>
        </p:txBody>
      </p:sp>
      <p:sp>
        <p:nvSpPr>
          <p:cNvPr id="8" name="Text 6"/>
          <p:cNvSpPr txBox="1"/>
          <p:nvPr/>
        </p:nvSpPr>
        <p:spPr>
          <a:xfrm>
            <a:off x="877824" y="2340864"/>
            <a:ext cx="4014216" cy="585216"/>
          </a:xfrm>
          <a:prstGeom prst="rect">
            <a:avLst/>
          </a:prstGeom>
          <a:noFill/>
          <a:ln/>
        </p:spPr>
        <p:txBody>
          <a:bodyPr wrap="square" lIns="0" tIns="0" rIns="0" bIns="0" rtlCol="0" anchor="t">
            <a:normAutofit/>
          </a:bodyPr>
          <a:lstStyle/>
          <a:p>
            <a:pPr algn="l" indent="0" marL="0">
              <a:buNone/>
            </a:pPr>
            <a:r>
              <a:rPr lang="en-US" sz="2100" b="1" dirty="0">
                <a:solidFill>
                  <a:srgbClr val="101A32"/>
                </a:solidFill>
                <a:latin typeface="Inter" pitchFamily="34" charset="0"/>
                <a:ea typeface="Inter" pitchFamily="34" charset="-122"/>
                <a:cs typeface="Inter" pitchFamily="34" charset="-120"/>
              </a:rPr>
              <a:t>A nonlinear, tree-based alternative</a:t>
            </a:r>
            <a:endParaRPr lang="en-US" sz="2100" dirty="0"/>
          </a:p>
        </p:txBody>
      </p:sp>
      <p:sp>
        <p:nvSpPr>
          <p:cNvPr id="9" name="Shape 7"/>
          <p:cNvSpPr/>
          <p:nvPr/>
        </p:nvSpPr>
        <p:spPr>
          <a:xfrm>
            <a:off x="896112" y="3209544"/>
            <a:ext cx="82296" cy="82296"/>
          </a:xfrm>
          <a:prstGeom prst="ellipse">
            <a:avLst/>
          </a:prstGeom>
          <a:solidFill>
            <a:srgbClr val="F2A541"/>
          </a:solidFill>
          <a:ln w="10160">
            <a:solidFill>
              <a:srgbClr val="F2A541"/>
            </a:solidFill>
            <a:prstDash val="solid"/>
          </a:ln>
        </p:spPr>
      </p:sp>
      <p:sp>
        <p:nvSpPr>
          <p:cNvPr id="10" name="Text 8"/>
          <p:cNvSpPr txBox="1"/>
          <p:nvPr/>
        </p:nvSpPr>
        <p:spPr>
          <a:xfrm>
            <a:off x="1097280" y="3127248"/>
            <a:ext cx="3840480" cy="475488"/>
          </a:xfrm>
          <a:prstGeom prst="rect">
            <a:avLst/>
          </a:prstGeom>
          <a:noFill/>
          <a:ln/>
        </p:spPr>
        <p:txBody>
          <a:bodyPr wrap="square" lIns="0" tIns="0" rIns="0" bIns="0" rtlCol="0" anchor="t">
            <a:normAutofit/>
          </a:bodyPr>
          <a:lstStyle/>
          <a:p>
            <a:pPr algn="l" indent="0" marL="0">
              <a:buNone/>
            </a:pPr>
            <a:r>
              <a:rPr lang="en-US" sz="1160" dirty="0">
                <a:solidFill>
                  <a:srgbClr val="1A2740"/>
                </a:solidFill>
                <a:latin typeface="Inter" pitchFamily="34" charset="0"/>
                <a:ea typeface="Inter" pitchFamily="34" charset="-122"/>
                <a:cs typeface="Inter" pitchFamily="34" charset="-120"/>
              </a:rPr>
              <a:t>Can represent nonlinear relationships and feature interactions.</a:t>
            </a:r>
            <a:endParaRPr lang="en-US" sz="1160" dirty="0"/>
          </a:p>
        </p:txBody>
      </p:sp>
      <p:sp>
        <p:nvSpPr>
          <p:cNvPr id="11" name="Shape 9"/>
          <p:cNvSpPr/>
          <p:nvPr/>
        </p:nvSpPr>
        <p:spPr>
          <a:xfrm>
            <a:off x="896112" y="3840480"/>
            <a:ext cx="82296" cy="82296"/>
          </a:xfrm>
          <a:prstGeom prst="ellipse">
            <a:avLst/>
          </a:prstGeom>
          <a:solidFill>
            <a:srgbClr val="17AEB0"/>
          </a:solidFill>
          <a:ln w="10160">
            <a:solidFill>
              <a:srgbClr val="17AEB0"/>
            </a:solidFill>
            <a:prstDash val="solid"/>
          </a:ln>
        </p:spPr>
      </p:sp>
      <p:sp>
        <p:nvSpPr>
          <p:cNvPr id="12" name="Text 10"/>
          <p:cNvSpPr txBox="1"/>
          <p:nvPr/>
        </p:nvSpPr>
        <p:spPr>
          <a:xfrm>
            <a:off x="1097280" y="3758184"/>
            <a:ext cx="3840480" cy="475488"/>
          </a:xfrm>
          <a:prstGeom prst="rect">
            <a:avLst/>
          </a:prstGeom>
          <a:noFill/>
          <a:ln/>
        </p:spPr>
        <p:txBody>
          <a:bodyPr wrap="square" lIns="0" tIns="0" rIns="0" bIns="0" rtlCol="0" anchor="t">
            <a:normAutofit/>
          </a:bodyPr>
          <a:lstStyle/>
          <a:p>
            <a:pPr algn="l" indent="0" marL="0">
              <a:buNone/>
            </a:pPr>
            <a:r>
              <a:rPr lang="en-US" sz="1160" dirty="0">
                <a:solidFill>
                  <a:srgbClr val="1A2740"/>
                </a:solidFill>
                <a:latin typeface="Inter" pitchFamily="34" charset="0"/>
                <a:ea typeface="Inter" pitchFamily="34" charset="-122"/>
                <a:cs typeface="Inter" pitchFamily="34" charset="-120"/>
              </a:rPr>
              <a:t>Works with a compact tabular representation of categorical inputs.</a:t>
            </a:r>
            <a:endParaRPr lang="en-US" sz="1160" dirty="0"/>
          </a:p>
        </p:txBody>
      </p:sp>
      <p:sp>
        <p:nvSpPr>
          <p:cNvPr id="13" name="Shape 11"/>
          <p:cNvSpPr/>
          <p:nvPr/>
        </p:nvSpPr>
        <p:spPr>
          <a:xfrm>
            <a:off x="896112" y="4471416"/>
            <a:ext cx="82296" cy="82296"/>
          </a:xfrm>
          <a:prstGeom prst="ellipse">
            <a:avLst/>
          </a:prstGeom>
          <a:solidFill>
            <a:srgbClr val="5478D4"/>
          </a:solidFill>
          <a:ln w="10160">
            <a:solidFill>
              <a:srgbClr val="5478D4"/>
            </a:solidFill>
            <a:prstDash val="solid"/>
          </a:ln>
        </p:spPr>
      </p:sp>
      <p:sp>
        <p:nvSpPr>
          <p:cNvPr id="14" name="Text 12"/>
          <p:cNvSpPr txBox="1"/>
          <p:nvPr/>
        </p:nvSpPr>
        <p:spPr>
          <a:xfrm>
            <a:off x="1097280" y="4389120"/>
            <a:ext cx="3840480" cy="475488"/>
          </a:xfrm>
          <a:prstGeom prst="rect">
            <a:avLst/>
          </a:prstGeom>
          <a:noFill/>
          <a:ln/>
        </p:spPr>
        <p:txBody>
          <a:bodyPr wrap="square" lIns="0" tIns="0" rIns="0" bIns="0" rtlCol="0" anchor="t">
            <a:normAutofit/>
          </a:bodyPr>
          <a:lstStyle/>
          <a:p>
            <a:pPr algn="l" indent="0" marL="0">
              <a:buNone/>
            </a:pPr>
            <a:r>
              <a:rPr lang="en-US" sz="1160" dirty="0">
                <a:solidFill>
                  <a:srgbClr val="1A2740"/>
                </a:solidFill>
                <a:latin typeface="Inter" pitchFamily="34" charset="0"/>
                <a:ea typeface="Inter" pitchFamily="34" charset="-122"/>
                <a:cs typeface="Inter" pitchFamily="34" charset="-120"/>
              </a:rPr>
              <a:t>Chosen for methodological contrast — not because it was expected to win.</a:t>
            </a:r>
            <a:endParaRPr lang="en-US" sz="1160" dirty="0"/>
          </a:p>
        </p:txBody>
      </p:sp>
      <p:sp>
        <p:nvSpPr>
          <p:cNvPr id="15" name="Shape 13"/>
          <p:cNvSpPr/>
          <p:nvPr/>
        </p:nvSpPr>
        <p:spPr>
          <a:xfrm>
            <a:off x="5577840" y="1627632"/>
            <a:ext cx="6007608" cy="3602736"/>
          </a:xfrm>
          <a:prstGeom prst="roundRect">
            <a:avLst>
              <a:gd name="adj" fmla="val 4569"/>
            </a:avLst>
          </a:prstGeom>
          <a:solidFill>
            <a:srgbClr val="101A32"/>
          </a:solidFill>
          <a:ln w="10160">
            <a:solidFill>
              <a:srgbClr val="101A32"/>
            </a:solidFill>
            <a:prstDash val="solid"/>
          </a:ln>
        </p:spPr>
      </p:sp>
      <p:sp>
        <p:nvSpPr>
          <p:cNvPr id="16" name="Text 14"/>
          <p:cNvSpPr txBox="1"/>
          <p:nvPr/>
        </p:nvSpPr>
        <p:spPr>
          <a:xfrm>
            <a:off x="5879592" y="1920240"/>
            <a:ext cx="2743200" cy="210312"/>
          </a:xfrm>
          <a:prstGeom prst="rect">
            <a:avLst/>
          </a:prstGeom>
          <a:noFill/>
          <a:ln/>
        </p:spPr>
        <p:txBody>
          <a:bodyPr wrap="square" lIns="0" tIns="0" rIns="0" bIns="0" rtlCol="0" anchor="ctr">
            <a:normAutofit/>
          </a:bodyPr>
          <a:lstStyle/>
          <a:p>
            <a:pPr algn="l" indent="0" marL="0">
              <a:buNone/>
            </a:pPr>
            <a:r>
              <a:rPr lang="en-US" sz="950" b="1" spc="80" kern="0" dirty="0">
                <a:solidFill>
                  <a:srgbClr val="AEBED6"/>
                </a:solidFill>
                <a:latin typeface="Inter" pitchFamily="34" charset="0"/>
                <a:ea typeface="Inter" pitchFamily="34" charset="-122"/>
                <a:cs typeface="Inter" pitchFamily="34" charset="-120"/>
              </a:rPr>
              <a:t>EXPERIMENT SETUP</a:t>
            </a:r>
            <a:endParaRPr lang="en-US" sz="950" dirty="0"/>
          </a:p>
        </p:txBody>
      </p:sp>
      <p:sp>
        <p:nvSpPr>
          <p:cNvPr id="17" name="Shape 15"/>
          <p:cNvSpPr/>
          <p:nvPr/>
        </p:nvSpPr>
        <p:spPr>
          <a:xfrm>
            <a:off x="5870448" y="2395728"/>
            <a:ext cx="2377440" cy="667512"/>
          </a:xfrm>
          <a:prstGeom prst="roundRect">
            <a:avLst>
              <a:gd name="adj" fmla="val 17808"/>
            </a:avLst>
          </a:prstGeom>
          <a:solidFill>
            <a:srgbClr val="1B2A47"/>
          </a:solidFill>
          <a:ln w="10160">
            <a:solidFill>
              <a:srgbClr val="334663"/>
            </a:solidFill>
            <a:prstDash val="solid"/>
          </a:ln>
        </p:spPr>
      </p:sp>
      <p:sp>
        <p:nvSpPr>
          <p:cNvPr id="18" name="Text 16"/>
          <p:cNvSpPr txBox="1"/>
          <p:nvPr/>
        </p:nvSpPr>
        <p:spPr>
          <a:xfrm>
            <a:off x="6025896" y="2505456"/>
            <a:ext cx="2057400" cy="146304"/>
          </a:xfrm>
          <a:prstGeom prst="rect">
            <a:avLst/>
          </a:prstGeom>
          <a:noFill/>
          <a:ln/>
        </p:spPr>
        <p:txBody>
          <a:bodyPr wrap="square" lIns="0" tIns="0" rIns="0" bIns="0" rtlCol="0" anchor="ctr">
            <a:normAutofit/>
          </a:bodyPr>
          <a:lstStyle/>
          <a:p>
            <a:pPr algn="l" indent="0" marL="0">
              <a:buNone/>
            </a:pPr>
            <a:r>
              <a:rPr lang="en-US" sz="800" b="1" spc="50" kern="0" dirty="0">
                <a:solidFill>
                  <a:srgbClr val="AAB9D0"/>
                </a:solidFill>
                <a:latin typeface="Inter" pitchFamily="34" charset="0"/>
                <a:ea typeface="Inter" pitchFamily="34" charset="-122"/>
                <a:cs typeface="Inter" pitchFamily="34" charset="-120"/>
              </a:rPr>
              <a:t>TREES</a:t>
            </a:r>
            <a:endParaRPr lang="en-US" sz="800" dirty="0"/>
          </a:p>
        </p:txBody>
      </p:sp>
      <p:sp>
        <p:nvSpPr>
          <p:cNvPr id="19" name="Text 17"/>
          <p:cNvSpPr txBox="1"/>
          <p:nvPr/>
        </p:nvSpPr>
        <p:spPr>
          <a:xfrm>
            <a:off x="6025896" y="2706624"/>
            <a:ext cx="2057400" cy="22860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Inter" pitchFamily="34" charset="0"/>
                <a:ea typeface="Inter" pitchFamily="34" charset="-122"/>
                <a:cs typeface="Inter" pitchFamily="34" charset="-120"/>
              </a:rPr>
              <a:t>300</a:t>
            </a:r>
            <a:endParaRPr lang="en-US" sz="1700" dirty="0"/>
          </a:p>
        </p:txBody>
      </p:sp>
      <p:sp>
        <p:nvSpPr>
          <p:cNvPr id="20" name="Shape 18"/>
          <p:cNvSpPr/>
          <p:nvPr/>
        </p:nvSpPr>
        <p:spPr>
          <a:xfrm>
            <a:off x="8476488" y="2395728"/>
            <a:ext cx="2377440" cy="667512"/>
          </a:xfrm>
          <a:prstGeom prst="roundRect">
            <a:avLst>
              <a:gd name="adj" fmla="val 17808"/>
            </a:avLst>
          </a:prstGeom>
          <a:solidFill>
            <a:srgbClr val="1B2A47"/>
          </a:solidFill>
          <a:ln w="10160">
            <a:solidFill>
              <a:srgbClr val="334663"/>
            </a:solidFill>
            <a:prstDash val="solid"/>
          </a:ln>
        </p:spPr>
      </p:sp>
      <p:sp>
        <p:nvSpPr>
          <p:cNvPr id="21" name="Text 19"/>
          <p:cNvSpPr txBox="1"/>
          <p:nvPr/>
        </p:nvSpPr>
        <p:spPr>
          <a:xfrm>
            <a:off x="8631936" y="2505456"/>
            <a:ext cx="2057400" cy="146304"/>
          </a:xfrm>
          <a:prstGeom prst="rect">
            <a:avLst/>
          </a:prstGeom>
          <a:noFill/>
          <a:ln/>
        </p:spPr>
        <p:txBody>
          <a:bodyPr wrap="square" lIns="0" tIns="0" rIns="0" bIns="0" rtlCol="0" anchor="ctr">
            <a:normAutofit/>
          </a:bodyPr>
          <a:lstStyle/>
          <a:p>
            <a:pPr algn="l" indent="0" marL="0">
              <a:buNone/>
            </a:pPr>
            <a:r>
              <a:rPr lang="en-US" sz="800" b="1" spc="50" kern="0" dirty="0">
                <a:solidFill>
                  <a:srgbClr val="AAB9D0"/>
                </a:solidFill>
                <a:latin typeface="Inter" pitchFamily="34" charset="0"/>
                <a:ea typeface="Inter" pitchFamily="34" charset="-122"/>
                <a:cs typeface="Inter" pitchFamily="34" charset="-120"/>
              </a:rPr>
              <a:t>RANDOM STATE</a:t>
            </a:r>
            <a:endParaRPr lang="en-US" sz="800" dirty="0"/>
          </a:p>
        </p:txBody>
      </p:sp>
      <p:sp>
        <p:nvSpPr>
          <p:cNvPr id="22" name="Text 20"/>
          <p:cNvSpPr txBox="1"/>
          <p:nvPr/>
        </p:nvSpPr>
        <p:spPr>
          <a:xfrm>
            <a:off x="8631936" y="2706624"/>
            <a:ext cx="2057400" cy="22860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Inter" pitchFamily="34" charset="0"/>
                <a:ea typeface="Inter" pitchFamily="34" charset="-122"/>
                <a:cs typeface="Inter" pitchFamily="34" charset="-120"/>
              </a:rPr>
              <a:t>42</a:t>
            </a:r>
            <a:endParaRPr lang="en-US" sz="1700" dirty="0"/>
          </a:p>
        </p:txBody>
      </p:sp>
      <p:sp>
        <p:nvSpPr>
          <p:cNvPr id="23" name="Shape 21"/>
          <p:cNvSpPr/>
          <p:nvPr/>
        </p:nvSpPr>
        <p:spPr>
          <a:xfrm>
            <a:off x="5870448" y="3255264"/>
            <a:ext cx="2377440" cy="667512"/>
          </a:xfrm>
          <a:prstGeom prst="roundRect">
            <a:avLst>
              <a:gd name="adj" fmla="val 17808"/>
            </a:avLst>
          </a:prstGeom>
          <a:solidFill>
            <a:srgbClr val="1B2A47"/>
          </a:solidFill>
          <a:ln w="10160">
            <a:solidFill>
              <a:srgbClr val="334663"/>
            </a:solidFill>
            <a:prstDash val="solid"/>
          </a:ln>
        </p:spPr>
      </p:sp>
      <p:sp>
        <p:nvSpPr>
          <p:cNvPr id="24" name="Text 22"/>
          <p:cNvSpPr txBox="1"/>
          <p:nvPr/>
        </p:nvSpPr>
        <p:spPr>
          <a:xfrm>
            <a:off x="6025896" y="3364992"/>
            <a:ext cx="2057400" cy="146304"/>
          </a:xfrm>
          <a:prstGeom prst="rect">
            <a:avLst/>
          </a:prstGeom>
          <a:noFill/>
          <a:ln/>
        </p:spPr>
        <p:txBody>
          <a:bodyPr wrap="square" lIns="0" tIns="0" rIns="0" bIns="0" rtlCol="0" anchor="ctr">
            <a:normAutofit/>
          </a:bodyPr>
          <a:lstStyle/>
          <a:p>
            <a:pPr algn="l" indent="0" marL="0">
              <a:buNone/>
            </a:pPr>
            <a:r>
              <a:rPr lang="en-US" sz="800" b="1" spc="50" kern="0" dirty="0">
                <a:solidFill>
                  <a:srgbClr val="AAB9D0"/>
                </a:solidFill>
                <a:latin typeface="Inter" pitchFamily="34" charset="0"/>
                <a:ea typeface="Inter" pitchFamily="34" charset="-122"/>
                <a:cs typeface="Inter" pitchFamily="34" charset="-120"/>
              </a:rPr>
              <a:t>MAX FEATURES</a:t>
            </a:r>
            <a:endParaRPr lang="en-US" sz="800" dirty="0"/>
          </a:p>
        </p:txBody>
      </p:sp>
      <p:sp>
        <p:nvSpPr>
          <p:cNvPr id="25" name="Text 23"/>
          <p:cNvSpPr txBox="1"/>
          <p:nvPr/>
        </p:nvSpPr>
        <p:spPr>
          <a:xfrm>
            <a:off x="6025896" y="3566160"/>
            <a:ext cx="2057400" cy="22860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Inter" pitchFamily="34" charset="0"/>
                <a:ea typeface="Inter" pitchFamily="34" charset="-122"/>
                <a:cs typeface="Inter" pitchFamily="34" charset="-120"/>
              </a:rPr>
              <a:t>1.0</a:t>
            </a:r>
            <a:endParaRPr lang="en-US" sz="1700" dirty="0"/>
          </a:p>
        </p:txBody>
      </p:sp>
      <p:sp>
        <p:nvSpPr>
          <p:cNvPr id="26" name="Shape 24"/>
          <p:cNvSpPr/>
          <p:nvPr/>
        </p:nvSpPr>
        <p:spPr>
          <a:xfrm>
            <a:off x="8476488" y="3255264"/>
            <a:ext cx="2377440" cy="667512"/>
          </a:xfrm>
          <a:prstGeom prst="roundRect">
            <a:avLst>
              <a:gd name="adj" fmla="val 17808"/>
            </a:avLst>
          </a:prstGeom>
          <a:solidFill>
            <a:srgbClr val="1B2A47"/>
          </a:solidFill>
          <a:ln w="10160">
            <a:solidFill>
              <a:srgbClr val="334663"/>
            </a:solidFill>
            <a:prstDash val="solid"/>
          </a:ln>
        </p:spPr>
      </p:sp>
      <p:sp>
        <p:nvSpPr>
          <p:cNvPr id="27" name="Text 25"/>
          <p:cNvSpPr txBox="1"/>
          <p:nvPr/>
        </p:nvSpPr>
        <p:spPr>
          <a:xfrm>
            <a:off x="8631936" y="3364992"/>
            <a:ext cx="2057400" cy="146304"/>
          </a:xfrm>
          <a:prstGeom prst="rect">
            <a:avLst/>
          </a:prstGeom>
          <a:noFill/>
          <a:ln/>
        </p:spPr>
        <p:txBody>
          <a:bodyPr wrap="square" lIns="0" tIns="0" rIns="0" bIns="0" rtlCol="0" anchor="ctr">
            <a:normAutofit/>
          </a:bodyPr>
          <a:lstStyle/>
          <a:p>
            <a:pPr algn="l" indent="0" marL="0">
              <a:buNone/>
            </a:pPr>
            <a:r>
              <a:rPr lang="en-US" sz="800" b="1" spc="50" kern="0" dirty="0">
                <a:solidFill>
                  <a:srgbClr val="AAB9D0"/>
                </a:solidFill>
                <a:latin typeface="Inter" pitchFamily="34" charset="0"/>
                <a:ea typeface="Inter" pitchFamily="34" charset="-122"/>
                <a:cs typeface="Inter" pitchFamily="34" charset="-120"/>
              </a:rPr>
              <a:t>MIN LEAF SIZE</a:t>
            </a:r>
            <a:endParaRPr lang="en-US" sz="800" dirty="0"/>
          </a:p>
        </p:txBody>
      </p:sp>
      <p:sp>
        <p:nvSpPr>
          <p:cNvPr id="28" name="Text 26"/>
          <p:cNvSpPr txBox="1"/>
          <p:nvPr/>
        </p:nvSpPr>
        <p:spPr>
          <a:xfrm>
            <a:off x="8631936" y="3566160"/>
            <a:ext cx="2057400" cy="22860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Inter" pitchFamily="34" charset="0"/>
                <a:ea typeface="Inter" pitchFamily="34" charset="-122"/>
                <a:cs typeface="Inter" pitchFamily="34" charset="-120"/>
              </a:rPr>
              <a:t>1</a:t>
            </a:r>
            <a:endParaRPr lang="en-US" sz="1700" dirty="0"/>
          </a:p>
        </p:txBody>
      </p:sp>
      <p:sp>
        <p:nvSpPr>
          <p:cNvPr id="29" name="Text 27"/>
          <p:cNvSpPr txBox="1"/>
          <p:nvPr/>
        </p:nvSpPr>
        <p:spPr>
          <a:xfrm>
            <a:off x="5879592" y="4334256"/>
            <a:ext cx="2468880" cy="210312"/>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Inter" pitchFamily="34" charset="0"/>
                <a:ea typeface="Inter" pitchFamily="34" charset="-122"/>
                <a:cs typeface="Inter" pitchFamily="34" charset="-120"/>
              </a:rPr>
              <a:t>Same 300 / 100 / 100 split</a:t>
            </a:r>
            <a:endParaRPr lang="en-US" sz="1100" dirty="0"/>
          </a:p>
        </p:txBody>
      </p:sp>
      <p:sp>
        <p:nvSpPr>
          <p:cNvPr id="30" name="Text 28"/>
          <p:cNvSpPr txBox="1"/>
          <p:nvPr/>
        </p:nvSpPr>
        <p:spPr>
          <a:xfrm>
            <a:off x="5879592" y="4608576"/>
            <a:ext cx="5212080" cy="210312"/>
          </a:xfrm>
          <a:prstGeom prst="rect">
            <a:avLst/>
          </a:prstGeom>
          <a:noFill/>
          <a:ln/>
        </p:spPr>
        <p:txBody>
          <a:bodyPr wrap="square" lIns="0" tIns="0" rIns="0" bIns="0" rtlCol="0" anchor="ctr">
            <a:normAutofit/>
          </a:bodyPr>
          <a:lstStyle/>
          <a:p>
            <a:pPr algn="l" indent="0" marL="0">
              <a:buNone/>
            </a:pPr>
            <a:r>
              <a:rPr lang="en-US" sz="1080" dirty="0">
                <a:solidFill>
                  <a:srgbClr val="D3DDEC"/>
                </a:solidFill>
                <a:latin typeface="Inter" pitchFamily="34" charset="0"/>
                <a:ea typeface="Inter" pitchFamily="34" charset="-122"/>
                <a:cs typeface="Inter" pitchFamily="34" charset="-120"/>
              </a:rPr>
              <a:t>Same prefix + type + prefix × type representation</a:t>
            </a:r>
            <a:endParaRPr lang="en-US" sz="1080" dirty="0"/>
          </a:p>
        </p:txBody>
      </p:sp>
      <p:sp>
        <p:nvSpPr>
          <p:cNvPr id="31" name="Text 29"/>
          <p:cNvSpPr txBox="1"/>
          <p:nvPr/>
        </p:nvSpPr>
        <p:spPr>
          <a:xfrm>
            <a:off x="5879592" y="4882896"/>
            <a:ext cx="5212080" cy="210312"/>
          </a:xfrm>
          <a:prstGeom prst="rect">
            <a:avLst/>
          </a:prstGeom>
          <a:noFill/>
          <a:ln/>
        </p:spPr>
        <p:txBody>
          <a:bodyPr wrap="square" lIns="0" tIns="0" rIns="0" bIns="0" rtlCol="0" anchor="ctr">
            <a:normAutofit/>
          </a:bodyPr>
          <a:lstStyle/>
          <a:p>
            <a:pPr algn="l" indent="0" marL="0">
              <a:buNone/>
            </a:pPr>
            <a:r>
              <a:rPr lang="en-US" sz="1080" dirty="0">
                <a:solidFill>
                  <a:srgbClr val="D3DDEC"/>
                </a:solidFill>
                <a:latin typeface="Inter" pitchFamily="34" charset="0"/>
                <a:ea typeface="Inter" pitchFamily="34" charset="-122"/>
                <a:cs typeface="Inter" pitchFamily="34" charset="-120"/>
              </a:rPr>
              <a:t>Same target (CPUTime) and same metric (RMSE)</a:t>
            </a:r>
            <a:endParaRPr lang="en-US" sz="1080" dirty="0"/>
          </a:p>
        </p:txBody>
      </p:sp>
      <p:sp>
        <p:nvSpPr>
          <p:cNvPr id="32" name="Shape 30"/>
          <p:cNvSpPr/>
          <p:nvPr/>
        </p:nvSpPr>
        <p:spPr>
          <a:xfrm>
            <a:off x="603504" y="5449824"/>
            <a:ext cx="3493008" cy="621792"/>
          </a:xfrm>
          <a:prstGeom prst="roundRect">
            <a:avLst>
              <a:gd name="adj" fmla="val 20588"/>
            </a:avLst>
          </a:prstGeom>
          <a:solidFill>
            <a:srgbClr val="FFFFFF"/>
          </a:solidFill>
          <a:ln w="10160">
            <a:solidFill>
              <a:srgbClr val="E0E7F0"/>
            </a:solidFill>
            <a:prstDash val="solid"/>
          </a:ln>
        </p:spPr>
      </p:sp>
      <p:sp>
        <p:nvSpPr>
          <p:cNvPr id="33" name="Shape 31"/>
          <p:cNvSpPr/>
          <p:nvPr/>
        </p:nvSpPr>
        <p:spPr>
          <a:xfrm>
            <a:off x="603504" y="5449824"/>
            <a:ext cx="64008" cy="621792"/>
          </a:xfrm>
          <a:prstGeom prst="roundRect">
            <a:avLst>
              <a:gd name="adj" fmla="val 28571"/>
            </a:avLst>
          </a:prstGeom>
          <a:solidFill>
            <a:srgbClr val="17AEB0"/>
          </a:solidFill>
          <a:ln w="1270">
            <a:solidFill>
              <a:srgbClr val="17AEB0">
                <a:alpha val="0"/>
              </a:srgbClr>
            </a:solidFill>
            <a:prstDash val="solid"/>
          </a:ln>
        </p:spPr>
      </p:sp>
      <p:sp>
        <p:nvSpPr>
          <p:cNvPr id="34" name="Text 32"/>
          <p:cNvSpPr txBox="1"/>
          <p:nvPr/>
        </p:nvSpPr>
        <p:spPr>
          <a:xfrm>
            <a:off x="813816" y="5559552"/>
            <a:ext cx="1444752" cy="155448"/>
          </a:xfrm>
          <a:prstGeom prst="rect">
            <a:avLst/>
          </a:prstGeom>
          <a:noFill/>
          <a:ln/>
        </p:spPr>
        <p:txBody>
          <a:bodyPr wrap="square" lIns="0" tIns="0" rIns="0" bIns="0" rtlCol="0" anchor="ctr">
            <a:normAutofit/>
          </a:bodyPr>
          <a:lstStyle/>
          <a:p>
            <a:pPr algn="l" indent="0" marL="0">
              <a:buNone/>
            </a:pPr>
            <a:r>
              <a:rPr lang="en-US" sz="800" b="1" spc="45" kern="0" dirty="0">
                <a:solidFill>
                  <a:srgbClr val="65738A"/>
                </a:solidFill>
                <a:latin typeface="Inter" pitchFamily="34" charset="0"/>
                <a:ea typeface="Inter" pitchFamily="34" charset="-122"/>
                <a:cs typeface="Inter" pitchFamily="34" charset="-120"/>
              </a:rPr>
              <a:t>TRAIN RMSE</a:t>
            </a:r>
            <a:endParaRPr lang="en-US" sz="800" dirty="0"/>
          </a:p>
        </p:txBody>
      </p:sp>
      <p:sp>
        <p:nvSpPr>
          <p:cNvPr id="35" name="Text 33"/>
          <p:cNvSpPr txBox="1"/>
          <p:nvPr/>
        </p:nvSpPr>
        <p:spPr>
          <a:xfrm>
            <a:off x="2112264" y="5541264"/>
            <a:ext cx="1755648" cy="219456"/>
          </a:xfrm>
          <a:prstGeom prst="rect">
            <a:avLst/>
          </a:prstGeom>
          <a:noFill/>
          <a:ln/>
        </p:spPr>
        <p:txBody>
          <a:bodyPr wrap="square" lIns="0" tIns="0" rIns="0" bIns="0" rtlCol="0" anchor="ctr">
            <a:normAutofit/>
          </a:bodyPr>
          <a:lstStyle/>
          <a:p>
            <a:pPr algn="r" indent="0" marL="0">
              <a:buNone/>
            </a:pPr>
            <a:r>
              <a:rPr lang="en-US" sz="1320" b="1" dirty="0">
                <a:solidFill>
                  <a:srgbClr val="101A32"/>
                </a:solidFill>
                <a:latin typeface="Inter" pitchFamily="34" charset="0"/>
                <a:ea typeface="Inter" pitchFamily="34" charset="-122"/>
                <a:cs typeface="Inter" pitchFamily="34" charset="-120"/>
              </a:rPr>
              <a:t>5,382.47 ms</a:t>
            </a:r>
            <a:endParaRPr lang="en-US" sz="1320" dirty="0"/>
          </a:p>
        </p:txBody>
      </p:sp>
      <p:sp>
        <p:nvSpPr>
          <p:cNvPr id="36" name="Shape 34"/>
          <p:cNvSpPr/>
          <p:nvPr/>
        </p:nvSpPr>
        <p:spPr>
          <a:xfrm>
            <a:off x="4297680" y="5449824"/>
            <a:ext cx="3493008" cy="621792"/>
          </a:xfrm>
          <a:prstGeom prst="roundRect">
            <a:avLst>
              <a:gd name="adj" fmla="val 20588"/>
            </a:avLst>
          </a:prstGeom>
          <a:solidFill>
            <a:srgbClr val="FFFFFF"/>
          </a:solidFill>
          <a:ln w="10160">
            <a:solidFill>
              <a:srgbClr val="E0E7F0"/>
            </a:solidFill>
            <a:prstDash val="solid"/>
          </a:ln>
        </p:spPr>
      </p:sp>
      <p:sp>
        <p:nvSpPr>
          <p:cNvPr id="37" name="Shape 35"/>
          <p:cNvSpPr/>
          <p:nvPr/>
        </p:nvSpPr>
        <p:spPr>
          <a:xfrm>
            <a:off x="4297680" y="5449824"/>
            <a:ext cx="64008" cy="621792"/>
          </a:xfrm>
          <a:prstGeom prst="roundRect">
            <a:avLst>
              <a:gd name="adj" fmla="val 28571"/>
            </a:avLst>
          </a:prstGeom>
          <a:solidFill>
            <a:srgbClr val="5478D4"/>
          </a:solidFill>
          <a:ln w="1270">
            <a:solidFill>
              <a:srgbClr val="5478D4">
                <a:alpha val="0"/>
              </a:srgbClr>
            </a:solidFill>
            <a:prstDash val="solid"/>
          </a:ln>
        </p:spPr>
      </p:sp>
      <p:sp>
        <p:nvSpPr>
          <p:cNvPr id="38" name="Text 36"/>
          <p:cNvSpPr txBox="1"/>
          <p:nvPr/>
        </p:nvSpPr>
        <p:spPr>
          <a:xfrm>
            <a:off x="4507992" y="5559552"/>
            <a:ext cx="1444752" cy="155448"/>
          </a:xfrm>
          <a:prstGeom prst="rect">
            <a:avLst/>
          </a:prstGeom>
          <a:noFill/>
          <a:ln/>
        </p:spPr>
        <p:txBody>
          <a:bodyPr wrap="square" lIns="0" tIns="0" rIns="0" bIns="0" rtlCol="0" anchor="ctr">
            <a:normAutofit/>
          </a:bodyPr>
          <a:lstStyle/>
          <a:p>
            <a:pPr algn="l" indent="0" marL="0">
              <a:buNone/>
            </a:pPr>
            <a:r>
              <a:rPr lang="en-US" sz="800" b="1" spc="45" kern="0" dirty="0">
                <a:solidFill>
                  <a:srgbClr val="65738A"/>
                </a:solidFill>
                <a:latin typeface="Inter" pitchFamily="34" charset="0"/>
                <a:ea typeface="Inter" pitchFamily="34" charset="-122"/>
                <a:cs typeface="Inter" pitchFamily="34" charset="-120"/>
              </a:rPr>
              <a:t>VALIDATION RMSE</a:t>
            </a:r>
            <a:endParaRPr lang="en-US" sz="800" dirty="0"/>
          </a:p>
        </p:txBody>
      </p:sp>
      <p:sp>
        <p:nvSpPr>
          <p:cNvPr id="39" name="Text 37"/>
          <p:cNvSpPr txBox="1"/>
          <p:nvPr/>
        </p:nvSpPr>
        <p:spPr>
          <a:xfrm>
            <a:off x="5806440" y="5541264"/>
            <a:ext cx="1755648" cy="219456"/>
          </a:xfrm>
          <a:prstGeom prst="rect">
            <a:avLst/>
          </a:prstGeom>
          <a:noFill/>
          <a:ln/>
        </p:spPr>
        <p:txBody>
          <a:bodyPr wrap="square" lIns="0" tIns="0" rIns="0" bIns="0" rtlCol="0" anchor="ctr">
            <a:normAutofit/>
          </a:bodyPr>
          <a:lstStyle/>
          <a:p>
            <a:pPr algn="r" indent="0" marL="0">
              <a:buNone/>
            </a:pPr>
            <a:r>
              <a:rPr lang="en-US" sz="1320" b="1" dirty="0">
                <a:solidFill>
                  <a:srgbClr val="101A32"/>
                </a:solidFill>
                <a:latin typeface="Inter" pitchFamily="34" charset="0"/>
                <a:ea typeface="Inter" pitchFamily="34" charset="-122"/>
                <a:cs typeface="Inter" pitchFamily="34" charset="-120"/>
              </a:rPr>
              <a:t>5,858.90 ms</a:t>
            </a:r>
            <a:endParaRPr lang="en-US" sz="1320" dirty="0"/>
          </a:p>
        </p:txBody>
      </p:sp>
      <p:sp>
        <p:nvSpPr>
          <p:cNvPr id="40" name="Shape 38"/>
          <p:cNvSpPr/>
          <p:nvPr/>
        </p:nvSpPr>
        <p:spPr>
          <a:xfrm>
            <a:off x="7991856" y="5449824"/>
            <a:ext cx="3493008" cy="621792"/>
          </a:xfrm>
          <a:prstGeom prst="roundRect">
            <a:avLst>
              <a:gd name="adj" fmla="val 20588"/>
            </a:avLst>
          </a:prstGeom>
          <a:solidFill>
            <a:srgbClr val="FFFFFF"/>
          </a:solidFill>
          <a:ln w="10160">
            <a:solidFill>
              <a:srgbClr val="E0E7F0"/>
            </a:solidFill>
            <a:prstDash val="solid"/>
          </a:ln>
        </p:spPr>
      </p:sp>
      <p:sp>
        <p:nvSpPr>
          <p:cNvPr id="41" name="Shape 39"/>
          <p:cNvSpPr/>
          <p:nvPr/>
        </p:nvSpPr>
        <p:spPr>
          <a:xfrm>
            <a:off x="7991856" y="5449824"/>
            <a:ext cx="64008" cy="621792"/>
          </a:xfrm>
          <a:prstGeom prst="roundRect">
            <a:avLst>
              <a:gd name="adj" fmla="val 28571"/>
            </a:avLst>
          </a:prstGeom>
          <a:solidFill>
            <a:srgbClr val="F2A541"/>
          </a:solidFill>
          <a:ln w="1270">
            <a:solidFill>
              <a:srgbClr val="F2A541">
                <a:alpha val="0"/>
              </a:srgbClr>
            </a:solidFill>
            <a:prstDash val="solid"/>
          </a:ln>
        </p:spPr>
      </p:sp>
      <p:sp>
        <p:nvSpPr>
          <p:cNvPr id="42" name="Text 40"/>
          <p:cNvSpPr txBox="1"/>
          <p:nvPr/>
        </p:nvSpPr>
        <p:spPr>
          <a:xfrm>
            <a:off x="8202168" y="5559552"/>
            <a:ext cx="1444752" cy="155448"/>
          </a:xfrm>
          <a:prstGeom prst="rect">
            <a:avLst/>
          </a:prstGeom>
          <a:noFill/>
          <a:ln/>
        </p:spPr>
        <p:txBody>
          <a:bodyPr wrap="square" lIns="0" tIns="0" rIns="0" bIns="0" rtlCol="0" anchor="ctr">
            <a:normAutofit/>
          </a:bodyPr>
          <a:lstStyle/>
          <a:p>
            <a:pPr algn="l" indent="0" marL="0">
              <a:buNone/>
            </a:pPr>
            <a:r>
              <a:rPr lang="en-US" sz="800" b="1" spc="45" kern="0" dirty="0">
                <a:solidFill>
                  <a:srgbClr val="65738A"/>
                </a:solidFill>
                <a:latin typeface="Inter" pitchFamily="34" charset="0"/>
                <a:ea typeface="Inter" pitchFamily="34" charset="-122"/>
                <a:cs typeface="Inter" pitchFamily="34" charset="-120"/>
              </a:rPr>
              <a:t>TEST RMSE</a:t>
            </a:r>
            <a:endParaRPr lang="en-US" sz="800" dirty="0"/>
          </a:p>
        </p:txBody>
      </p:sp>
      <p:sp>
        <p:nvSpPr>
          <p:cNvPr id="43" name="Text 41"/>
          <p:cNvSpPr txBox="1"/>
          <p:nvPr/>
        </p:nvSpPr>
        <p:spPr>
          <a:xfrm>
            <a:off x="9500616" y="5541264"/>
            <a:ext cx="1755648" cy="219456"/>
          </a:xfrm>
          <a:prstGeom prst="rect">
            <a:avLst/>
          </a:prstGeom>
          <a:noFill/>
          <a:ln/>
        </p:spPr>
        <p:txBody>
          <a:bodyPr wrap="square" lIns="0" tIns="0" rIns="0" bIns="0" rtlCol="0" anchor="ctr">
            <a:normAutofit/>
          </a:bodyPr>
          <a:lstStyle/>
          <a:p>
            <a:pPr algn="r" indent="0" marL="0">
              <a:buNone/>
            </a:pPr>
            <a:r>
              <a:rPr lang="en-US" sz="1320" b="1" dirty="0">
                <a:solidFill>
                  <a:srgbClr val="101A32"/>
                </a:solidFill>
                <a:latin typeface="Inter" pitchFamily="34" charset="0"/>
                <a:ea typeface="Inter" pitchFamily="34" charset="-122"/>
                <a:cs typeface="Inter" pitchFamily="34" charset="-120"/>
              </a:rPr>
              <a:t>5,881.74 ms</a:t>
            </a:r>
            <a:endParaRPr lang="en-US" sz="1320" dirty="0"/>
          </a:p>
        </p:txBody>
      </p:sp>
      <p:sp>
        <p:nvSpPr>
          <p:cNvPr id="44" name="Shape 42"/>
          <p:cNvSpPr/>
          <p:nvPr/>
        </p:nvSpPr>
        <p:spPr>
          <a:xfrm>
            <a:off x="594360" y="6473952"/>
            <a:ext cx="11000232" cy="0"/>
          </a:xfrm>
          <a:prstGeom prst="line">
            <a:avLst/>
          </a:prstGeom>
          <a:noFill/>
          <a:ln w="10160">
            <a:solidFill>
              <a:srgbClr val="E0E7F0"/>
            </a:solidFill>
            <a:prstDash val="solid"/>
            <a:headEnd type="none"/>
            <a:tailEnd type="none"/>
          </a:ln>
        </p:spPr>
      </p:sp>
      <p:sp>
        <p:nvSpPr>
          <p:cNvPr id="45" name="Text 43"/>
          <p:cNvSpPr txBox="1"/>
          <p:nvPr/>
        </p:nvSpPr>
        <p:spPr>
          <a:xfrm>
            <a:off x="612648" y="6537960"/>
            <a:ext cx="6583680" cy="164592"/>
          </a:xfrm>
          <a:prstGeom prst="rect">
            <a:avLst/>
          </a:prstGeom>
          <a:noFill/>
          <a:ln/>
        </p:spPr>
        <p:txBody>
          <a:bodyPr wrap="square" lIns="0" tIns="0" rIns="0" bIns="0" rtlCol="0" anchor="ctr">
            <a:normAutofit/>
          </a:bodyPr>
          <a:lstStyle/>
          <a:p>
            <a:pPr algn="l" indent="0" marL="0">
              <a:buNone/>
            </a:pPr>
            <a:r>
              <a:rPr lang="en-US" sz="780" b="1" spc="50" kern="0" dirty="0">
                <a:solidFill>
                  <a:srgbClr val="65738A"/>
                </a:solidFill>
                <a:latin typeface="Inter" pitchFamily="34" charset="0"/>
                <a:ea typeface="Inter" pitchFamily="34" charset="-122"/>
                <a:cs typeface="Inter" pitchFamily="34" charset="-120"/>
              </a:rPr>
              <a:t>PREDICTING BAZEL BUILD TIMES  •  MINI PROJECT</a:t>
            </a:r>
            <a:endParaRPr lang="en-US" sz="780" dirty="0"/>
          </a:p>
        </p:txBody>
      </p:sp>
      <p:sp>
        <p:nvSpPr>
          <p:cNvPr id="46" name="Text 44"/>
          <p:cNvSpPr txBox="1"/>
          <p:nvPr/>
        </p:nvSpPr>
        <p:spPr>
          <a:xfrm>
            <a:off x="11018520" y="6528816"/>
            <a:ext cx="502920" cy="164592"/>
          </a:xfrm>
          <a:prstGeom prst="rect">
            <a:avLst/>
          </a:prstGeom>
          <a:noFill/>
          <a:ln/>
        </p:spPr>
        <p:txBody>
          <a:bodyPr wrap="square" lIns="0" tIns="0" rIns="0" bIns="0" rtlCol="0" anchor="ctr">
            <a:normAutofit/>
          </a:bodyPr>
          <a:lstStyle/>
          <a:p>
            <a:pPr algn="r" indent="0" marL="0">
              <a:buNone/>
            </a:pPr>
            <a:r>
              <a:rPr lang="en-US" sz="860" b="1" dirty="0">
                <a:solidFill>
                  <a:srgbClr val="65738A"/>
                </a:solidFill>
                <a:latin typeface="Inter" pitchFamily="34" charset="0"/>
                <a:ea typeface="Inter" pitchFamily="34" charset="-122"/>
                <a:cs typeface="Inter" pitchFamily="34" charset="-120"/>
              </a:rPr>
              <a:t>08</a:t>
            </a:r>
            <a:endParaRPr lang="en-US" sz="8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603504" y="256032"/>
            <a:ext cx="6858000" cy="201168"/>
          </a:xfrm>
          <a:prstGeom prst="rect">
            <a:avLst/>
          </a:prstGeom>
          <a:noFill/>
          <a:ln/>
        </p:spPr>
        <p:txBody>
          <a:bodyPr wrap="square" lIns="0" tIns="0" rIns="0" bIns="0" rtlCol="0" anchor="ctr">
            <a:normAutofit/>
          </a:bodyPr>
          <a:lstStyle/>
          <a:p>
            <a:pPr algn="l" indent="0" marL="0">
              <a:buNone/>
            </a:pPr>
            <a:r>
              <a:rPr lang="en-US" sz="920" b="1" spc="125" kern="0" dirty="0">
                <a:solidFill>
                  <a:srgbClr val="17AEB0"/>
                </a:solidFill>
                <a:latin typeface="Inter" pitchFamily="34" charset="0"/>
                <a:ea typeface="Inter" pitchFamily="34" charset="-122"/>
                <a:cs typeface="Inter" pitchFamily="34" charset="-120"/>
              </a:rPr>
              <a:t>08  /  PART 2 RESULTS</a:t>
            </a:r>
            <a:endParaRPr lang="en-US" sz="920" dirty="0"/>
          </a:p>
        </p:txBody>
      </p:sp>
      <p:sp>
        <p:nvSpPr>
          <p:cNvPr id="3" name="Text 1"/>
          <p:cNvSpPr txBox="1"/>
          <p:nvPr/>
        </p:nvSpPr>
        <p:spPr>
          <a:xfrm>
            <a:off x="594360" y="512064"/>
            <a:ext cx="11018520" cy="457200"/>
          </a:xfrm>
          <a:prstGeom prst="rect">
            <a:avLst/>
          </a:prstGeom>
          <a:noFill/>
          <a:ln/>
        </p:spPr>
        <p:txBody>
          <a:bodyPr wrap="square" lIns="0" tIns="0" rIns="0" bIns="0" rtlCol="0" anchor="ctr">
            <a:normAutofit/>
          </a:bodyPr>
          <a:lstStyle/>
          <a:p>
            <a:pPr algn="l" indent="0" marL="0">
              <a:buNone/>
            </a:pPr>
            <a:r>
              <a:rPr lang="en-US" sz="2550" b="1" dirty="0">
                <a:solidFill>
                  <a:srgbClr val="101A32"/>
                </a:solidFill>
                <a:latin typeface="Inter" pitchFamily="34" charset="0"/>
                <a:ea typeface="Inter" pitchFamily="34" charset="-122"/>
                <a:cs typeface="Inter" pitchFamily="34" charset="-120"/>
              </a:rPr>
              <a:t>On the shared test set, Random Forest was worse</a:t>
            </a:r>
            <a:endParaRPr lang="en-US" sz="2550" dirty="0"/>
          </a:p>
        </p:txBody>
      </p:sp>
      <p:sp>
        <p:nvSpPr>
          <p:cNvPr id="4" name="Text 2"/>
          <p:cNvSpPr txBox="1"/>
          <p:nvPr/>
        </p:nvSpPr>
        <p:spPr>
          <a:xfrm>
            <a:off x="612648" y="1005840"/>
            <a:ext cx="10972800" cy="292608"/>
          </a:xfrm>
          <a:prstGeom prst="rect">
            <a:avLst/>
          </a:prstGeom>
          <a:noFill/>
          <a:ln/>
        </p:spPr>
        <p:txBody>
          <a:bodyPr wrap="square" lIns="0" tIns="0" rIns="0" bIns="0" rtlCol="0" anchor="ctr">
            <a:normAutofit/>
          </a:bodyPr>
          <a:lstStyle/>
          <a:p>
            <a:pPr algn="l" indent="0" marL="0">
              <a:buNone/>
            </a:pPr>
            <a:r>
              <a:rPr lang="en-US" sz="1160" dirty="0">
                <a:solidFill>
                  <a:srgbClr val="65738A"/>
                </a:solidFill>
                <a:latin typeface="Inter" pitchFamily="34" charset="0"/>
                <a:ea typeface="Inter" pitchFamily="34" charset="-122"/>
                <a:cs typeface="Inter" pitchFamily="34" charset="-120"/>
              </a:rPr>
              <a:t>All three scores use the same 100-example test split; lower RMSE indicates better prediction.</a:t>
            </a:r>
            <a:endParaRPr lang="en-US" sz="1160" dirty="0"/>
          </a:p>
        </p:txBody>
      </p:sp>
      <p:sp>
        <p:nvSpPr>
          <p:cNvPr id="5" name="Shape 3"/>
          <p:cNvSpPr/>
          <p:nvPr/>
        </p:nvSpPr>
        <p:spPr>
          <a:xfrm>
            <a:off x="603504" y="1627632"/>
            <a:ext cx="6903720" cy="4215384"/>
          </a:xfrm>
          <a:prstGeom prst="roundRect">
            <a:avLst>
              <a:gd name="adj" fmla="val 3905"/>
            </a:avLst>
          </a:prstGeom>
          <a:solidFill>
            <a:srgbClr val="FFFFFF"/>
          </a:solidFill>
          <a:ln w="10160">
            <a:solidFill>
              <a:srgbClr val="E0E7F0"/>
            </a:solidFill>
            <a:prstDash val="solid"/>
          </a:ln>
        </p:spPr>
      </p:sp>
      <p:pic>
        <p:nvPicPr>
          <p:cNvPr id="6" name="Image 0" descr="/mnt/data/ppt_assets/test_rmse_comparison.png">    </p:cNvPr>
          <p:cNvPicPr>
            <a:picLocks noChangeAspect="1"/>
          </p:cNvPicPr>
          <p:nvPr/>
        </p:nvPicPr>
        <p:blipFill>
          <a:blip r:embed="rId1"/>
          <a:stretch>
            <a:fillRect/>
          </a:stretch>
        </p:blipFill>
        <p:spPr>
          <a:xfrm>
            <a:off x="795528" y="1938528"/>
            <a:ext cx="6510528" cy="3154680"/>
          </a:xfrm>
          <a:prstGeom prst="rect">
            <a:avLst/>
          </a:prstGeom>
        </p:spPr>
      </p:pic>
      <p:sp>
        <p:nvSpPr>
          <p:cNvPr id="7" name="Text 4"/>
          <p:cNvSpPr txBox="1"/>
          <p:nvPr/>
        </p:nvSpPr>
        <p:spPr>
          <a:xfrm>
            <a:off x="960120" y="5330952"/>
            <a:ext cx="3200400" cy="182880"/>
          </a:xfrm>
          <a:prstGeom prst="rect">
            <a:avLst/>
          </a:prstGeom>
          <a:noFill/>
          <a:ln/>
        </p:spPr>
        <p:txBody>
          <a:bodyPr wrap="square" lIns="0" tIns="0" rIns="0" bIns="0" rtlCol="0" anchor="ctr">
            <a:normAutofit/>
          </a:bodyPr>
          <a:lstStyle/>
          <a:p>
            <a:pPr algn="l" indent="0" marL="0">
              <a:buNone/>
            </a:pPr>
            <a:r>
              <a:rPr lang="en-US" sz="880" i="1" dirty="0">
                <a:solidFill>
                  <a:srgbClr val="65738A"/>
                </a:solidFill>
                <a:latin typeface="Inter" pitchFamily="34" charset="0"/>
                <a:ea typeface="Inter" pitchFamily="34" charset="-122"/>
                <a:cs typeface="Inter" pitchFamily="34" charset="-120"/>
              </a:rPr>
              <a:t>Zoomed axis: 5,700–5,940 ms</a:t>
            </a:r>
            <a:endParaRPr lang="en-US" sz="880" dirty="0"/>
          </a:p>
        </p:txBody>
      </p:sp>
      <p:sp>
        <p:nvSpPr>
          <p:cNvPr id="8" name="Shape 5"/>
          <p:cNvSpPr/>
          <p:nvPr/>
        </p:nvSpPr>
        <p:spPr>
          <a:xfrm>
            <a:off x="7754112" y="1627632"/>
            <a:ext cx="3831336" cy="4215384"/>
          </a:xfrm>
          <a:prstGeom prst="roundRect">
            <a:avLst>
              <a:gd name="adj" fmla="val 4296"/>
            </a:avLst>
          </a:prstGeom>
          <a:solidFill>
            <a:srgbClr val="101A32"/>
          </a:solidFill>
          <a:ln w="10160">
            <a:solidFill>
              <a:srgbClr val="101A32"/>
            </a:solidFill>
            <a:prstDash val="solid"/>
          </a:ln>
        </p:spPr>
      </p:sp>
      <p:sp>
        <p:nvSpPr>
          <p:cNvPr id="9" name="Text 6"/>
          <p:cNvSpPr txBox="1"/>
          <p:nvPr/>
        </p:nvSpPr>
        <p:spPr>
          <a:xfrm>
            <a:off x="8046720" y="1920240"/>
            <a:ext cx="3063240" cy="182880"/>
          </a:xfrm>
          <a:prstGeom prst="rect">
            <a:avLst/>
          </a:prstGeom>
          <a:noFill/>
          <a:ln/>
        </p:spPr>
        <p:txBody>
          <a:bodyPr wrap="square" lIns="0" tIns="0" rIns="0" bIns="0" rtlCol="0" anchor="ctr">
            <a:normAutofit/>
          </a:bodyPr>
          <a:lstStyle/>
          <a:p>
            <a:pPr algn="l" indent="0" marL="0">
              <a:buNone/>
            </a:pPr>
            <a:r>
              <a:rPr lang="en-US" sz="900" b="1" spc="70" kern="0" dirty="0">
                <a:solidFill>
                  <a:srgbClr val="AEBED6"/>
                </a:solidFill>
                <a:latin typeface="Inter" pitchFamily="34" charset="0"/>
                <a:ea typeface="Inter" pitchFamily="34" charset="-122"/>
                <a:cs typeface="Inter" pitchFamily="34" charset="-120"/>
              </a:rPr>
              <a:t>RANDOM FOREST RESULT</a:t>
            </a:r>
            <a:endParaRPr lang="en-US" sz="900" dirty="0"/>
          </a:p>
        </p:txBody>
      </p:sp>
      <p:sp>
        <p:nvSpPr>
          <p:cNvPr id="10" name="Text 7"/>
          <p:cNvSpPr txBox="1"/>
          <p:nvPr/>
        </p:nvSpPr>
        <p:spPr>
          <a:xfrm>
            <a:off x="8046720" y="2313432"/>
            <a:ext cx="2980944" cy="512064"/>
          </a:xfrm>
          <a:prstGeom prst="rect">
            <a:avLst/>
          </a:prstGeom>
          <a:noFill/>
          <a:ln/>
        </p:spPr>
        <p:txBody>
          <a:bodyPr wrap="square" lIns="0" tIns="0" rIns="0" bIns="0" rtlCol="0" anchor="ctr">
            <a:normAutofit/>
          </a:bodyPr>
          <a:lstStyle/>
          <a:p>
            <a:pPr algn="l" indent="0" marL="0">
              <a:buNone/>
            </a:pPr>
            <a:r>
              <a:rPr lang="en-US" sz="2900" b="1" dirty="0">
                <a:solidFill>
                  <a:srgbClr val="F2A541"/>
                </a:solidFill>
                <a:latin typeface="Inter" pitchFamily="34" charset="0"/>
                <a:ea typeface="Inter" pitchFamily="34" charset="-122"/>
                <a:cs typeface="Inter" pitchFamily="34" charset="-120"/>
              </a:rPr>
              <a:t>5,881.74</a:t>
            </a:r>
            <a:endParaRPr lang="en-US" sz="2900" dirty="0"/>
          </a:p>
        </p:txBody>
      </p:sp>
      <p:sp>
        <p:nvSpPr>
          <p:cNvPr id="11" name="Text 8"/>
          <p:cNvSpPr txBox="1"/>
          <p:nvPr/>
        </p:nvSpPr>
        <p:spPr>
          <a:xfrm>
            <a:off x="8065008" y="2816352"/>
            <a:ext cx="2926080" cy="201168"/>
          </a:xfrm>
          <a:prstGeom prst="rect">
            <a:avLst/>
          </a:prstGeom>
          <a:noFill/>
          <a:ln/>
        </p:spPr>
        <p:txBody>
          <a:bodyPr wrap="square" lIns="0" tIns="0" rIns="0" bIns="0" rtlCol="0" anchor="ctr">
            <a:normAutofit/>
          </a:bodyPr>
          <a:lstStyle/>
          <a:p>
            <a:pPr algn="l" indent="0" marL="0">
              <a:buNone/>
            </a:pPr>
            <a:r>
              <a:rPr lang="en-US" sz="1100" dirty="0">
                <a:solidFill>
                  <a:srgbClr val="D3DDEC"/>
                </a:solidFill>
                <a:latin typeface="Inter" pitchFamily="34" charset="0"/>
                <a:ea typeface="Inter" pitchFamily="34" charset="-122"/>
                <a:cs typeface="Inter" pitchFamily="34" charset="-120"/>
              </a:rPr>
              <a:t>ms test RMSE</a:t>
            </a:r>
            <a:endParaRPr lang="en-US" sz="1100" dirty="0"/>
          </a:p>
        </p:txBody>
      </p:sp>
      <p:sp>
        <p:nvSpPr>
          <p:cNvPr id="12" name="Shape 9"/>
          <p:cNvSpPr/>
          <p:nvPr/>
        </p:nvSpPr>
        <p:spPr>
          <a:xfrm>
            <a:off x="8055864" y="3218688"/>
            <a:ext cx="3172968" cy="0"/>
          </a:xfrm>
          <a:prstGeom prst="line">
            <a:avLst/>
          </a:prstGeom>
          <a:noFill/>
          <a:ln w="12700">
            <a:solidFill>
              <a:srgbClr val="344663"/>
            </a:solidFill>
            <a:prstDash val="solid"/>
            <a:headEnd type="none"/>
            <a:tailEnd type="none"/>
          </a:ln>
        </p:spPr>
      </p:sp>
      <p:sp>
        <p:nvSpPr>
          <p:cNvPr id="13" name="Shape 10"/>
          <p:cNvSpPr/>
          <p:nvPr/>
        </p:nvSpPr>
        <p:spPr>
          <a:xfrm>
            <a:off x="8065008" y="3456432"/>
            <a:ext cx="2679192" cy="329184"/>
          </a:xfrm>
          <a:prstGeom prst="roundRect">
            <a:avLst>
              <a:gd name="adj" fmla="val 33333"/>
            </a:avLst>
          </a:prstGeom>
          <a:solidFill>
            <a:srgbClr val="FCEAEC"/>
          </a:solidFill>
          <a:ln w="1270">
            <a:solidFill>
              <a:srgbClr val="FCEAEC">
                <a:alpha val="0"/>
              </a:srgbClr>
            </a:solidFill>
            <a:prstDash val="solid"/>
          </a:ln>
        </p:spPr>
      </p:sp>
      <p:sp>
        <p:nvSpPr>
          <p:cNvPr id="14" name="Text 11"/>
          <p:cNvSpPr txBox="1"/>
          <p:nvPr/>
        </p:nvSpPr>
        <p:spPr>
          <a:xfrm>
            <a:off x="8138160" y="3470148"/>
            <a:ext cx="2532888" cy="301752"/>
          </a:xfrm>
          <a:prstGeom prst="rect">
            <a:avLst/>
          </a:prstGeom>
          <a:noFill/>
          <a:ln/>
        </p:spPr>
        <p:txBody>
          <a:bodyPr wrap="square" lIns="0" tIns="0" rIns="0" bIns="0" rtlCol="0" anchor="ctr">
            <a:normAutofit/>
          </a:bodyPr>
          <a:lstStyle/>
          <a:p>
            <a:pPr algn="ctr" indent="0" marL="0">
              <a:buNone/>
            </a:pPr>
            <a:r>
              <a:rPr lang="en-US" sz="950" b="1" dirty="0">
                <a:solidFill>
                  <a:srgbClr val="D95D61"/>
                </a:solidFill>
                <a:latin typeface="Inter" pitchFamily="34" charset="0"/>
                <a:ea typeface="Inter" pitchFamily="34" charset="-122"/>
                <a:cs typeface="Inter" pitchFamily="34" charset="-120"/>
              </a:rPr>
              <a:t>+85.16 ms  /  +1.47%</a:t>
            </a:r>
            <a:endParaRPr lang="en-US" sz="950" dirty="0"/>
          </a:p>
        </p:txBody>
      </p:sp>
      <p:sp>
        <p:nvSpPr>
          <p:cNvPr id="15" name="Text 12"/>
          <p:cNvSpPr txBox="1"/>
          <p:nvPr/>
        </p:nvSpPr>
        <p:spPr>
          <a:xfrm>
            <a:off x="8074152" y="3858768"/>
            <a:ext cx="2944368" cy="347472"/>
          </a:xfrm>
          <a:prstGeom prst="rect">
            <a:avLst/>
          </a:prstGeom>
          <a:noFill/>
          <a:ln/>
        </p:spPr>
        <p:txBody>
          <a:bodyPr wrap="square" lIns="0" tIns="0" rIns="0" bIns="0" rtlCol="0" anchor="ctr">
            <a:normAutofit/>
          </a:bodyPr>
          <a:lstStyle/>
          <a:p>
            <a:pPr algn="l" indent="0" marL="0">
              <a:buNone/>
            </a:pPr>
            <a:r>
              <a:rPr lang="en-US" sz="1020" dirty="0">
                <a:solidFill>
                  <a:srgbClr val="D3DDEC"/>
                </a:solidFill>
                <a:latin typeface="Inter" pitchFamily="34" charset="0"/>
                <a:ea typeface="Inter" pitchFamily="34" charset="-122"/>
                <a:cs typeface="Inter" pitchFamily="34" charset="-120"/>
              </a:rPr>
              <a:t>vs. Linear Regression without crossing</a:t>
            </a:r>
            <a:endParaRPr lang="en-US" sz="1020" dirty="0"/>
          </a:p>
        </p:txBody>
      </p:sp>
      <p:sp>
        <p:nvSpPr>
          <p:cNvPr id="16" name="Shape 13"/>
          <p:cNvSpPr/>
          <p:nvPr/>
        </p:nvSpPr>
        <p:spPr>
          <a:xfrm>
            <a:off x="8065008" y="4352544"/>
            <a:ext cx="2679192" cy="329184"/>
          </a:xfrm>
          <a:prstGeom prst="roundRect">
            <a:avLst>
              <a:gd name="adj" fmla="val 33333"/>
            </a:avLst>
          </a:prstGeom>
          <a:solidFill>
            <a:srgbClr val="FCEAEC"/>
          </a:solidFill>
          <a:ln w="1270">
            <a:solidFill>
              <a:srgbClr val="FCEAEC">
                <a:alpha val="0"/>
              </a:srgbClr>
            </a:solidFill>
            <a:prstDash val="solid"/>
          </a:ln>
        </p:spPr>
      </p:sp>
      <p:sp>
        <p:nvSpPr>
          <p:cNvPr id="17" name="Text 14"/>
          <p:cNvSpPr txBox="1"/>
          <p:nvPr/>
        </p:nvSpPr>
        <p:spPr>
          <a:xfrm>
            <a:off x="8138160" y="4366260"/>
            <a:ext cx="2532888" cy="301752"/>
          </a:xfrm>
          <a:prstGeom prst="rect">
            <a:avLst/>
          </a:prstGeom>
          <a:noFill/>
          <a:ln/>
        </p:spPr>
        <p:txBody>
          <a:bodyPr wrap="square" lIns="0" tIns="0" rIns="0" bIns="0" rtlCol="0" anchor="ctr">
            <a:normAutofit/>
          </a:bodyPr>
          <a:lstStyle/>
          <a:p>
            <a:pPr algn="ctr" indent="0" marL="0">
              <a:buNone/>
            </a:pPr>
            <a:r>
              <a:rPr lang="en-US" sz="950" b="1" dirty="0">
                <a:solidFill>
                  <a:srgbClr val="D95D61"/>
                </a:solidFill>
                <a:latin typeface="Inter" pitchFamily="34" charset="0"/>
                <a:ea typeface="Inter" pitchFamily="34" charset="-122"/>
                <a:cs typeface="Inter" pitchFamily="34" charset="-120"/>
              </a:rPr>
              <a:t>+79.99 ms  /  +1.38%</a:t>
            </a:r>
            <a:endParaRPr lang="en-US" sz="950" dirty="0"/>
          </a:p>
        </p:txBody>
      </p:sp>
      <p:sp>
        <p:nvSpPr>
          <p:cNvPr id="18" name="Text 15"/>
          <p:cNvSpPr txBox="1"/>
          <p:nvPr/>
        </p:nvSpPr>
        <p:spPr>
          <a:xfrm>
            <a:off x="8074152" y="4754880"/>
            <a:ext cx="2944368" cy="347472"/>
          </a:xfrm>
          <a:prstGeom prst="rect">
            <a:avLst/>
          </a:prstGeom>
          <a:noFill/>
          <a:ln/>
        </p:spPr>
        <p:txBody>
          <a:bodyPr wrap="square" lIns="0" tIns="0" rIns="0" bIns="0" rtlCol="0" anchor="ctr">
            <a:normAutofit/>
          </a:bodyPr>
          <a:lstStyle/>
          <a:p>
            <a:pPr algn="l" indent="0" marL="0">
              <a:buNone/>
            </a:pPr>
            <a:r>
              <a:rPr lang="en-US" sz="1020" dirty="0">
                <a:solidFill>
                  <a:srgbClr val="D3DDEC"/>
                </a:solidFill>
                <a:latin typeface="Inter" pitchFamily="34" charset="0"/>
                <a:ea typeface="Inter" pitchFamily="34" charset="-122"/>
                <a:cs typeface="Inter" pitchFamily="34" charset="-120"/>
              </a:rPr>
              <a:t>vs. Linear Regression with crossing</a:t>
            </a:r>
            <a:endParaRPr lang="en-US" sz="1020" dirty="0"/>
          </a:p>
        </p:txBody>
      </p:sp>
      <p:sp>
        <p:nvSpPr>
          <p:cNvPr id="19" name="Shape 16"/>
          <p:cNvSpPr/>
          <p:nvPr/>
        </p:nvSpPr>
        <p:spPr>
          <a:xfrm>
            <a:off x="603504" y="6025896"/>
            <a:ext cx="10981944" cy="274320"/>
          </a:xfrm>
          <a:prstGeom prst="roundRect">
            <a:avLst>
              <a:gd name="adj" fmla="val 33333"/>
            </a:avLst>
          </a:prstGeom>
          <a:solidFill>
            <a:srgbClr val="FFF2DE"/>
          </a:solidFill>
          <a:ln w="10160">
            <a:solidFill>
              <a:srgbClr val="F4E0BD"/>
            </a:solidFill>
            <a:prstDash val="solid"/>
          </a:ln>
        </p:spPr>
      </p:sp>
      <p:sp>
        <p:nvSpPr>
          <p:cNvPr id="20" name="Text 17"/>
          <p:cNvSpPr txBox="1"/>
          <p:nvPr/>
        </p:nvSpPr>
        <p:spPr>
          <a:xfrm>
            <a:off x="786384" y="6071616"/>
            <a:ext cx="10625328" cy="164592"/>
          </a:xfrm>
          <a:prstGeom prst="rect">
            <a:avLst/>
          </a:prstGeom>
          <a:noFill/>
          <a:ln/>
        </p:spPr>
        <p:txBody>
          <a:bodyPr wrap="square" lIns="0" tIns="0" rIns="0" bIns="0" rtlCol="0" anchor="ctr">
            <a:normAutofit/>
          </a:bodyPr>
          <a:lstStyle/>
          <a:p>
            <a:pPr algn="l" indent="0" marL="0">
              <a:buNone/>
            </a:pPr>
            <a:r>
              <a:rPr lang="en-US" sz="890" b="1" dirty="0">
                <a:solidFill>
                  <a:srgbClr val="8C5A13"/>
                </a:solidFill>
                <a:latin typeface="Inter" pitchFamily="34" charset="0"/>
                <a:ea typeface="Inter" pitchFamily="34" charset="-122"/>
                <a:cs typeface="Inter" pitchFamily="34" charset="-120"/>
              </a:rPr>
              <a:t>Fair-comparison note: the paper’s headline numbers are 9-period training averages; this chart uses final-period test RMSE.</a:t>
            </a:r>
            <a:endParaRPr lang="en-US" sz="890" dirty="0"/>
          </a:p>
        </p:txBody>
      </p:sp>
      <p:sp>
        <p:nvSpPr>
          <p:cNvPr id="21" name="Shape 18"/>
          <p:cNvSpPr/>
          <p:nvPr/>
        </p:nvSpPr>
        <p:spPr>
          <a:xfrm>
            <a:off x="594360" y="6473952"/>
            <a:ext cx="11000232" cy="0"/>
          </a:xfrm>
          <a:prstGeom prst="line">
            <a:avLst/>
          </a:prstGeom>
          <a:noFill/>
          <a:ln w="10160">
            <a:solidFill>
              <a:srgbClr val="E0E7F0"/>
            </a:solidFill>
            <a:prstDash val="solid"/>
            <a:headEnd type="none"/>
            <a:tailEnd type="none"/>
          </a:ln>
        </p:spPr>
      </p:sp>
      <p:sp>
        <p:nvSpPr>
          <p:cNvPr id="22" name="Text 19"/>
          <p:cNvSpPr txBox="1"/>
          <p:nvPr/>
        </p:nvSpPr>
        <p:spPr>
          <a:xfrm>
            <a:off x="612648" y="6537960"/>
            <a:ext cx="6583680" cy="164592"/>
          </a:xfrm>
          <a:prstGeom prst="rect">
            <a:avLst/>
          </a:prstGeom>
          <a:noFill/>
          <a:ln/>
        </p:spPr>
        <p:txBody>
          <a:bodyPr wrap="square" lIns="0" tIns="0" rIns="0" bIns="0" rtlCol="0" anchor="ctr">
            <a:normAutofit/>
          </a:bodyPr>
          <a:lstStyle/>
          <a:p>
            <a:pPr algn="l" indent="0" marL="0">
              <a:buNone/>
            </a:pPr>
            <a:r>
              <a:rPr lang="en-US" sz="780" b="1" spc="50" kern="0" dirty="0">
                <a:solidFill>
                  <a:srgbClr val="65738A"/>
                </a:solidFill>
                <a:latin typeface="Inter" pitchFamily="34" charset="0"/>
                <a:ea typeface="Inter" pitchFamily="34" charset="-122"/>
                <a:cs typeface="Inter" pitchFamily="34" charset="-120"/>
              </a:rPr>
              <a:t>PREDICTING BAZEL BUILD TIMES  •  MINI PROJECT</a:t>
            </a:r>
            <a:endParaRPr lang="en-US" sz="780" dirty="0"/>
          </a:p>
        </p:txBody>
      </p:sp>
      <p:sp>
        <p:nvSpPr>
          <p:cNvPr id="23" name="Text 20"/>
          <p:cNvSpPr txBox="1"/>
          <p:nvPr/>
        </p:nvSpPr>
        <p:spPr>
          <a:xfrm>
            <a:off x="11018520" y="6528816"/>
            <a:ext cx="502920" cy="164592"/>
          </a:xfrm>
          <a:prstGeom prst="rect">
            <a:avLst/>
          </a:prstGeom>
          <a:noFill/>
          <a:ln/>
        </p:spPr>
        <p:txBody>
          <a:bodyPr wrap="square" lIns="0" tIns="0" rIns="0" bIns="0" rtlCol="0" anchor="ctr">
            <a:normAutofit/>
          </a:bodyPr>
          <a:lstStyle/>
          <a:p>
            <a:pPr algn="r" indent="0" marL="0">
              <a:buNone/>
            </a:pPr>
            <a:r>
              <a:rPr lang="en-US" sz="860" b="1" dirty="0">
                <a:solidFill>
                  <a:srgbClr val="65738A"/>
                </a:solidFill>
                <a:latin typeface="Inter" pitchFamily="34" charset="0"/>
                <a:ea typeface="Inter" pitchFamily="34" charset="-122"/>
                <a:cs typeface="Inter" pitchFamily="34" charset="-120"/>
              </a:rPr>
              <a:t>09</a:t>
            </a:r>
            <a:endParaRPr lang="en-US" sz="8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603504" y="256032"/>
            <a:ext cx="6858000" cy="201168"/>
          </a:xfrm>
          <a:prstGeom prst="rect">
            <a:avLst/>
          </a:prstGeom>
          <a:noFill/>
          <a:ln/>
        </p:spPr>
        <p:txBody>
          <a:bodyPr wrap="square" lIns="0" tIns="0" rIns="0" bIns="0" rtlCol="0" anchor="ctr">
            <a:normAutofit/>
          </a:bodyPr>
          <a:lstStyle/>
          <a:p>
            <a:pPr algn="l" indent="0" marL="0">
              <a:buNone/>
            </a:pPr>
            <a:r>
              <a:rPr lang="en-US" sz="920" b="1" spc="125" kern="0" dirty="0">
                <a:solidFill>
                  <a:srgbClr val="17AEB0"/>
                </a:solidFill>
                <a:latin typeface="Inter" pitchFamily="34" charset="0"/>
                <a:ea typeface="Inter" pitchFamily="34" charset="-122"/>
                <a:cs typeface="Inter" pitchFamily="34" charset="-120"/>
              </a:rPr>
              <a:t>09  /  DISCUSSION</a:t>
            </a:r>
            <a:endParaRPr lang="en-US" sz="920" dirty="0"/>
          </a:p>
        </p:txBody>
      </p:sp>
      <p:sp>
        <p:nvSpPr>
          <p:cNvPr id="3" name="Text 1"/>
          <p:cNvSpPr txBox="1"/>
          <p:nvPr/>
        </p:nvSpPr>
        <p:spPr>
          <a:xfrm>
            <a:off x="594360" y="512064"/>
            <a:ext cx="11018520" cy="457200"/>
          </a:xfrm>
          <a:prstGeom prst="rect">
            <a:avLst/>
          </a:prstGeom>
          <a:noFill/>
          <a:ln/>
        </p:spPr>
        <p:txBody>
          <a:bodyPr wrap="square" lIns="0" tIns="0" rIns="0" bIns="0" rtlCol="0" anchor="ctr">
            <a:normAutofit/>
          </a:bodyPr>
          <a:lstStyle/>
          <a:p>
            <a:pPr algn="l" indent="0" marL="0">
              <a:buNone/>
            </a:pPr>
            <a:r>
              <a:rPr lang="en-US" sz="2550" b="1" dirty="0">
                <a:solidFill>
                  <a:srgbClr val="101A32"/>
                </a:solidFill>
                <a:latin typeface="Inter" pitchFamily="34" charset="0"/>
                <a:ea typeface="Inter" pitchFamily="34" charset="-122"/>
                <a:cs typeface="Inter" pitchFamily="34" charset="-120"/>
              </a:rPr>
              <a:t>What the results do — and do not — tell us</a:t>
            </a:r>
            <a:endParaRPr lang="en-US" sz="2550" dirty="0"/>
          </a:p>
        </p:txBody>
      </p:sp>
      <p:sp>
        <p:nvSpPr>
          <p:cNvPr id="4" name="Text 2"/>
          <p:cNvSpPr txBox="1"/>
          <p:nvPr/>
        </p:nvSpPr>
        <p:spPr>
          <a:xfrm>
            <a:off x="612648" y="1005840"/>
            <a:ext cx="10972800" cy="292608"/>
          </a:xfrm>
          <a:prstGeom prst="rect">
            <a:avLst/>
          </a:prstGeom>
          <a:noFill/>
          <a:ln/>
        </p:spPr>
        <p:txBody>
          <a:bodyPr wrap="square" lIns="0" tIns="0" rIns="0" bIns="0" rtlCol="0" anchor="ctr">
            <a:normAutofit/>
          </a:bodyPr>
          <a:lstStyle/>
          <a:p>
            <a:pPr algn="l" indent="0" marL="0">
              <a:buNone/>
            </a:pPr>
            <a:r>
              <a:rPr lang="en-US" sz="1160" dirty="0">
                <a:solidFill>
                  <a:srgbClr val="65738A"/>
                </a:solidFill>
                <a:latin typeface="Inter" pitchFamily="34" charset="0"/>
                <a:ea typeface="Inter" pitchFamily="34" charset="-122"/>
                <a:cs typeface="Inter" pitchFamily="34" charset="-120"/>
              </a:rPr>
              <a:t>The extra model is a valid extension even though it did not outperform the reference models.</a:t>
            </a:r>
            <a:endParaRPr lang="en-US" sz="1160" dirty="0"/>
          </a:p>
        </p:txBody>
      </p:sp>
      <p:sp>
        <p:nvSpPr>
          <p:cNvPr id="5" name="Shape 3"/>
          <p:cNvSpPr/>
          <p:nvPr/>
        </p:nvSpPr>
        <p:spPr>
          <a:xfrm>
            <a:off x="603504" y="1627632"/>
            <a:ext cx="5367528" cy="4443984"/>
          </a:xfrm>
          <a:prstGeom prst="roundRect">
            <a:avLst>
              <a:gd name="adj" fmla="val 3704"/>
            </a:avLst>
          </a:prstGeom>
          <a:solidFill>
            <a:srgbClr val="FFFFFF"/>
          </a:solidFill>
          <a:ln w="10160">
            <a:solidFill>
              <a:srgbClr val="E0E7F0"/>
            </a:solidFill>
            <a:prstDash val="solid"/>
          </a:ln>
        </p:spPr>
      </p:sp>
      <p:sp>
        <p:nvSpPr>
          <p:cNvPr id="6" name="Shape 4"/>
          <p:cNvSpPr/>
          <p:nvPr/>
        </p:nvSpPr>
        <p:spPr>
          <a:xfrm>
            <a:off x="877824" y="1892808"/>
            <a:ext cx="1554480" cy="301752"/>
          </a:xfrm>
          <a:prstGeom prst="roundRect">
            <a:avLst>
              <a:gd name="adj" fmla="val 36364"/>
            </a:avLst>
          </a:prstGeom>
          <a:solidFill>
            <a:srgbClr val="E3F7F6"/>
          </a:solidFill>
          <a:ln w="1270">
            <a:solidFill>
              <a:srgbClr val="E3F7F6">
                <a:alpha val="0"/>
              </a:srgbClr>
            </a:solidFill>
            <a:prstDash val="solid"/>
          </a:ln>
        </p:spPr>
      </p:sp>
      <p:sp>
        <p:nvSpPr>
          <p:cNvPr id="7" name="Text 5"/>
          <p:cNvSpPr txBox="1"/>
          <p:nvPr/>
        </p:nvSpPr>
        <p:spPr>
          <a:xfrm>
            <a:off x="950976" y="1906524"/>
            <a:ext cx="1408176" cy="274320"/>
          </a:xfrm>
          <a:prstGeom prst="rect">
            <a:avLst/>
          </a:prstGeom>
          <a:noFill/>
          <a:ln/>
        </p:spPr>
        <p:txBody>
          <a:bodyPr wrap="square" lIns="0" tIns="0" rIns="0" bIns="0" rtlCol="0" anchor="ctr">
            <a:normAutofit/>
          </a:bodyPr>
          <a:lstStyle/>
          <a:p>
            <a:pPr algn="ctr" indent="0" marL="0">
              <a:buNone/>
            </a:pPr>
            <a:r>
              <a:rPr lang="en-US" sz="910" b="1" dirty="0">
                <a:solidFill>
                  <a:srgbClr val="17AEB0"/>
                </a:solidFill>
                <a:latin typeface="Inter" pitchFamily="34" charset="0"/>
                <a:ea typeface="Inter" pitchFamily="34" charset="-122"/>
                <a:cs typeface="Inter" pitchFamily="34" charset="-120"/>
              </a:rPr>
              <a:t>KEY FINDINGS</a:t>
            </a:r>
            <a:endParaRPr lang="en-US" sz="910" dirty="0"/>
          </a:p>
        </p:txBody>
      </p:sp>
      <p:sp>
        <p:nvSpPr>
          <p:cNvPr id="8" name="Shape 6"/>
          <p:cNvSpPr/>
          <p:nvPr/>
        </p:nvSpPr>
        <p:spPr>
          <a:xfrm>
            <a:off x="896112" y="2551176"/>
            <a:ext cx="82296" cy="82296"/>
          </a:xfrm>
          <a:prstGeom prst="ellipse">
            <a:avLst/>
          </a:prstGeom>
          <a:solidFill>
            <a:srgbClr val="17AEB0"/>
          </a:solidFill>
          <a:ln w="10160">
            <a:solidFill>
              <a:srgbClr val="17AEB0"/>
            </a:solidFill>
            <a:prstDash val="solid"/>
          </a:ln>
        </p:spPr>
      </p:sp>
      <p:sp>
        <p:nvSpPr>
          <p:cNvPr id="9" name="Text 7"/>
          <p:cNvSpPr txBox="1"/>
          <p:nvPr/>
        </p:nvSpPr>
        <p:spPr>
          <a:xfrm>
            <a:off x="1097280" y="2468880"/>
            <a:ext cx="4416552" cy="676656"/>
          </a:xfrm>
          <a:prstGeom prst="rect">
            <a:avLst/>
          </a:prstGeom>
          <a:noFill/>
          <a:ln/>
        </p:spPr>
        <p:txBody>
          <a:bodyPr wrap="square" lIns="0" tIns="0" rIns="0" bIns="0" rtlCol="0" anchor="t">
            <a:normAutofit/>
          </a:bodyPr>
          <a:lstStyle/>
          <a:p>
            <a:pPr algn="l" indent="0" marL="0">
              <a:buNone/>
            </a:pPr>
            <a:r>
              <a:rPr lang="en-US" sz="1130" dirty="0">
                <a:solidFill>
                  <a:srgbClr val="1A2740"/>
                </a:solidFill>
                <a:latin typeface="Inter" pitchFamily="34" charset="0"/>
                <a:ea typeface="Inter" pitchFamily="34" charset="-122"/>
                <a:cs typeface="Inter" pitchFamily="34" charset="-120"/>
              </a:rPr>
              <a:t>The reproduction closely matches the paper’s training-RMSE averages (differences: about 0.50% and 1.02%).</a:t>
            </a:r>
            <a:endParaRPr lang="en-US" sz="1130" dirty="0"/>
          </a:p>
        </p:txBody>
      </p:sp>
      <p:sp>
        <p:nvSpPr>
          <p:cNvPr id="10" name="Shape 8"/>
          <p:cNvSpPr/>
          <p:nvPr/>
        </p:nvSpPr>
        <p:spPr>
          <a:xfrm>
            <a:off x="896112" y="3438144"/>
            <a:ext cx="82296" cy="82296"/>
          </a:xfrm>
          <a:prstGeom prst="ellipse">
            <a:avLst/>
          </a:prstGeom>
          <a:solidFill>
            <a:srgbClr val="5478D4"/>
          </a:solidFill>
          <a:ln w="10160">
            <a:solidFill>
              <a:srgbClr val="5478D4"/>
            </a:solidFill>
            <a:prstDash val="solid"/>
          </a:ln>
        </p:spPr>
      </p:sp>
      <p:sp>
        <p:nvSpPr>
          <p:cNvPr id="11" name="Text 9"/>
          <p:cNvSpPr txBox="1"/>
          <p:nvPr/>
        </p:nvSpPr>
        <p:spPr>
          <a:xfrm>
            <a:off x="1097280" y="3355848"/>
            <a:ext cx="4416552" cy="822960"/>
          </a:xfrm>
          <a:prstGeom prst="rect">
            <a:avLst/>
          </a:prstGeom>
          <a:noFill/>
          <a:ln/>
        </p:spPr>
        <p:txBody>
          <a:bodyPr wrap="square" lIns="0" tIns="0" rIns="0" bIns="0" rtlCol="0" anchor="t">
            <a:normAutofit/>
          </a:bodyPr>
          <a:lstStyle/>
          <a:p>
            <a:pPr algn="l" indent="0" marL="0">
              <a:buNone/>
            </a:pPr>
            <a:r>
              <a:rPr lang="en-US" sz="1130" dirty="0">
                <a:solidFill>
                  <a:srgbClr val="1A2740"/>
                </a:solidFill>
                <a:latin typeface="Inter" pitchFamily="34" charset="0"/>
                <a:ea typeface="Inter" pitchFamily="34" charset="-122"/>
                <a:cs typeface="Inter" pitchFamily="34" charset="-120"/>
              </a:rPr>
              <a:t>Feature crossing lowered average training RMSE by about 21 ms in our run, but its final test RMSE was 5.16 ms higher than the non-crossed model.</a:t>
            </a:r>
            <a:endParaRPr lang="en-US" sz="1130" dirty="0"/>
          </a:p>
        </p:txBody>
      </p:sp>
      <p:sp>
        <p:nvSpPr>
          <p:cNvPr id="12" name="Shape 10"/>
          <p:cNvSpPr/>
          <p:nvPr/>
        </p:nvSpPr>
        <p:spPr>
          <a:xfrm>
            <a:off x="896112" y="4507992"/>
            <a:ext cx="82296" cy="82296"/>
          </a:xfrm>
          <a:prstGeom prst="ellipse">
            <a:avLst/>
          </a:prstGeom>
          <a:solidFill>
            <a:srgbClr val="F2A541"/>
          </a:solidFill>
          <a:ln w="10160">
            <a:solidFill>
              <a:srgbClr val="F2A541"/>
            </a:solidFill>
            <a:prstDash val="solid"/>
          </a:ln>
        </p:spPr>
      </p:sp>
      <p:sp>
        <p:nvSpPr>
          <p:cNvPr id="13" name="Text 11"/>
          <p:cNvSpPr txBox="1"/>
          <p:nvPr/>
        </p:nvSpPr>
        <p:spPr>
          <a:xfrm>
            <a:off x="1097280" y="4425696"/>
            <a:ext cx="4416552" cy="676656"/>
          </a:xfrm>
          <a:prstGeom prst="rect">
            <a:avLst/>
          </a:prstGeom>
          <a:noFill/>
          <a:ln/>
        </p:spPr>
        <p:txBody>
          <a:bodyPr wrap="square" lIns="0" tIns="0" rIns="0" bIns="0" rtlCol="0" anchor="t">
            <a:normAutofit/>
          </a:bodyPr>
          <a:lstStyle/>
          <a:p>
            <a:pPr algn="l" indent="0" marL="0">
              <a:buNone/>
            </a:pPr>
            <a:r>
              <a:rPr lang="en-US" sz="1130" dirty="0">
                <a:solidFill>
                  <a:srgbClr val="1A2740"/>
                </a:solidFill>
                <a:latin typeface="Inter" pitchFamily="34" charset="0"/>
                <a:ea typeface="Inter" pitchFamily="34" charset="-122"/>
                <a:cs typeface="Inter" pitchFamily="34" charset="-120"/>
              </a:rPr>
              <a:t>Random Forest had the highest test RMSE; extra model flexibility did not improve generalization on this split.</a:t>
            </a:r>
            <a:endParaRPr lang="en-US" sz="1130" dirty="0"/>
          </a:p>
        </p:txBody>
      </p:sp>
      <p:sp>
        <p:nvSpPr>
          <p:cNvPr id="14" name="Shape 12"/>
          <p:cNvSpPr/>
          <p:nvPr/>
        </p:nvSpPr>
        <p:spPr>
          <a:xfrm>
            <a:off x="6208776" y="1627632"/>
            <a:ext cx="5376672" cy="4443984"/>
          </a:xfrm>
          <a:prstGeom prst="roundRect">
            <a:avLst>
              <a:gd name="adj" fmla="val 3704"/>
            </a:avLst>
          </a:prstGeom>
          <a:solidFill>
            <a:srgbClr val="101A32"/>
          </a:solidFill>
          <a:ln w="10160">
            <a:solidFill>
              <a:srgbClr val="101A32"/>
            </a:solidFill>
            <a:prstDash val="solid"/>
          </a:ln>
        </p:spPr>
      </p:sp>
      <p:sp>
        <p:nvSpPr>
          <p:cNvPr id="15" name="Shape 13"/>
          <p:cNvSpPr/>
          <p:nvPr/>
        </p:nvSpPr>
        <p:spPr>
          <a:xfrm>
            <a:off x="6483096" y="1892808"/>
            <a:ext cx="1325880" cy="301752"/>
          </a:xfrm>
          <a:prstGeom prst="roundRect">
            <a:avLst>
              <a:gd name="adj" fmla="val 36364"/>
            </a:avLst>
          </a:prstGeom>
          <a:solidFill>
            <a:srgbClr val="293653"/>
          </a:solidFill>
          <a:ln w="1270">
            <a:solidFill>
              <a:srgbClr val="293653">
                <a:alpha val="0"/>
              </a:srgbClr>
            </a:solidFill>
            <a:prstDash val="solid"/>
          </a:ln>
        </p:spPr>
      </p:sp>
      <p:sp>
        <p:nvSpPr>
          <p:cNvPr id="16" name="Text 14"/>
          <p:cNvSpPr txBox="1"/>
          <p:nvPr/>
        </p:nvSpPr>
        <p:spPr>
          <a:xfrm>
            <a:off x="6556248" y="1906524"/>
            <a:ext cx="1179576" cy="274320"/>
          </a:xfrm>
          <a:prstGeom prst="rect">
            <a:avLst/>
          </a:prstGeom>
          <a:noFill/>
          <a:ln/>
        </p:spPr>
        <p:txBody>
          <a:bodyPr wrap="square" lIns="0" tIns="0" rIns="0" bIns="0" rtlCol="0" anchor="ctr">
            <a:normAutofit/>
          </a:bodyPr>
          <a:lstStyle/>
          <a:p>
            <a:pPr algn="ctr" indent="0" marL="0">
              <a:buNone/>
            </a:pPr>
            <a:r>
              <a:rPr lang="en-US" sz="910" b="1" dirty="0">
                <a:solidFill>
                  <a:srgbClr val="D6E0EE"/>
                </a:solidFill>
                <a:latin typeface="Inter" pitchFamily="34" charset="0"/>
                <a:ea typeface="Inter" pitchFamily="34" charset="-122"/>
                <a:cs typeface="Inter" pitchFamily="34" charset="-120"/>
              </a:rPr>
              <a:t>LIMITATIONS</a:t>
            </a:r>
            <a:endParaRPr lang="en-US" sz="910" dirty="0"/>
          </a:p>
        </p:txBody>
      </p:sp>
      <p:sp>
        <p:nvSpPr>
          <p:cNvPr id="17" name="Shape 15"/>
          <p:cNvSpPr/>
          <p:nvPr/>
        </p:nvSpPr>
        <p:spPr>
          <a:xfrm>
            <a:off x="6501384" y="2551176"/>
            <a:ext cx="82296" cy="82296"/>
          </a:xfrm>
          <a:prstGeom prst="ellipse">
            <a:avLst/>
          </a:prstGeom>
          <a:solidFill>
            <a:srgbClr val="17AEB0"/>
          </a:solidFill>
          <a:ln w="10160">
            <a:solidFill>
              <a:srgbClr val="17AEB0"/>
            </a:solidFill>
            <a:prstDash val="solid"/>
          </a:ln>
        </p:spPr>
      </p:sp>
      <p:sp>
        <p:nvSpPr>
          <p:cNvPr id="18" name="Text 16"/>
          <p:cNvSpPr txBox="1"/>
          <p:nvPr/>
        </p:nvSpPr>
        <p:spPr>
          <a:xfrm>
            <a:off x="6702552" y="2468880"/>
            <a:ext cx="4443984" cy="658368"/>
          </a:xfrm>
          <a:prstGeom prst="rect">
            <a:avLst/>
          </a:prstGeom>
          <a:noFill/>
          <a:ln/>
        </p:spPr>
        <p:txBody>
          <a:bodyPr wrap="square" lIns="0" tIns="0" rIns="0" bIns="0" rtlCol="0" anchor="t">
            <a:normAutofit/>
          </a:bodyPr>
          <a:lstStyle/>
          <a:p>
            <a:pPr algn="l" indent="0" marL="0">
              <a:buNone/>
            </a:pPr>
            <a:r>
              <a:rPr lang="en-US" sz="1110" dirty="0">
                <a:solidFill>
                  <a:srgbClr val="FFFFFF"/>
                </a:solidFill>
                <a:latin typeface="Inter" pitchFamily="34" charset="0"/>
                <a:ea typeface="Inter" pitchFamily="34" charset="-122"/>
                <a:cs typeface="Inter" pitchFamily="34" charset="-120"/>
              </a:rPr>
              <a:t>Only 500 examples are available, and the inputs summarize commits with just two categorical features.</a:t>
            </a:r>
            <a:endParaRPr lang="en-US" sz="1110" dirty="0"/>
          </a:p>
        </p:txBody>
      </p:sp>
      <p:sp>
        <p:nvSpPr>
          <p:cNvPr id="19" name="Shape 17"/>
          <p:cNvSpPr/>
          <p:nvPr/>
        </p:nvSpPr>
        <p:spPr>
          <a:xfrm>
            <a:off x="6501384" y="3419856"/>
            <a:ext cx="82296" cy="82296"/>
          </a:xfrm>
          <a:prstGeom prst="ellipse">
            <a:avLst/>
          </a:prstGeom>
          <a:solidFill>
            <a:srgbClr val="F2A541"/>
          </a:solidFill>
          <a:ln w="10160">
            <a:solidFill>
              <a:srgbClr val="F2A541"/>
            </a:solidFill>
            <a:prstDash val="solid"/>
          </a:ln>
        </p:spPr>
      </p:sp>
      <p:sp>
        <p:nvSpPr>
          <p:cNvPr id="20" name="Text 18"/>
          <p:cNvSpPr txBox="1"/>
          <p:nvPr/>
        </p:nvSpPr>
        <p:spPr>
          <a:xfrm>
            <a:off x="6702552" y="3337560"/>
            <a:ext cx="4443984" cy="658368"/>
          </a:xfrm>
          <a:prstGeom prst="rect">
            <a:avLst/>
          </a:prstGeom>
          <a:noFill/>
          <a:ln/>
        </p:spPr>
        <p:txBody>
          <a:bodyPr wrap="square" lIns="0" tIns="0" rIns="0" bIns="0" rtlCol="0" anchor="t">
            <a:normAutofit/>
          </a:bodyPr>
          <a:lstStyle/>
          <a:p>
            <a:pPr algn="l" indent="0" marL="0">
              <a:buNone/>
            </a:pPr>
            <a:r>
              <a:rPr lang="en-US" sz="1110" dirty="0">
                <a:solidFill>
                  <a:srgbClr val="FFFFFF"/>
                </a:solidFill>
                <a:latin typeface="Inter" pitchFamily="34" charset="0"/>
                <a:ea typeface="Inter" pitchFamily="34" charset="-122"/>
                <a:cs typeface="Inter" pitchFamily="34" charset="-120"/>
              </a:rPr>
              <a:t>The supplied CSVs do not share a commit key; row-order alignment is an assumption.</a:t>
            </a:r>
            <a:endParaRPr lang="en-US" sz="1110" dirty="0"/>
          </a:p>
        </p:txBody>
      </p:sp>
      <p:sp>
        <p:nvSpPr>
          <p:cNvPr id="21" name="Shape 19"/>
          <p:cNvSpPr/>
          <p:nvPr/>
        </p:nvSpPr>
        <p:spPr>
          <a:xfrm>
            <a:off x="6501384" y="4288536"/>
            <a:ext cx="82296" cy="82296"/>
          </a:xfrm>
          <a:prstGeom prst="ellipse">
            <a:avLst/>
          </a:prstGeom>
          <a:solidFill>
            <a:srgbClr val="5478D4"/>
          </a:solidFill>
          <a:ln w="10160">
            <a:solidFill>
              <a:srgbClr val="5478D4"/>
            </a:solidFill>
            <a:prstDash val="solid"/>
          </a:ln>
        </p:spPr>
      </p:sp>
      <p:sp>
        <p:nvSpPr>
          <p:cNvPr id="22" name="Text 20"/>
          <p:cNvSpPr txBox="1"/>
          <p:nvPr/>
        </p:nvSpPr>
        <p:spPr>
          <a:xfrm>
            <a:off x="6702552" y="4206240"/>
            <a:ext cx="4443984" cy="658368"/>
          </a:xfrm>
          <a:prstGeom prst="rect">
            <a:avLst/>
          </a:prstGeom>
          <a:noFill/>
          <a:ln/>
        </p:spPr>
        <p:txBody>
          <a:bodyPr wrap="square" lIns="0" tIns="0" rIns="0" bIns="0" rtlCol="0" anchor="t">
            <a:normAutofit/>
          </a:bodyPr>
          <a:lstStyle/>
          <a:p>
            <a:pPr algn="l" indent="0" marL="0">
              <a:buNone/>
            </a:pPr>
            <a:r>
              <a:rPr lang="en-US" sz="1110" dirty="0">
                <a:solidFill>
                  <a:srgbClr val="FFFFFF"/>
                </a:solidFill>
                <a:latin typeface="Inter" pitchFamily="34" charset="0"/>
                <a:ea typeface="Inter" pitchFamily="34" charset="-122"/>
                <a:cs typeface="Inter" pitchFamily="34" charset="-120"/>
              </a:rPr>
              <a:t>The paper omits the exact data-split rule/seed and the candidates used in its grid search.</a:t>
            </a:r>
            <a:endParaRPr lang="en-US" sz="1110" dirty="0"/>
          </a:p>
        </p:txBody>
      </p:sp>
      <p:sp>
        <p:nvSpPr>
          <p:cNvPr id="23" name="Text 21"/>
          <p:cNvSpPr txBox="1"/>
          <p:nvPr/>
        </p:nvSpPr>
        <p:spPr>
          <a:xfrm>
            <a:off x="6510528" y="5221224"/>
            <a:ext cx="4498848" cy="429768"/>
          </a:xfrm>
          <a:prstGeom prst="rect">
            <a:avLst/>
          </a:prstGeom>
          <a:noFill/>
          <a:ln/>
        </p:spPr>
        <p:txBody>
          <a:bodyPr wrap="square" lIns="0" tIns="0" rIns="0" bIns="0" rtlCol="0" anchor="t">
            <a:normAutofit/>
          </a:bodyPr>
          <a:lstStyle/>
          <a:p>
            <a:pPr algn="l" indent="0" marL="0">
              <a:buNone/>
            </a:pPr>
            <a:r>
              <a:rPr lang="en-US" sz="1060" i="1" dirty="0">
                <a:solidFill>
                  <a:srgbClr val="B8C7DD"/>
                </a:solidFill>
                <a:latin typeface="Inter" pitchFamily="34" charset="0"/>
                <a:ea typeface="Inter" pitchFamily="34" charset="-122"/>
                <a:cs typeface="Inter" pitchFamily="34" charset="-120"/>
              </a:rPr>
              <a:t>Interpret results for this dataset, feature representation and split — not as a universal ranking of models.</a:t>
            </a:r>
            <a:endParaRPr lang="en-US" sz="1060" dirty="0"/>
          </a:p>
        </p:txBody>
      </p:sp>
      <p:sp>
        <p:nvSpPr>
          <p:cNvPr id="24" name="Shape 22"/>
          <p:cNvSpPr/>
          <p:nvPr/>
        </p:nvSpPr>
        <p:spPr>
          <a:xfrm>
            <a:off x="594360" y="6473952"/>
            <a:ext cx="11000232" cy="0"/>
          </a:xfrm>
          <a:prstGeom prst="line">
            <a:avLst/>
          </a:prstGeom>
          <a:noFill/>
          <a:ln w="10160">
            <a:solidFill>
              <a:srgbClr val="E0E7F0"/>
            </a:solidFill>
            <a:prstDash val="solid"/>
            <a:headEnd type="none"/>
            <a:tailEnd type="none"/>
          </a:ln>
        </p:spPr>
      </p:sp>
      <p:sp>
        <p:nvSpPr>
          <p:cNvPr id="25" name="Text 23"/>
          <p:cNvSpPr txBox="1"/>
          <p:nvPr/>
        </p:nvSpPr>
        <p:spPr>
          <a:xfrm>
            <a:off x="612648" y="6537960"/>
            <a:ext cx="6583680" cy="164592"/>
          </a:xfrm>
          <a:prstGeom prst="rect">
            <a:avLst/>
          </a:prstGeom>
          <a:noFill/>
          <a:ln/>
        </p:spPr>
        <p:txBody>
          <a:bodyPr wrap="square" lIns="0" tIns="0" rIns="0" bIns="0" rtlCol="0" anchor="ctr">
            <a:normAutofit/>
          </a:bodyPr>
          <a:lstStyle/>
          <a:p>
            <a:pPr algn="l" indent="0" marL="0">
              <a:buNone/>
            </a:pPr>
            <a:r>
              <a:rPr lang="en-US" sz="780" b="1" spc="50" kern="0" dirty="0">
                <a:solidFill>
                  <a:srgbClr val="65738A"/>
                </a:solidFill>
                <a:latin typeface="Inter" pitchFamily="34" charset="0"/>
                <a:ea typeface="Inter" pitchFamily="34" charset="-122"/>
                <a:cs typeface="Inter" pitchFamily="34" charset="-120"/>
              </a:rPr>
              <a:t>PREDICTING BAZEL BUILD TIMES  •  MINI PROJECT</a:t>
            </a:r>
            <a:endParaRPr lang="en-US" sz="780" dirty="0"/>
          </a:p>
        </p:txBody>
      </p:sp>
      <p:sp>
        <p:nvSpPr>
          <p:cNvPr id="26" name="Text 24"/>
          <p:cNvSpPr txBox="1"/>
          <p:nvPr/>
        </p:nvSpPr>
        <p:spPr>
          <a:xfrm>
            <a:off x="11018520" y="6528816"/>
            <a:ext cx="502920" cy="164592"/>
          </a:xfrm>
          <a:prstGeom prst="rect">
            <a:avLst/>
          </a:prstGeom>
          <a:noFill/>
          <a:ln/>
        </p:spPr>
        <p:txBody>
          <a:bodyPr wrap="square" lIns="0" tIns="0" rIns="0" bIns="0" rtlCol="0" anchor="ctr">
            <a:normAutofit/>
          </a:bodyPr>
          <a:lstStyle/>
          <a:p>
            <a:pPr algn="r" indent="0" marL="0">
              <a:buNone/>
            </a:pPr>
            <a:r>
              <a:rPr lang="en-US" sz="860" b="1" dirty="0">
                <a:solidFill>
                  <a:srgbClr val="65738A"/>
                </a:solidFill>
                <a:latin typeface="Inter" pitchFamily="34" charset="0"/>
                <a:ea typeface="Inter" pitchFamily="34" charset="-122"/>
                <a:cs typeface="Inter" pitchFamily="34" charset="-120"/>
              </a:rPr>
              <a:t>10</a:t>
            </a:r>
            <a:endParaRPr lang="en-US" sz="8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1A32"/>
        </a:solidFill>
      </p:bgPr>
    </p:bg>
    <p:spTree>
      <p:nvGrpSpPr>
        <p:cNvPr id="1" name=""/>
        <p:cNvGrpSpPr/>
        <p:nvPr/>
      </p:nvGrpSpPr>
      <p:grpSpPr>
        <a:xfrm>
          <a:off x="0" y="0"/>
          <a:ext cx="0" cy="0"/>
          <a:chOff x="0" y="0"/>
          <a:chExt cx="0" cy="0"/>
        </a:xfrm>
      </p:grpSpPr>
      <p:sp>
        <p:nvSpPr>
          <p:cNvPr id="2" name="Shape 0"/>
          <p:cNvSpPr/>
          <p:nvPr/>
        </p:nvSpPr>
        <p:spPr>
          <a:xfrm>
            <a:off x="621792" y="530352"/>
            <a:ext cx="91440" cy="411480"/>
          </a:xfrm>
          <a:prstGeom prst="roundRect">
            <a:avLst>
              <a:gd name="adj" fmla="val 40000"/>
            </a:avLst>
          </a:prstGeom>
          <a:solidFill>
            <a:srgbClr val="17AEB0"/>
          </a:solidFill>
          <a:ln w="1270">
            <a:solidFill>
              <a:srgbClr val="17AEB0">
                <a:alpha val="0"/>
              </a:srgbClr>
            </a:solidFill>
            <a:prstDash val="solid"/>
          </a:ln>
        </p:spPr>
      </p:sp>
      <p:sp>
        <p:nvSpPr>
          <p:cNvPr id="3" name="Text 1"/>
          <p:cNvSpPr txBox="1"/>
          <p:nvPr/>
        </p:nvSpPr>
        <p:spPr>
          <a:xfrm>
            <a:off x="841248" y="557784"/>
            <a:ext cx="3749040" cy="201168"/>
          </a:xfrm>
          <a:prstGeom prst="rect">
            <a:avLst/>
          </a:prstGeom>
          <a:noFill/>
          <a:ln/>
        </p:spPr>
        <p:txBody>
          <a:bodyPr wrap="square" lIns="0" tIns="0" rIns="0" bIns="0" rtlCol="0" anchor="ctr">
            <a:normAutofit/>
          </a:bodyPr>
          <a:lstStyle/>
          <a:p>
            <a:pPr algn="l" indent="0" marL="0">
              <a:buNone/>
            </a:pPr>
            <a:r>
              <a:rPr lang="en-US" sz="950" b="1" spc="110" kern="0" dirty="0">
                <a:solidFill>
                  <a:srgbClr val="AFC0D9"/>
                </a:solidFill>
                <a:latin typeface="Inter" pitchFamily="34" charset="0"/>
                <a:ea typeface="Inter" pitchFamily="34" charset="-122"/>
                <a:cs typeface="Inter" pitchFamily="34" charset="-120"/>
              </a:rPr>
              <a:t>10  /  CONCLUSION</a:t>
            </a:r>
            <a:endParaRPr lang="en-US" sz="950" dirty="0"/>
          </a:p>
        </p:txBody>
      </p:sp>
      <p:sp>
        <p:nvSpPr>
          <p:cNvPr id="4" name="Text 2"/>
          <p:cNvSpPr txBox="1"/>
          <p:nvPr/>
        </p:nvSpPr>
        <p:spPr>
          <a:xfrm>
            <a:off x="658368" y="1115568"/>
            <a:ext cx="5577840" cy="1143000"/>
          </a:xfrm>
          <a:prstGeom prst="rect">
            <a:avLst/>
          </a:prstGeom>
          <a:noFill/>
          <a:ln/>
        </p:spPr>
        <p:txBody>
          <a:bodyPr wrap="square" lIns="0" tIns="0" rIns="0" bIns="0" rtlCol="0" anchor="ctr">
            <a:normAutofit/>
          </a:bodyPr>
          <a:lstStyle/>
          <a:p>
            <a:pPr algn="l" indent="0" marL="0">
              <a:buNone/>
            </a:pPr>
            <a:r>
              <a:rPr lang="en-US" sz="3100" b="1" dirty="0">
                <a:solidFill>
                  <a:srgbClr val="FFFFFF"/>
                </a:solidFill>
                <a:latin typeface="Inter" pitchFamily="34" charset="0"/>
                <a:ea typeface="Inter" pitchFamily="34" charset="-122"/>
                <a:cs typeface="Inter" pitchFamily="34" charset="-120"/>
              </a:rPr>
              <a:t>Reproduce carefully.</a:t>
            </a:r>
            <a:endParaRPr lang="en-US" sz="3100" dirty="0"/>
          </a:p>
          <a:p>
            <a:pPr algn="l" indent="0" marL="0">
              <a:buNone/>
            </a:pPr>
            <a:r>
              <a:rPr lang="en-US" sz="3100" b="1" dirty="0">
                <a:solidFill>
                  <a:srgbClr val="FFFFFF"/>
                </a:solidFill>
                <a:latin typeface="Inter" pitchFamily="34" charset="0"/>
                <a:ea typeface="Inter" pitchFamily="34" charset="-122"/>
                <a:cs typeface="Inter" pitchFamily="34" charset="-120"/>
              </a:rPr>
              <a:t>Extend fairly.</a:t>
            </a:r>
            <a:endParaRPr lang="en-US" sz="3100" dirty="0"/>
          </a:p>
        </p:txBody>
      </p:sp>
      <p:sp>
        <p:nvSpPr>
          <p:cNvPr id="5" name="Text 3"/>
          <p:cNvSpPr txBox="1"/>
          <p:nvPr/>
        </p:nvSpPr>
        <p:spPr>
          <a:xfrm>
            <a:off x="694944" y="2487168"/>
            <a:ext cx="5349240" cy="566928"/>
          </a:xfrm>
          <a:prstGeom prst="rect">
            <a:avLst/>
          </a:prstGeom>
          <a:noFill/>
          <a:ln/>
        </p:spPr>
        <p:txBody>
          <a:bodyPr wrap="square" lIns="0" tIns="0" rIns="0" bIns="0" rtlCol="0" anchor="t">
            <a:normAutofit/>
          </a:bodyPr>
          <a:lstStyle/>
          <a:p>
            <a:pPr algn="l" indent="0" marL="0">
              <a:buNone/>
            </a:pPr>
            <a:r>
              <a:rPr lang="en-US" sz="1520" dirty="0">
                <a:solidFill>
                  <a:srgbClr val="D2DCEC"/>
                </a:solidFill>
                <a:latin typeface="Inter" pitchFamily="34" charset="0"/>
                <a:ea typeface="Inter" pitchFamily="34" charset="-122"/>
                <a:cs typeface="Inter" pitchFamily="34" charset="-120"/>
              </a:rPr>
              <a:t>The value is in a transparent comparison — not in forcing the add-on model to win.</a:t>
            </a:r>
            <a:endParaRPr lang="en-US" sz="1520" dirty="0"/>
          </a:p>
        </p:txBody>
      </p:sp>
      <p:sp>
        <p:nvSpPr>
          <p:cNvPr id="6" name="Shape 4"/>
          <p:cNvSpPr/>
          <p:nvPr/>
        </p:nvSpPr>
        <p:spPr>
          <a:xfrm>
            <a:off x="722376" y="3502152"/>
            <a:ext cx="347472" cy="347472"/>
          </a:xfrm>
          <a:prstGeom prst="ellipse">
            <a:avLst/>
          </a:prstGeom>
          <a:solidFill>
            <a:srgbClr val="17AEB0"/>
          </a:solidFill>
          <a:ln w="10160">
            <a:solidFill>
              <a:srgbClr val="17AEB0"/>
            </a:solidFill>
            <a:prstDash val="solid"/>
          </a:ln>
        </p:spPr>
      </p:sp>
      <p:sp>
        <p:nvSpPr>
          <p:cNvPr id="7" name="Text 5"/>
          <p:cNvSpPr txBox="1"/>
          <p:nvPr/>
        </p:nvSpPr>
        <p:spPr>
          <a:xfrm>
            <a:off x="722376" y="3557016"/>
            <a:ext cx="347472" cy="164592"/>
          </a:xfrm>
          <a:prstGeom prst="rect">
            <a:avLst/>
          </a:prstGeom>
          <a:noFill/>
          <a:ln/>
        </p:spPr>
        <p:txBody>
          <a:bodyPr wrap="square" lIns="0" tIns="0" rIns="0" bIns="0" rtlCol="0" anchor="ctr">
            <a:normAutofit/>
          </a:bodyPr>
          <a:lstStyle/>
          <a:p>
            <a:pPr algn="ctr" indent="0" marL="0">
              <a:buNone/>
            </a:pPr>
            <a:r>
              <a:rPr lang="en-US" sz="900" b="1" dirty="0">
                <a:solidFill>
                  <a:srgbClr val="101A32"/>
                </a:solidFill>
                <a:latin typeface="Inter" pitchFamily="34" charset="0"/>
                <a:ea typeface="Inter" pitchFamily="34" charset="-122"/>
                <a:cs typeface="Inter" pitchFamily="34" charset="-120"/>
              </a:rPr>
              <a:t>01</a:t>
            </a:r>
            <a:endParaRPr lang="en-US" sz="900" dirty="0"/>
          </a:p>
        </p:txBody>
      </p:sp>
      <p:sp>
        <p:nvSpPr>
          <p:cNvPr id="8" name="Text 6"/>
          <p:cNvSpPr txBox="1"/>
          <p:nvPr/>
        </p:nvSpPr>
        <p:spPr>
          <a:xfrm>
            <a:off x="1243584" y="3438144"/>
            <a:ext cx="1490472" cy="210312"/>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Inter" pitchFamily="34" charset="0"/>
                <a:ea typeface="Inter" pitchFamily="34" charset="-122"/>
                <a:cs typeface="Inter" pitchFamily="34" charset="-120"/>
              </a:rPr>
              <a:t>Reproduction</a:t>
            </a:r>
            <a:endParaRPr lang="en-US" sz="1150" dirty="0"/>
          </a:p>
        </p:txBody>
      </p:sp>
      <p:sp>
        <p:nvSpPr>
          <p:cNvPr id="9" name="Text 7"/>
          <p:cNvSpPr txBox="1"/>
          <p:nvPr/>
        </p:nvSpPr>
        <p:spPr>
          <a:xfrm>
            <a:off x="2743200" y="3429000"/>
            <a:ext cx="3255264" cy="374904"/>
          </a:xfrm>
          <a:prstGeom prst="rect">
            <a:avLst/>
          </a:prstGeom>
          <a:noFill/>
          <a:ln/>
        </p:spPr>
        <p:txBody>
          <a:bodyPr wrap="square" lIns="0" tIns="0" rIns="0" bIns="0" rtlCol="0" anchor="t">
            <a:normAutofit/>
          </a:bodyPr>
          <a:lstStyle/>
          <a:p>
            <a:pPr algn="l" indent="0" marL="0">
              <a:buNone/>
            </a:pPr>
            <a:r>
              <a:rPr lang="en-US" sz="1010" dirty="0">
                <a:solidFill>
                  <a:srgbClr val="C2CEE1"/>
                </a:solidFill>
                <a:latin typeface="Inter" pitchFamily="34" charset="0"/>
                <a:ea typeface="Inter" pitchFamily="34" charset="-122"/>
                <a:cs typeface="Inter" pitchFamily="34" charset="-120"/>
              </a:rPr>
              <a:t>Both reproduced training-RMSE averages are within about 1% of the paper.</a:t>
            </a:r>
            <a:endParaRPr lang="en-US" sz="1010" dirty="0"/>
          </a:p>
        </p:txBody>
      </p:sp>
      <p:sp>
        <p:nvSpPr>
          <p:cNvPr id="10" name="Shape 8"/>
          <p:cNvSpPr/>
          <p:nvPr/>
        </p:nvSpPr>
        <p:spPr>
          <a:xfrm>
            <a:off x="722376" y="4251960"/>
            <a:ext cx="347472" cy="347472"/>
          </a:xfrm>
          <a:prstGeom prst="ellipse">
            <a:avLst/>
          </a:prstGeom>
          <a:solidFill>
            <a:srgbClr val="5478D4"/>
          </a:solidFill>
          <a:ln w="10160">
            <a:solidFill>
              <a:srgbClr val="5478D4"/>
            </a:solidFill>
            <a:prstDash val="solid"/>
          </a:ln>
        </p:spPr>
      </p:sp>
      <p:sp>
        <p:nvSpPr>
          <p:cNvPr id="11" name="Text 9"/>
          <p:cNvSpPr txBox="1"/>
          <p:nvPr/>
        </p:nvSpPr>
        <p:spPr>
          <a:xfrm>
            <a:off x="722376" y="4306824"/>
            <a:ext cx="347472" cy="164592"/>
          </a:xfrm>
          <a:prstGeom prst="rect">
            <a:avLst/>
          </a:prstGeom>
          <a:noFill/>
          <a:ln/>
        </p:spPr>
        <p:txBody>
          <a:bodyPr wrap="square" lIns="0" tIns="0" rIns="0" bIns="0" rtlCol="0" anchor="ctr">
            <a:normAutofit/>
          </a:bodyPr>
          <a:lstStyle/>
          <a:p>
            <a:pPr algn="ctr" indent="0" marL="0">
              <a:buNone/>
            </a:pPr>
            <a:r>
              <a:rPr lang="en-US" sz="900" b="1" dirty="0">
                <a:solidFill>
                  <a:srgbClr val="101A32"/>
                </a:solidFill>
                <a:latin typeface="Inter" pitchFamily="34" charset="0"/>
                <a:ea typeface="Inter" pitchFamily="34" charset="-122"/>
                <a:cs typeface="Inter" pitchFamily="34" charset="-120"/>
              </a:rPr>
              <a:t>02</a:t>
            </a:r>
            <a:endParaRPr lang="en-US" sz="900" dirty="0"/>
          </a:p>
        </p:txBody>
      </p:sp>
      <p:sp>
        <p:nvSpPr>
          <p:cNvPr id="12" name="Text 10"/>
          <p:cNvSpPr txBox="1"/>
          <p:nvPr/>
        </p:nvSpPr>
        <p:spPr>
          <a:xfrm>
            <a:off x="1243584" y="4187952"/>
            <a:ext cx="1490472" cy="210312"/>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Inter" pitchFamily="34" charset="0"/>
                <a:ea typeface="Inter" pitchFamily="34" charset="-122"/>
                <a:cs typeface="Inter" pitchFamily="34" charset="-120"/>
              </a:rPr>
              <a:t>Feature crossing</a:t>
            </a:r>
            <a:endParaRPr lang="en-US" sz="1150" dirty="0"/>
          </a:p>
        </p:txBody>
      </p:sp>
      <p:sp>
        <p:nvSpPr>
          <p:cNvPr id="13" name="Text 11"/>
          <p:cNvSpPr txBox="1"/>
          <p:nvPr/>
        </p:nvSpPr>
        <p:spPr>
          <a:xfrm>
            <a:off x="2743200" y="4178808"/>
            <a:ext cx="3255264" cy="374904"/>
          </a:xfrm>
          <a:prstGeom prst="rect">
            <a:avLst/>
          </a:prstGeom>
          <a:noFill/>
          <a:ln/>
        </p:spPr>
        <p:txBody>
          <a:bodyPr wrap="square" lIns="0" tIns="0" rIns="0" bIns="0" rtlCol="0" anchor="t">
            <a:normAutofit/>
          </a:bodyPr>
          <a:lstStyle/>
          <a:p>
            <a:pPr algn="l" indent="0" marL="0">
              <a:buNone/>
            </a:pPr>
            <a:r>
              <a:rPr lang="en-US" sz="1010" dirty="0">
                <a:solidFill>
                  <a:srgbClr val="C2CEE1"/>
                </a:solidFill>
                <a:latin typeface="Inter" pitchFamily="34" charset="0"/>
                <a:ea typeface="Inter" pitchFamily="34" charset="-122"/>
                <a:cs typeface="Inter" pitchFamily="34" charset="-120"/>
              </a:rPr>
              <a:t>It helped training fit; final test RMSE was nearly the same, slightly higher.</a:t>
            </a:r>
            <a:endParaRPr lang="en-US" sz="1010" dirty="0"/>
          </a:p>
        </p:txBody>
      </p:sp>
      <p:sp>
        <p:nvSpPr>
          <p:cNvPr id="14" name="Shape 12"/>
          <p:cNvSpPr/>
          <p:nvPr/>
        </p:nvSpPr>
        <p:spPr>
          <a:xfrm>
            <a:off x="722376" y="5001768"/>
            <a:ext cx="347472" cy="347472"/>
          </a:xfrm>
          <a:prstGeom prst="ellipse">
            <a:avLst/>
          </a:prstGeom>
          <a:solidFill>
            <a:srgbClr val="F2A541"/>
          </a:solidFill>
          <a:ln w="10160">
            <a:solidFill>
              <a:srgbClr val="F2A541"/>
            </a:solidFill>
            <a:prstDash val="solid"/>
          </a:ln>
        </p:spPr>
      </p:sp>
      <p:sp>
        <p:nvSpPr>
          <p:cNvPr id="15" name="Text 13"/>
          <p:cNvSpPr txBox="1"/>
          <p:nvPr/>
        </p:nvSpPr>
        <p:spPr>
          <a:xfrm>
            <a:off x="722376" y="5056632"/>
            <a:ext cx="347472" cy="164592"/>
          </a:xfrm>
          <a:prstGeom prst="rect">
            <a:avLst/>
          </a:prstGeom>
          <a:noFill/>
          <a:ln/>
        </p:spPr>
        <p:txBody>
          <a:bodyPr wrap="square" lIns="0" tIns="0" rIns="0" bIns="0" rtlCol="0" anchor="ctr">
            <a:normAutofit/>
          </a:bodyPr>
          <a:lstStyle/>
          <a:p>
            <a:pPr algn="ctr" indent="0" marL="0">
              <a:buNone/>
            </a:pPr>
            <a:r>
              <a:rPr lang="en-US" sz="900" b="1" dirty="0">
                <a:solidFill>
                  <a:srgbClr val="101A32"/>
                </a:solidFill>
                <a:latin typeface="Inter" pitchFamily="34" charset="0"/>
                <a:ea typeface="Inter" pitchFamily="34" charset="-122"/>
                <a:cs typeface="Inter" pitchFamily="34" charset="-120"/>
              </a:rPr>
              <a:t>03</a:t>
            </a:r>
            <a:endParaRPr lang="en-US" sz="900" dirty="0"/>
          </a:p>
        </p:txBody>
      </p:sp>
      <p:sp>
        <p:nvSpPr>
          <p:cNvPr id="16" name="Text 14"/>
          <p:cNvSpPr txBox="1"/>
          <p:nvPr/>
        </p:nvSpPr>
        <p:spPr>
          <a:xfrm>
            <a:off x="1243584" y="4937760"/>
            <a:ext cx="1490472" cy="210312"/>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Inter" pitchFamily="34" charset="0"/>
                <a:ea typeface="Inter" pitchFamily="34" charset="-122"/>
                <a:cs typeface="Inter" pitchFamily="34" charset="-120"/>
              </a:rPr>
              <a:t>Extension</a:t>
            </a:r>
            <a:endParaRPr lang="en-US" sz="1150" dirty="0"/>
          </a:p>
        </p:txBody>
      </p:sp>
      <p:sp>
        <p:nvSpPr>
          <p:cNvPr id="17" name="Text 15"/>
          <p:cNvSpPr txBox="1"/>
          <p:nvPr/>
        </p:nvSpPr>
        <p:spPr>
          <a:xfrm>
            <a:off x="2743200" y="4928616"/>
            <a:ext cx="3255264" cy="374904"/>
          </a:xfrm>
          <a:prstGeom prst="rect">
            <a:avLst/>
          </a:prstGeom>
          <a:noFill/>
          <a:ln/>
        </p:spPr>
        <p:txBody>
          <a:bodyPr wrap="square" lIns="0" tIns="0" rIns="0" bIns="0" rtlCol="0" anchor="t">
            <a:normAutofit/>
          </a:bodyPr>
          <a:lstStyle/>
          <a:p>
            <a:pPr algn="l" indent="0" marL="0">
              <a:buNone/>
            </a:pPr>
            <a:r>
              <a:rPr lang="en-US" sz="1010" dirty="0">
                <a:solidFill>
                  <a:srgbClr val="C2CEE1"/>
                </a:solidFill>
                <a:latin typeface="Inter" pitchFamily="34" charset="0"/>
                <a:ea typeface="Inter" pitchFamily="34" charset="-122"/>
                <a:cs typeface="Inter" pitchFamily="34" charset="-120"/>
              </a:rPr>
              <a:t>Random Forest was worse on this shared test set by about 1.4%.</a:t>
            </a:r>
            <a:endParaRPr lang="en-US" sz="1010" dirty="0"/>
          </a:p>
        </p:txBody>
      </p:sp>
      <p:sp>
        <p:nvSpPr>
          <p:cNvPr id="18" name="Shape 16"/>
          <p:cNvSpPr/>
          <p:nvPr/>
        </p:nvSpPr>
        <p:spPr>
          <a:xfrm>
            <a:off x="6766560" y="1143000"/>
            <a:ext cx="4800600" cy="4663440"/>
          </a:xfrm>
          <a:prstGeom prst="roundRect">
            <a:avLst>
              <a:gd name="adj" fmla="val 3529"/>
            </a:avLst>
          </a:prstGeom>
          <a:solidFill>
            <a:srgbClr val="1A2947"/>
          </a:solidFill>
          <a:ln w="10160">
            <a:solidFill>
              <a:srgbClr val="2F4263"/>
            </a:solidFill>
            <a:prstDash val="solid"/>
          </a:ln>
        </p:spPr>
      </p:sp>
      <p:sp>
        <p:nvSpPr>
          <p:cNvPr id="19" name="Text 17"/>
          <p:cNvSpPr txBox="1"/>
          <p:nvPr/>
        </p:nvSpPr>
        <p:spPr>
          <a:xfrm>
            <a:off x="7123176" y="1527048"/>
            <a:ext cx="3474720" cy="201168"/>
          </a:xfrm>
          <a:prstGeom prst="rect">
            <a:avLst/>
          </a:prstGeom>
          <a:noFill/>
          <a:ln/>
        </p:spPr>
        <p:txBody>
          <a:bodyPr wrap="square" lIns="0" tIns="0" rIns="0" bIns="0" rtlCol="0" anchor="ctr">
            <a:normAutofit/>
          </a:bodyPr>
          <a:lstStyle/>
          <a:p>
            <a:pPr algn="l" indent="0" marL="0">
              <a:buNone/>
            </a:pPr>
            <a:r>
              <a:rPr lang="en-US" sz="920" b="1" spc="90" kern="0" dirty="0">
                <a:solidFill>
                  <a:srgbClr val="AFC0D9"/>
                </a:solidFill>
                <a:latin typeface="Inter" pitchFamily="34" charset="0"/>
                <a:ea typeface="Inter" pitchFamily="34" charset="-122"/>
                <a:cs typeface="Inter" pitchFamily="34" charset="-120"/>
              </a:rPr>
              <a:t>REFERENCE PAPER</a:t>
            </a:r>
            <a:endParaRPr lang="en-US" sz="920" dirty="0"/>
          </a:p>
        </p:txBody>
      </p:sp>
      <p:sp>
        <p:nvSpPr>
          <p:cNvPr id="20" name="Text 18"/>
          <p:cNvSpPr txBox="1"/>
          <p:nvPr/>
        </p:nvSpPr>
        <p:spPr>
          <a:xfrm>
            <a:off x="7123176" y="1938528"/>
            <a:ext cx="3886200" cy="310896"/>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Inter" pitchFamily="34" charset="0"/>
                <a:ea typeface="Inter" pitchFamily="34" charset="-122"/>
                <a:cs typeface="Inter" pitchFamily="34" charset="-120"/>
              </a:rPr>
              <a:t>Muhammad Umar Nadeem &amp; Sarah Raza</a:t>
            </a:r>
            <a:endParaRPr lang="en-US" sz="1400" dirty="0"/>
          </a:p>
        </p:txBody>
      </p:sp>
      <p:sp>
        <p:nvSpPr>
          <p:cNvPr id="21" name="Text 19"/>
          <p:cNvSpPr txBox="1"/>
          <p:nvPr/>
        </p:nvSpPr>
        <p:spPr>
          <a:xfrm>
            <a:off x="7123176" y="2359152"/>
            <a:ext cx="3977640" cy="566928"/>
          </a:xfrm>
          <a:prstGeom prst="rect">
            <a:avLst/>
          </a:prstGeom>
          <a:noFill/>
          <a:ln/>
        </p:spPr>
        <p:txBody>
          <a:bodyPr wrap="square" lIns="0" tIns="0" rIns="0" bIns="0" rtlCol="0" anchor="t">
            <a:normAutofit/>
          </a:bodyPr>
          <a:lstStyle/>
          <a:p>
            <a:pPr algn="l" indent="0" marL="0">
              <a:buNone/>
            </a:pPr>
            <a:r>
              <a:rPr lang="en-US" sz="1210" i="1" dirty="0">
                <a:solidFill>
                  <a:srgbClr val="D4DEED"/>
                </a:solidFill>
                <a:latin typeface="Inter" pitchFamily="34" charset="0"/>
                <a:ea typeface="Inter" pitchFamily="34" charset="-122"/>
                <a:cs typeface="Inter" pitchFamily="34" charset="-120"/>
              </a:rPr>
              <a:t>“Predicting Bazel Build Times Using Machine Learning”</a:t>
            </a:r>
            <a:endParaRPr lang="en-US" sz="1210" dirty="0"/>
          </a:p>
        </p:txBody>
      </p:sp>
      <p:sp>
        <p:nvSpPr>
          <p:cNvPr id="22" name="Shape 20"/>
          <p:cNvSpPr/>
          <p:nvPr/>
        </p:nvSpPr>
        <p:spPr>
          <a:xfrm>
            <a:off x="7123176" y="3154680"/>
            <a:ext cx="4014216" cy="0"/>
          </a:xfrm>
          <a:prstGeom prst="line">
            <a:avLst/>
          </a:prstGeom>
          <a:noFill/>
          <a:ln w="12700">
            <a:solidFill>
              <a:srgbClr val="334663"/>
            </a:solidFill>
            <a:prstDash val="solid"/>
            <a:headEnd type="none"/>
            <a:tailEnd type="none"/>
          </a:ln>
        </p:spPr>
      </p:sp>
      <p:sp>
        <p:nvSpPr>
          <p:cNvPr id="23" name="Text 21"/>
          <p:cNvSpPr txBox="1"/>
          <p:nvPr/>
        </p:nvSpPr>
        <p:spPr>
          <a:xfrm>
            <a:off x="7123176" y="3456432"/>
            <a:ext cx="3474720" cy="201168"/>
          </a:xfrm>
          <a:prstGeom prst="rect">
            <a:avLst/>
          </a:prstGeom>
          <a:noFill/>
          <a:ln/>
        </p:spPr>
        <p:txBody>
          <a:bodyPr wrap="square" lIns="0" tIns="0" rIns="0" bIns="0" rtlCol="0" anchor="ctr">
            <a:normAutofit/>
          </a:bodyPr>
          <a:lstStyle/>
          <a:p>
            <a:pPr algn="l" indent="0" marL="0">
              <a:buNone/>
            </a:pPr>
            <a:r>
              <a:rPr lang="en-US" sz="920" b="1" spc="90" kern="0" dirty="0">
                <a:solidFill>
                  <a:srgbClr val="AFC0D9"/>
                </a:solidFill>
                <a:latin typeface="Inter" pitchFamily="34" charset="0"/>
                <a:ea typeface="Inter" pitchFamily="34" charset="-122"/>
                <a:cs typeface="Inter" pitchFamily="34" charset="-120"/>
              </a:rPr>
              <a:t>DATA / ORIGINAL MATERIALS</a:t>
            </a:r>
            <a:endParaRPr lang="en-US" sz="920" dirty="0"/>
          </a:p>
        </p:txBody>
      </p:sp>
      <p:sp>
        <p:nvSpPr>
          <p:cNvPr id="24" name="Text 22">
            <a:hlinkClick r:id="rId1" tooltip=""/>
          </p:cNvPr>
          <p:cNvSpPr txBox="1"/>
          <p:nvPr/>
        </p:nvSpPr>
        <p:spPr>
          <a:xfrm>
            <a:off x="7123176" y="3840480"/>
            <a:ext cx="3977640" cy="393192"/>
          </a:xfrm>
          <a:prstGeom prst="rect">
            <a:avLst/>
          </a:prstGeom>
          <a:noFill/>
          <a:ln/>
        </p:spPr>
        <p:txBody>
          <a:bodyPr wrap="square" lIns="0" tIns="0" rIns="0" bIns="0" rtlCol="0" anchor="ctr">
            <a:normAutofit/>
          </a:bodyPr>
          <a:lstStyle/>
          <a:p>
            <a:pPr algn="l" indent="0" marL="0">
              <a:buNone/>
            </a:pPr>
            <a:r>
              <a:rPr lang="en-US" sz="1120" b="1" u="sng" dirty="0">
                <a:solidFill>
                  <a:srgbClr val="17AEB0"/>
                </a:solid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github.com/umar-nadeem/CS229-Final-Project</a:t>
            </a:r>
            <a:endParaRPr lang="en-US" sz="1120" dirty="0"/>
          </a:p>
        </p:txBody>
      </p:sp>
      <p:sp>
        <p:nvSpPr>
          <p:cNvPr id="25" name="Text 23"/>
          <p:cNvSpPr txBox="1"/>
          <p:nvPr/>
        </p:nvSpPr>
        <p:spPr>
          <a:xfrm>
            <a:off x="7123176" y="4498848"/>
            <a:ext cx="3749040" cy="228600"/>
          </a:xfrm>
          <a:prstGeom prst="rect">
            <a:avLst/>
          </a:prstGeom>
          <a:noFill/>
          <a:ln/>
        </p:spPr>
        <p:txBody>
          <a:bodyPr wrap="square" lIns="0" tIns="0" rIns="0" bIns="0" rtlCol="0" anchor="ctr">
            <a:normAutofit/>
          </a:bodyPr>
          <a:lstStyle/>
          <a:p>
            <a:pPr algn="l" indent="0" marL="0">
              <a:buNone/>
            </a:pPr>
            <a:r>
              <a:rPr lang="en-US" sz="1100" dirty="0">
                <a:solidFill>
                  <a:srgbClr val="D4DEED"/>
                </a:solidFill>
                <a:latin typeface="Inter" pitchFamily="34" charset="0"/>
                <a:ea typeface="Inter" pitchFamily="34" charset="-122"/>
                <a:cs typeface="Inter" pitchFamily="34" charset="-120"/>
              </a:rPr>
              <a:t>Evaluation metric: RMSE (milliseconds)</a:t>
            </a:r>
            <a:endParaRPr lang="en-US" sz="1100" dirty="0"/>
          </a:p>
        </p:txBody>
      </p:sp>
      <p:sp>
        <p:nvSpPr>
          <p:cNvPr id="26" name="Text 24"/>
          <p:cNvSpPr txBox="1"/>
          <p:nvPr/>
        </p:nvSpPr>
        <p:spPr>
          <a:xfrm>
            <a:off x="7123176" y="5166360"/>
            <a:ext cx="3867912" cy="32004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Inter" pitchFamily="34" charset="0"/>
                <a:ea typeface="Inter" pitchFamily="34" charset="-122"/>
                <a:cs typeface="Inter" pitchFamily="34" charset="-120"/>
              </a:rPr>
              <a:t>Thank you  •  Questions?</a:t>
            </a:r>
            <a:endParaRPr lang="en-US" sz="1700" dirty="0"/>
          </a:p>
        </p:txBody>
      </p:sp>
      <p:sp>
        <p:nvSpPr>
          <p:cNvPr id="27" name="Text 25"/>
          <p:cNvSpPr txBox="1"/>
          <p:nvPr/>
        </p:nvSpPr>
        <p:spPr>
          <a:xfrm>
            <a:off x="704088" y="6537960"/>
            <a:ext cx="6583680" cy="164592"/>
          </a:xfrm>
          <a:prstGeom prst="rect">
            <a:avLst/>
          </a:prstGeom>
          <a:noFill/>
          <a:ln/>
        </p:spPr>
        <p:txBody>
          <a:bodyPr wrap="square" lIns="0" tIns="0" rIns="0" bIns="0" rtlCol="0" anchor="ctr">
            <a:normAutofit/>
          </a:bodyPr>
          <a:lstStyle/>
          <a:p>
            <a:pPr algn="l" indent="0" marL="0">
              <a:buNone/>
            </a:pPr>
            <a:r>
              <a:rPr lang="en-US" sz="780" b="1" spc="50" kern="0" dirty="0">
                <a:solidFill>
                  <a:srgbClr val="A9B6CE"/>
                </a:solidFill>
                <a:latin typeface="Inter" pitchFamily="34" charset="0"/>
                <a:ea typeface="Inter" pitchFamily="34" charset="-122"/>
                <a:cs typeface="Inter" pitchFamily="34" charset="-120"/>
              </a:rPr>
              <a:t>PREDICTING BAZEL BUILD TIMES  •  MINI PROJECT</a:t>
            </a:r>
            <a:endParaRPr lang="en-US" sz="780" dirty="0"/>
          </a:p>
        </p:txBody>
      </p:sp>
      <p:sp>
        <p:nvSpPr>
          <p:cNvPr id="28" name="Text 26"/>
          <p:cNvSpPr txBox="1"/>
          <p:nvPr/>
        </p:nvSpPr>
        <p:spPr>
          <a:xfrm>
            <a:off x="11018520" y="6528816"/>
            <a:ext cx="502920" cy="164592"/>
          </a:xfrm>
          <a:prstGeom prst="rect">
            <a:avLst/>
          </a:prstGeom>
          <a:noFill/>
          <a:ln/>
        </p:spPr>
        <p:txBody>
          <a:bodyPr wrap="square" lIns="0" tIns="0" rIns="0" bIns="0" rtlCol="0" anchor="ctr">
            <a:normAutofit/>
          </a:bodyPr>
          <a:lstStyle/>
          <a:p>
            <a:pPr algn="r" indent="0" marL="0">
              <a:buNone/>
            </a:pPr>
            <a:r>
              <a:rPr lang="en-US" sz="860" b="1" dirty="0">
                <a:solidFill>
                  <a:srgbClr val="A9B6CE"/>
                </a:solidFill>
                <a:latin typeface="Inter" pitchFamily="34" charset="0"/>
                <a:ea typeface="Inter" pitchFamily="34" charset="-122"/>
                <a:cs typeface="Inter" pitchFamily="34" charset="-120"/>
              </a:rPr>
              <a:t>11</a:t>
            </a:r>
            <a:endParaRPr lang="en-US" sz="8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Mini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Bazel Build Times Using Machine Learning</dc:title>
  <dc:subject>Mini project presentation: reproduce and extend Bazel build-time prediction</dc:subject>
  <dc:creator>OpenAI</dc:creator>
  <cp:lastModifiedBy>OpenAI</cp:lastModifiedBy>
  <cp:revision>1</cp:revision>
  <dcterms:created xsi:type="dcterms:W3CDTF">2026-10-12T11:15:22Z</dcterms:created>
  <dcterms:modified xsi:type="dcterms:W3CDTF">2026-10-12T11:15:22Z</dcterms:modified>
</cp:coreProperties>
</file>